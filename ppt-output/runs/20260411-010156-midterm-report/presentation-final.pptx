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8" userDrawn="1">
          <p15:clr>
            <a:srgbClr val="A4A3A4"/>
          </p15:clr>
        </p15:guide>
        <p15:guide id="2" pos="28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38"/>
        <p:guide pos="286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3" name="R103"/>
          <p:cNvSpPr/>
          <p:nvPr/>
        </p:nvSpPr>
        <p:spPr>
          <a:xfrm>
            <a:off x="1428750" y="1143000"/>
            <a:ext cx="9334500" cy="4667250"/>
          </a:xfrm>
          <a:prstGeom prst="roundRect">
            <a:avLst>
              <a:gd name="adj" fmla="val 2448"/>
            </a:avLst>
          </a:prstGeom>
          <a:gradFill>
            <a:gsLst>
              <a:gs pos="0">
                <a:srgbClr val="D6E4FF">
                  <a:alpha val="98000"/>
                </a:srgbClr>
              </a:gs>
              <a:gs pos="33333">
                <a:srgbClr val="E5EEFF">
                  <a:alpha val="96000"/>
                </a:srgbClr>
              </a:gs>
              <a:gs pos="66666">
                <a:srgbClr val="F0F7FF">
                  <a:alpha val="94000"/>
                </a:srgbClr>
              </a:gs>
              <a:gs pos="100000">
                <a:srgbClr val="DDF1E8">
                  <a:alpha val="96000"/>
                </a:srgbClr>
              </a:gs>
            </a:gsLst>
            <a:lin ang="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04" name="T104"/>
          <p:cNvSpPr txBox="1"/>
          <p:nvPr/>
        </p:nvSpPr>
        <p:spPr>
          <a:xfrm>
            <a:off x="2548235" y="1344959"/>
            <a:ext cx="942975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50" b="1" dirty="0">
                <a:solidFill>
                  <a:srgbClr val="212529"/>
                </a:solidFill>
                <a:latin typeface="Noto Sans SC"/>
                <a:ea typeface="Noto Sans SC"/>
              </a:rPr>
              <a:t>基于</a:t>
            </a:r>
            <a:endParaRPr lang="zh-CN" sz="37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05" name="T105"/>
          <p:cNvSpPr txBox="1"/>
          <p:nvPr/>
        </p:nvSpPr>
        <p:spPr>
          <a:xfrm>
            <a:off x="3491210" y="1344959"/>
            <a:ext cx="966192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50" b="1" dirty="0">
                <a:solidFill>
                  <a:srgbClr val="2563EB"/>
                </a:solidFill>
                <a:latin typeface="Noto Sans SC"/>
                <a:ea typeface="Noto Sans SC"/>
              </a:rPr>
              <a:t>KAN</a:t>
            </a:r>
            <a:endParaRPr lang="zh-CN" sz="375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06" name="T106"/>
          <p:cNvSpPr txBox="1"/>
          <p:nvPr/>
        </p:nvSpPr>
        <p:spPr>
          <a:xfrm>
            <a:off x="4457402" y="1344959"/>
            <a:ext cx="5186362" cy="7143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750" b="1" dirty="0">
                <a:solidFill>
                  <a:srgbClr val="212529"/>
                </a:solidFill>
                <a:latin typeface="Noto Sans SC"/>
                <a:ea typeface="Noto Sans SC"/>
              </a:rPr>
              <a:t>的可解释净负荷预测研究</a:t>
            </a:r>
            <a:endParaRPr lang="zh-CN" sz="37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07" name="T107"/>
          <p:cNvSpPr txBox="1"/>
          <p:nvPr/>
        </p:nvSpPr>
        <p:spPr>
          <a:xfrm>
            <a:off x="5230117" y="2059334"/>
            <a:ext cx="1731764" cy="4286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50" dirty="0">
                <a:solidFill>
                  <a:srgbClr val="6B7280"/>
                </a:solidFill>
                <a:latin typeface="Noto Sans SC"/>
                <a:ea typeface="Noto Sans SC"/>
              </a:rPr>
              <a:t>中期进展汇报</a:t>
            </a:r>
            <a:endParaRPr lang="zh-CN" sz="22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08" name="R108"/>
          <p:cNvSpPr/>
          <p:nvPr/>
        </p:nvSpPr>
        <p:spPr>
          <a:xfrm>
            <a:off x="5356473" y="2687984"/>
            <a:ext cx="1479053" cy="447675"/>
          </a:xfrm>
          <a:prstGeom prst="roundRect">
            <a:avLst>
              <a:gd name="adj" fmla="val 6382"/>
            </a:avLst>
          </a:prstGeom>
          <a:solidFill>
            <a:srgbClr val="000000">
              <a:alpha val="0"/>
            </a:srgbClr>
          </a:solidFill>
          <a:ln w="12700">
            <a:solidFill>
              <a:srgbClr val="2563EB"/>
            </a:solidFill>
          </a:ln>
        </p:spPr>
      </p:sp>
      <p:sp>
        <p:nvSpPr>
          <p:cNvPr id="109" name="T109"/>
          <p:cNvSpPr txBox="1"/>
          <p:nvPr/>
        </p:nvSpPr>
        <p:spPr>
          <a:xfrm>
            <a:off x="5621020" y="2715260"/>
            <a:ext cx="107886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2563EB">
                    <a:alpha val="90000"/>
                  </a:srgbClr>
                </a:solidFill>
                <a:latin typeface="Noto Sans SC"/>
                <a:ea typeface="Noto Sans SC"/>
              </a:rPr>
              <a:t>中期答辩</a:t>
            </a:r>
            <a:endParaRPr lang="zh-CN" sz="1800" dirty="0">
              <a:solidFill>
                <a:srgbClr val="2563EB">
                  <a:alpha val="9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11" name="T111"/>
          <p:cNvSpPr txBox="1"/>
          <p:nvPr/>
        </p:nvSpPr>
        <p:spPr>
          <a:xfrm>
            <a:off x="3854797" y="4269134"/>
            <a:ext cx="2029271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答辩人：戚康</a:t>
            </a: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锐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12" name="T112"/>
          <p:cNvSpPr txBox="1"/>
          <p:nvPr/>
        </p:nvSpPr>
        <p:spPr>
          <a:xfrm>
            <a:off x="5884068" y="4269134"/>
            <a:ext cx="23321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DEE2E6"/>
                </a:solidFill>
                <a:latin typeface="Noto Sans SC"/>
                <a:ea typeface="Noto Sans SC"/>
              </a:rPr>
              <a:t>·</a:t>
            </a:r>
            <a:endParaRPr lang="zh-CN" sz="1800" dirty="0">
              <a:solidFill>
                <a:srgbClr val="DEE2E6"/>
              </a:solidFill>
              <a:latin typeface="Noto Sans SC"/>
              <a:ea typeface="Noto Sans SC"/>
            </a:endParaRPr>
          </a:p>
        </p:txBody>
      </p:sp>
      <p:sp>
        <p:nvSpPr>
          <p:cNvPr id="113" name="T113"/>
          <p:cNvSpPr txBox="1"/>
          <p:nvPr/>
        </p:nvSpPr>
        <p:spPr>
          <a:xfrm>
            <a:off x="6074568" y="4269134"/>
            <a:ext cx="226248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指导教师：</a:t>
            </a: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刘潇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14" name="T114"/>
          <p:cNvSpPr txBox="1"/>
          <p:nvPr/>
        </p:nvSpPr>
        <p:spPr>
          <a:xfrm>
            <a:off x="4100373" y="4714875"/>
            <a:ext cx="226248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所在院系：自动化与电子信息</a:t>
            </a: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学院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15" name="R115"/>
          <p:cNvSpPr/>
          <p:nvPr/>
        </p:nvSpPr>
        <p:spPr>
          <a:xfrm>
            <a:off x="5829300" y="3688109"/>
            <a:ext cx="533400" cy="9525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116" name="R116"/>
          <p:cNvSpPr/>
          <p:nvPr/>
        </p:nvSpPr>
        <p:spPr>
          <a:xfrm>
            <a:off x="5619750" y="6429375"/>
            <a:ext cx="952500" cy="952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DEE2E6"/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F6FF"/>
            </a:gs>
            <a:gs pos="50000">
              <a:srgbClr val="EEF4FF"/>
            </a:gs>
            <a:gs pos="100000">
              <a:srgbClr val="F6FFFA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17" name="T117"/>
          <p:cNvSpPr txBox="1"/>
          <p:nvPr/>
        </p:nvSpPr>
        <p:spPr>
          <a:xfrm>
            <a:off x="609600" y="161925"/>
            <a:ext cx="296554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dirty="0">
                <a:solidFill>
                  <a:srgbClr val="212529"/>
                </a:solidFill>
                <a:latin typeface="Noto Sans SC"/>
                <a:ea typeface="Noto Sans SC"/>
              </a:rPr>
              <a:t>OUTLINE · 汇报提纲</a:t>
            </a:r>
            <a:endParaRPr lang="zh-CN" sz="24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18" name="T118"/>
          <p:cNvSpPr txBox="1"/>
          <p:nvPr/>
        </p:nvSpPr>
        <p:spPr>
          <a:xfrm>
            <a:off x="609600" y="6400800"/>
            <a:ext cx="288086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19" name="T119"/>
          <p:cNvSpPr txBox="1"/>
          <p:nvPr/>
        </p:nvSpPr>
        <p:spPr>
          <a:xfrm>
            <a:off x="11093797" y="6400800"/>
            <a:ext cx="48860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2 / 12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20" name="R120"/>
          <p:cNvSpPr/>
          <p:nvPr/>
        </p:nvSpPr>
        <p:spPr>
          <a:xfrm>
            <a:off x="457200" y="952500"/>
            <a:ext cx="28575" cy="4572000"/>
          </a:xfrm>
          <a:prstGeom prst="roundRect">
            <a:avLst>
              <a:gd name="adj" fmla="val 49998"/>
            </a:avLst>
          </a:prstGeom>
          <a:gradFill>
            <a:gsLst>
              <a:gs pos="0">
                <a:srgbClr val="2563EB"/>
              </a:gs>
              <a:gs pos="100000">
                <a:srgbClr val="2563EB">
                  <a:alpha val="15000"/>
                </a:srgbClr>
              </a:gs>
            </a:gsLst>
            <a:lin ang="0" scaled="0"/>
          </a:gradFill>
        </p:spPr>
      </p:sp>
      <p:sp>
        <p:nvSpPr>
          <p:cNvPr id="121" name="R121"/>
          <p:cNvSpPr/>
          <p:nvPr/>
        </p:nvSpPr>
        <p:spPr>
          <a:xfrm>
            <a:off x="628650" y="990600"/>
            <a:ext cx="7543800" cy="5429250"/>
          </a:xfrm>
          <a:prstGeom prst="roundRect">
            <a:avLst>
              <a:gd name="adj" fmla="val 1052"/>
            </a:avLst>
          </a:prstGeom>
          <a:gradFill>
            <a:gsLst>
              <a:gs pos="0">
                <a:srgbClr val="FFFFFF">
                  <a:alpha val="96000"/>
                </a:srgbClr>
              </a:gs>
              <a:gs pos="100000">
                <a:srgbClr val="E4EEFF">
                  <a:alpha val="94000"/>
                </a:srgbClr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122" name="R122"/>
          <p:cNvSpPr/>
          <p:nvPr/>
        </p:nvSpPr>
        <p:spPr>
          <a:xfrm>
            <a:off x="885825" y="1190625"/>
            <a:ext cx="7029450" cy="628650"/>
          </a:xfrm>
          <a:prstGeom prst="roundRect">
            <a:avLst>
              <a:gd name="adj" fmla="val 6060"/>
            </a:avLst>
          </a:prstGeom>
          <a:gradFill>
            <a:gsLst>
              <a:gs pos="0">
                <a:srgbClr val="2563EB">
                  <a:alpha val="14000"/>
                </a:srgbClr>
              </a:gs>
              <a:gs pos="100000">
                <a:srgbClr val="2563EB">
                  <a:alpha val="6000"/>
                </a:srgbClr>
              </a:gs>
            </a:gsLst>
            <a:lin ang="2700000" scaled="0"/>
          </a:gradFill>
          <a:ln w="12700">
            <a:solidFill>
              <a:srgbClr val="2563EB">
                <a:alpha val="12000"/>
              </a:srgbClr>
            </a:solidFill>
          </a:ln>
        </p:spPr>
      </p:sp>
      <p:sp>
        <p:nvSpPr>
          <p:cNvPr id="123" name="T123"/>
          <p:cNvSpPr txBox="1"/>
          <p:nvPr/>
        </p:nvSpPr>
        <p:spPr>
          <a:xfrm>
            <a:off x="1066800" y="1343025"/>
            <a:ext cx="23050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212529"/>
                </a:solidFill>
                <a:latin typeface="Noto Sans SC"/>
                <a:ea typeface="Noto Sans SC"/>
              </a:rPr>
              <a:t>四个板块，回答四个问题</a:t>
            </a:r>
            <a:endParaRPr lang="zh-CN" sz="16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24" name="T124"/>
          <p:cNvSpPr txBox="1"/>
          <p:nvPr/>
        </p:nvSpPr>
        <p:spPr>
          <a:xfrm>
            <a:off x="3733800" y="1352550"/>
            <a:ext cx="400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为什么做、怎么做、证据是什么、接下来做什么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25" name="R125"/>
          <p:cNvSpPr/>
          <p:nvPr/>
        </p:nvSpPr>
        <p:spPr>
          <a:xfrm>
            <a:off x="885825" y="1952625"/>
            <a:ext cx="7029450" cy="990600"/>
          </a:xfrm>
          <a:prstGeom prst="roundRect">
            <a:avLst>
              <a:gd name="adj" fmla="val 3846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100000">
                <a:srgbClr val="2563EB">
                  <a:alpha val="8000"/>
                </a:srgbClr>
              </a:gs>
            </a:gsLst>
            <a:lin ang="270000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26" name="R126"/>
          <p:cNvSpPr/>
          <p:nvPr/>
        </p:nvSpPr>
        <p:spPr>
          <a:xfrm>
            <a:off x="895350" y="2038350"/>
            <a:ext cx="28575" cy="819150"/>
          </a:xfrm>
          <a:prstGeom prst="roundRect">
            <a:avLst>
              <a:gd name="adj" fmla="val 49998"/>
            </a:avLst>
          </a:prstGeom>
          <a:solidFill>
            <a:srgbClr val="2563EB">
              <a:alpha val="55000"/>
            </a:srgbClr>
          </a:solidFill>
        </p:spPr>
      </p:sp>
      <p:sp>
        <p:nvSpPr>
          <p:cNvPr id="127" name="R127"/>
          <p:cNvSpPr/>
          <p:nvPr/>
        </p:nvSpPr>
        <p:spPr>
          <a:xfrm>
            <a:off x="1066800" y="2276475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28" name="T128"/>
          <p:cNvSpPr txBox="1"/>
          <p:nvPr/>
        </p:nvSpPr>
        <p:spPr>
          <a:xfrm>
            <a:off x="1122015" y="2300287"/>
            <a:ext cx="2323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Noto Sans SC"/>
                <a:ea typeface="Noto Sans SC"/>
              </a:rPr>
              <a:t>01</a:t>
            </a:r>
            <a:endParaRPr lang="zh-CN" sz="15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29" name="T129"/>
          <p:cNvSpPr txBox="1"/>
          <p:nvPr/>
        </p:nvSpPr>
        <p:spPr>
          <a:xfrm>
            <a:off x="1562100" y="2124075"/>
            <a:ext cx="6029325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212529"/>
                </a:solidFill>
                <a:latin typeface="Noto Sans SC"/>
                <a:ea typeface="Noto Sans SC"/>
              </a:rPr>
              <a:t>研究背景与方法框架 · 净负荷预测的核心矛盾与 KAN 两阶段技术</a:t>
            </a:r>
            <a:endParaRPr lang="zh-CN" sz="16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30" name="T130"/>
          <p:cNvSpPr txBox="1"/>
          <p:nvPr/>
        </p:nvSpPr>
        <p:spPr>
          <a:xfrm>
            <a:off x="1562100" y="2438400"/>
            <a:ext cx="41746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212529"/>
                </a:solidFill>
                <a:latin typeface="Noto Sans SC"/>
                <a:ea typeface="Noto Sans SC"/>
              </a:rPr>
              <a:t>路线</a:t>
            </a:r>
            <a:endParaRPr lang="zh-CN" sz="16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31" name="R131"/>
          <p:cNvSpPr/>
          <p:nvPr/>
        </p:nvSpPr>
        <p:spPr>
          <a:xfrm>
            <a:off x="885825" y="3038475"/>
            <a:ext cx="7029450" cy="704850"/>
          </a:xfrm>
          <a:prstGeom prst="roundRect">
            <a:avLst>
              <a:gd name="adj" fmla="val 5405"/>
            </a:avLst>
          </a:pr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059669">
                  <a:alpha val="8000"/>
                </a:srgbClr>
              </a:gs>
            </a:gsLst>
            <a:lin ang="270000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32" name="R132"/>
          <p:cNvSpPr/>
          <p:nvPr/>
        </p:nvSpPr>
        <p:spPr>
          <a:xfrm>
            <a:off x="895350" y="3124200"/>
            <a:ext cx="28575" cy="533400"/>
          </a:xfrm>
          <a:prstGeom prst="roundRect">
            <a:avLst>
              <a:gd name="adj" fmla="val 49998"/>
            </a:avLst>
          </a:prstGeom>
          <a:solidFill>
            <a:srgbClr val="2563EB">
              <a:alpha val="36000"/>
            </a:srgbClr>
          </a:solidFill>
        </p:spPr>
      </p:sp>
      <p:sp>
        <p:nvSpPr>
          <p:cNvPr id="133" name="R133"/>
          <p:cNvSpPr/>
          <p:nvPr/>
        </p:nvSpPr>
        <p:spPr>
          <a:xfrm>
            <a:off x="1066800" y="321945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34" name="T134"/>
          <p:cNvSpPr txBox="1"/>
          <p:nvPr/>
        </p:nvSpPr>
        <p:spPr>
          <a:xfrm>
            <a:off x="1122015" y="3243262"/>
            <a:ext cx="2323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Noto Sans SC"/>
                <a:ea typeface="Noto Sans SC"/>
              </a:rPr>
              <a:t>02</a:t>
            </a:r>
            <a:endParaRPr lang="zh-CN" sz="15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35" name="T135"/>
          <p:cNvSpPr txBox="1"/>
          <p:nvPr/>
        </p:nvSpPr>
        <p:spPr>
          <a:xfrm>
            <a:off x="1562100" y="3224212"/>
            <a:ext cx="489302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212529"/>
                </a:solidFill>
                <a:latin typeface="Noto Sans SC"/>
                <a:ea typeface="Noto Sans SC"/>
              </a:rPr>
              <a:t>六步实验探索（上） · 从精度验证到公式坍缩的发现</a:t>
            </a:r>
            <a:endParaRPr lang="zh-CN" sz="16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36" name="R136"/>
          <p:cNvSpPr/>
          <p:nvPr/>
        </p:nvSpPr>
        <p:spPr>
          <a:xfrm>
            <a:off x="885825" y="3838575"/>
            <a:ext cx="7029450" cy="704850"/>
          </a:xfrm>
          <a:prstGeom prst="roundRect">
            <a:avLst>
              <a:gd name="adj" fmla="val 5405"/>
            </a:avLst>
          </a:prstGeom>
          <a:gradFill>
            <a:gsLst>
              <a:gs pos="0">
                <a:srgbClr val="FFFFFF">
                  <a:alpha val="92000"/>
                </a:srgbClr>
              </a:gs>
              <a:gs pos="100000">
                <a:srgbClr val="2563EB">
                  <a:alpha val="8000"/>
                </a:srgbClr>
              </a:gs>
            </a:gsLst>
            <a:lin ang="270000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37" name="R137"/>
          <p:cNvSpPr/>
          <p:nvPr/>
        </p:nvSpPr>
        <p:spPr>
          <a:xfrm>
            <a:off x="895350" y="3924300"/>
            <a:ext cx="28575" cy="533400"/>
          </a:xfrm>
          <a:prstGeom prst="roundRect">
            <a:avLst>
              <a:gd name="adj" fmla="val 49998"/>
            </a:avLst>
          </a:prstGeom>
          <a:solidFill>
            <a:srgbClr val="2563EB">
              <a:alpha val="26000"/>
            </a:srgbClr>
          </a:solidFill>
        </p:spPr>
      </p:sp>
      <p:sp>
        <p:nvSpPr>
          <p:cNvPr id="138" name="R138"/>
          <p:cNvSpPr/>
          <p:nvPr/>
        </p:nvSpPr>
        <p:spPr>
          <a:xfrm>
            <a:off x="1066800" y="401955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39" name="T139"/>
          <p:cNvSpPr txBox="1"/>
          <p:nvPr/>
        </p:nvSpPr>
        <p:spPr>
          <a:xfrm>
            <a:off x="1122015" y="4043362"/>
            <a:ext cx="2323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Noto Sans SC"/>
                <a:ea typeface="Noto Sans SC"/>
              </a:rPr>
              <a:t>03</a:t>
            </a:r>
            <a:endParaRPr lang="zh-CN" sz="15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40" name="T140"/>
          <p:cNvSpPr txBox="1"/>
          <p:nvPr/>
        </p:nvSpPr>
        <p:spPr>
          <a:xfrm>
            <a:off x="1562100" y="4024312"/>
            <a:ext cx="4475708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212529"/>
                </a:solidFill>
                <a:latin typeface="Noto Sans SC"/>
                <a:ea typeface="Noto Sans SC"/>
              </a:rPr>
              <a:t>六步实验探索（下） · 从深挖机制到结构化解决</a:t>
            </a:r>
            <a:endParaRPr lang="zh-CN" sz="16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41" name="R141"/>
          <p:cNvSpPr/>
          <p:nvPr/>
        </p:nvSpPr>
        <p:spPr>
          <a:xfrm>
            <a:off x="885825" y="4638675"/>
            <a:ext cx="7029450" cy="704850"/>
          </a:xfrm>
          <a:prstGeom prst="roundRect">
            <a:avLst>
              <a:gd name="adj" fmla="val 5405"/>
            </a:avLst>
          </a:prstGeom>
          <a:gradFill>
            <a:gsLst>
              <a:gs pos="0">
                <a:srgbClr val="FFFFFF">
                  <a:alpha val="90000"/>
                </a:srgbClr>
              </a:gs>
              <a:gs pos="100000">
                <a:srgbClr val="059669">
                  <a:alpha val="8000"/>
                </a:srgbClr>
              </a:gs>
            </a:gsLst>
            <a:lin ang="270000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42" name="R142"/>
          <p:cNvSpPr/>
          <p:nvPr/>
        </p:nvSpPr>
        <p:spPr>
          <a:xfrm>
            <a:off x="895350" y="4724400"/>
            <a:ext cx="28575" cy="533400"/>
          </a:xfrm>
          <a:prstGeom prst="roundRect">
            <a:avLst>
              <a:gd name="adj" fmla="val 49998"/>
            </a:avLst>
          </a:prstGeom>
          <a:solidFill>
            <a:srgbClr val="2563EB">
              <a:alpha val="20000"/>
            </a:srgbClr>
          </a:solidFill>
        </p:spPr>
      </p:sp>
      <p:sp>
        <p:nvSpPr>
          <p:cNvPr id="143" name="R143"/>
          <p:cNvSpPr/>
          <p:nvPr/>
        </p:nvSpPr>
        <p:spPr>
          <a:xfrm>
            <a:off x="1066800" y="4819650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563EB"/>
          </a:solidFill>
        </p:spPr>
      </p:sp>
      <p:sp>
        <p:nvSpPr>
          <p:cNvPr id="144" name="T144"/>
          <p:cNvSpPr txBox="1"/>
          <p:nvPr/>
        </p:nvSpPr>
        <p:spPr>
          <a:xfrm>
            <a:off x="1122015" y="4843462"/>
            <a:ext cx="23232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Noto Sans SC"/>
                <a:ea typeface="Noto Sans SC"/>
              </a:rPr>
              <a:t>04</a:t>
            </a:r>
            <a:endParaRPr lang="zh-CN" sz="15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45" name="T145"/>
          <p:cNvSpPr txBox="1"/>
          <p:nvPr/>
        </p:nvSpPr>
        <p:spPr>
          <a:xfrm>
            <a:off x="1562100" y="4824412"/>
            <a:ext cx="426690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212529"/>
                </a:solidFill>
                <a:latin typeface="Noto Sans SC"/>
                <a:ea typeface="Noto Sans SC"/>
              </a:rPr>
              <a:t>当前进展与后续计划 · 阶段成果与下一步安排</a:t>
            </a:r>
            <a:endParaRPr lang="zh-CN" sz="16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46" name="R146"/>
          <p:cNvSpPr/>
          <p:nvPr/>
        </p:nvSpPr>
        <p:spPr>
          <a:xfrm>
            <a:off x="885825" y="5476875"/>
            <a:ext cx="1700212" cy="781050"/>
          </a:xfrm>
          <a:prstGeom prst="roundRect">
            <a:avLst>
              <a:gd name="adj" fmla="val 4878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47" name="T147"/>
          <p:cNvSpPr txBox="1"/>
          <p:nvPr/>
        </p:nvSpPr>
        <p:spPr>
          <a:xfrm>
            <a:off x="990600" y="5572125"/>
            <a:ext cx="45199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WHY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48" name="T148"/>
          <p:cNvSpPr txBox="1"/>
          <p:nvPr/>
        </p:nvSpPr>
        <p:spPr>
          <a:xfrm>
            <a:off x="990600" y="58864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矛盾界定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49" name="R149"/>
          <p:cNvSpPr/>
          <p:nvPr/>
        </p:nvSpPr>
        <p:spPr>
          <a:xfrm>
            <a:off x="2662237" y="5476875"/>
            <a:ext cx="1700212" cy="781050"/>
          </a:xfrm>
          <a:prstGeom prst="roundRect">
            <a:avLst>
              <a:gd name="adj" fmla="val 4878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50" name="T150"/>
          <p:cNvSpPr txBox="1"/>
          <p:nvPr/>
        </p:nvSpPr>
        <p:spPr>
          <a:xfrm>
            <a:off x="2767012" y="5572125"/>
            <a:ext cx="4866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HOW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51" name="T151"/>
          <p:cNvSpPr txBox="1"/>
          <p:nvPr/>
        </p:nvSpPr>
        <p:spPr>
          <a:xfrm>
            <a:off x="2767012" y="588645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方法与实验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52" name="R152"/>
          <p:cNvSpPr/>
          <p:nvPr/>
        </p:nvSpPr>
        <p:spPr>
          <a:xfrm>
            <a:off x="4438650" y="5476875"/>
            <a:ext cx="1700212" cy="781050"/>
          </a:xfrm>
          <a:prstGeom prst="roundRect">
            <a:avLst>
              <a:gd name="adj" fmla="val 4878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53" name="T153"/>
          <p:cNvSpPr txBox="1"/>
          <p:nvPr/>
        </p:nvSpPr>
        <p:spPr>
          <a:xfrm>
            <a:off x="4543425" y="5572125"/>
            <a:ext cx="70008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PROOF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54" name="T154"/>
          <p:cNvSpPr txBox="1"/>
          <p:nvPr/>
        </p:nvSpPr>
        <p:spPr>
          <a:xfrm>
            <a:off x="4543425" y="58864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机制证据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55" name="R155"/>
          <p:cNvSpPr/>
          <p:nvPr/>
        </p:nvSpPr>
        <p:spPr>
          <a:xfrm>
            <a:off x="6215062" y="5476875"/>
            <a:ext cx="1700212" cy="781050"/>
          </a:xfrm>
          <a:prstGeom prst="roundRect">
            <a:avLst>
              <a:gd name="adj" fmla="val 4878"/>
            </a:avLst>
          </a:prstGeom>
          <a:solidFill>
            <a:srgbClr val="F4F8FF">
              <a:alpha val="92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56" name="T156"/>
          <p:cNvSpPr txBox="1"/>
          <p:nvPr/>
        </p:nvSpPr>
        <p:spPr>
          <a:xfrm>
            <a:off x="6319837" y="5572125"/>
            <a:ext cx="52357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NEXT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57" name="T157"/>
          <p:cNvSpPr txBox="1"/>
          <p:nvPr/>
        </p:nvSpPr>
        <p:spPr>
          <a:xfrm>
            <a:off x="6319837" y="588645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进展与交付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58" name="R158"/>
          <p:cNvSpPr/>
          <p:nvPr/>
        </p:nvSpPr>
        <p:spPr>
          <a:xfrm>
            <a:off x="8515350" y="990600"/>
            <a:ext cx="3162300" cy="5429250"/>
          </a:xfrm>
          <a:prstGeom prst="roundRect">
            <a:avLst>
              <a:gd name="adj" fmla="val 1807"/>
            </a:avLst>
          </a:prstGeom>
          <a:gradFill>
            <a:gsLst>
              <a:gs pos="0">
                <a:srgbClr val="E7EFFF">
                  <a:alpha val="98000"/>
                </a:srgbClr>
              </a:gs>
              <a:gs pos="100000">
                <a:srgbClr val="DCEAFF">
                  <a:alpha val="92000"/>
                </a:srgbClr>
              </a:gs>
            </a:gsLst>
            <a:lin ang="0" scaled="0"/>
          </a:gradFill>
          <a:ln w="12700">
            <a:solidFill>
              <a:srgbClr val="2563EB">
                <a:alpha val="12000"/>
              </a:srgbClr>
            </a:solidFill>
          </a:ln>
        </p:spPr>
      </p:sp>
      <p:sp>
        <p:nvSpPr>
          <p:cNvPr id="159" name="T159"/>
          <p:cNvSpPr txBox="1"/>
          <p:nvPr/>
        </p:nvSpPr>
        <p:spPr>
          <a:xfrm>
            <a:off x="8715375" y="1181100"/>
            <a:ext cx="1251049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212529"/>
                </a:solidFill>
                <a:latin typeface="Noto Sans SC"/>
                <a:ea typeface="Noto Sans SC"/>
              </a:rPr>
              <a:t>本次汇报导览</a:t>
            </a:r>
            <a:endParaRPr lang="zh-CN" sz="16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60" name="T160"/>
          <p:cNvSpPr txBox="1"/>
          <p:nvPr/>
        </p:nvSpPr>
        <p:spPr>
          <a:xfrm>
            <a:off x="8715375" y="1562100"/>
            <a:ext cx="228644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围绕“净负荷预测 + 可解释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61" name="T161"/>
          <p:cNvSpPr txBox="1"/>
          <p:nvPr/>
        </p:nvSpPr>
        <p:spPr>
          <a:xfrm>
            <a:off x="8715375" y="1847850"/>
            <a:ext cx="265985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KAN”逐层展开：从问题与路线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62" name="T162"/>
          <p:cNvSpPr txBox="1"/>
          <p:nvPr/>
        </p:nvSpPr>
        <p:spPr>
          <a:xfrm>
            <a:off x="8715375" y="2133600"/>
            <a:ext cx="1333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到实验与计划。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163" name="R163"/>
          <p:cNvSpPr/>
          <p:nvPr/>
        </p:nvSpPr>
        <p:spPr>
          <a:xfrm>
            <a:off x="8715375" y="2600325"/>
            <a:ext cx="2762250" cy="485775"/>
          </a:xfrm>
          <a:prstGeom prst="roundRect">
            <a:avLst>
              <a:gd name="adj" fmla="val 7843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64" name="T164"/>
          <p:cNvSpPr txBox="1"/>
          <p:nvPr/>
        </p:nvSpPr>
        <p:spPr>
          <a:xfrm>
            <a:off x="8839200" y="2695575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章节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65" name="T165"/>
          <p:cNvSpPr txBox="1"/>
          <p:nvPr/>
        </p:nvSpPr>
        <p:spPr>
          <a:xfrm>
            <a:off x="11237565" y="2695575"/>
            <a:ext cx="11623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4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66" name="R166"/>
          <p:cNvSpPr/>
          <p:nvPr/>
        </p:nvSpPr>
        <p:spPr>
          <a:xfrm>
            <a:off x="8715375" y="3181350"/>
            <a:ext cx="2762250" cy="762000"/>
          </a:xfrm>
          <a:prstGeom prst="roundRect">
            <a:avLst>
              <a:gd name="adj" fmla="val 5000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67" name="T167"/>
          <p:cNvSpPr txBox="1"/>
          <p:nvPr/>
        </p:nvSpPr>
        <p:spPr>
          <a:xfrm>
            <a:off x="8839200" y="32766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核心产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68" name="T168"/>
          <p:cNvSpPr txBox="1"/>
          <p:nvPr/>
        </p:nvSpPr>
        <p:spPr>
          <a:xfrm>
            <a:off x="8839200" y="355282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出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69" name="T169"/>
          <p:cNvSpPr txBox="1"/>
          <p:nvPr/>
        </p:nvSpPr>
        <p:spPr>
          <a:xfrm>
            <a:off x="9574708" y="3276600"/>
            <a:ext cx="164871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方法框架 · 实验链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70" name="T170"/>
          <p:cNvSpPr txBox="1"/>
          <p:nvPr/>
        </p:nvSpPr>
        <p:spPr>
          <a:xfrm>
            <a:off x="9574708" y="3552825"/>
            <a:ext cx="19436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路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71" name="R171"/>
          <p:cNvSpPr/>
          <p:nvPr/>
        </p:nvSpPr>
        <p:spPr>
          <a:xfrm>
            <a:off x="8715375" y="4038600"/>
            <a:ext cx="2762250" cy="485775"/>
          </a:xfrm>
          <a:prstGeom prst="roundRect">
            <a:avLst>
              <a:gd name="adj" fmla="val 7843"/>
            </a:avLst>
          </a:prstGeom>
          <a:solidFill>
            <a:srgbClr val="2563EB">
              <a:alpha val="6000"/>
            </a:srgbClr>
          </a:soli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172" name="T172"/>
          <p:cNvSpPr txBox="1"/>
          <p:nvPr/>
        </p:nvSpPr>
        <p:spPr>
          <a:xfrm>
            <a:off x="8839200" y="413385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关注点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73" name="T173"/>
          <p:cNvSpPr txBox="1"/>
          <p:nvPr/>
        </p:nvSpPr>
        <p:spPr>
          <a:xfrm>
            <a:off x="9899451" y="4133850"/>
            <a:ext cx="145434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解释性 · 稳健性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174" name="R174"/>
          <p:cNvSpPr/>
          <p:nvPr/>
        </p:nvSpPr>
        <p:spPr>
          <a:xfrm>
            <a:off x="8715375" y="47529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60000"/>
            </a:srgbClr>
          </a:solidFill>
        </p:spPr>
      </p:sp>
      <p:sp>
        <p:nvSpPr>
          <p:cNvPr id="175" name="T175"/>
          <p:cNvSpPr txBox="1"/>
          <p:nvPr/>
        </p:nvSpPr>
        <p:spPr>
          <a:xfrm>
            <a:off x="8924925" y="466725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先建立“矛盾—方法—验证”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76" name="T176"/>
          <p:cNvSpPr txBox="1"/>
          <p:nvPr/>
        </p:nvSpPr>
        <p:spPr>
          <a:xfrm>
            <a:off x="8924925" y="495300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的闭环，再逐步扩大实验覆盖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77" name="T177"/>
          <p:cNvSpPr txBox="1"/>
          <p:nvPr/>
        </p:nvSpPr>
        <p:spPr>
          <a:xfrm>
            <a:off x="8924925" y="523875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面。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78" name="R178"/>
          <p:cNvSpPr/>
          <p:nvPr/>
        </p:nvSpPr>
        <p:spPr>
          <a:xfrm>
            <a:off x="8715375" y="56864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60000"/>
            </a:srgbClr>
          </a:solidFill>
        </p:spPr>
      </p:sp>
      <p:sp>
        <p:nvSpPr>
          <p:cNvPr id="179" name="T179"/>
          <p:cNvSpPr txBox="1"/>
          <p:nvPr/>
        </p:nvSpPr>
        <p:spPr>
          <a:xfrm>
            <a:off x="8924925" y="5562600"/>
            <a:ext cx="2476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关键风险：公式坍缩与泛化；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80" name="T180"/>
          <p:cNvSpPr txBox="1"/>
          <p:nvPr/>
        </p:nvSpPr>
        <p:spPr>
          <a:xfrm>
            <a:off x="8924925" y="584835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对策：结构化约束与机制分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181" name="T181"/>
          <p:cNvSpPr txBox="1"/>
          <p:nvPr/>
        </p:nvSpPr>
        <p:spPr>
          <a:xfrm>
            <a:off x="8924925" y="613410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析。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82" name="R182"/>
          <p:cNvSpPr/>
          <p:nvPr/>
        </p:nvSpPr>
        <p:spPr>
          <a:xfrm>
            <a:off x="419100" y="895350"/>
            <a:ext cx="28575" cy="5143500"/>
          </a:xfrm>
          <a:prstGeom prst="roundRect">
            <a:avLst>
              <a:gd name="adj" fmla="val 49998"/>
            </a:avLst>
          </a:prstGeom>
          <a:gradFill>
            <a:gsLst>
              <a:gs pos="0">
                <a:srgbClr val="2563EB">
                  <a:alpha val="0"/>
                </a:srgbClr>
              </a:gs>
              <a:gs pos="33333">
                <a:srgbClr val="2563EB">
                  <a:alpha val="95000"/>
                </a:srgbClr>
              </a:gs>
              <a:gs pos="66666">
                <a:srgbClr val="2563EB">
                  <a:alpha val="95000"/>
                </a:srgbClr>
              </a:gs>
              <a:gs pos="100000">
                <a:srgbClr val="2563EB">
                  <a:alpha val="0"/>
                </a:srgbClr>
              </a:gs>
            </a:gsLst>
            <a:lin ang="0" scaled="0"/>
          </a:gradFill>
        </p:spPr>
      </p:sp>
      <p:sp>
        <p:nvSpPr>
          <p:cNvPr id="183" name="R183"/>
          <p:cNvSpPr/>
          <p:nvPr/>
        </p:nvSpPr>
        <p:spPr>
          <a:xfrm>
            <a:off x="419100" y="781050"/>
            <a:ext cx="11353800" cy="5676900"/>
          </a:xfrm>
          <a:prstGeom prst="roundRect">
            <a:avLst>
              <a:gd name="adj" fmla="val 1677"/>
            </a:avLst>
          </a:prstGeom>
          <a:gradFill>
            <a:gsLst>
              <a:gs pos="0">
                <a:srgbClr val="FFFFFF">
                  <a:alpha val="72000"/>
                </a:srgbClr>
              </a:gs>
              <a:gs pos="100000">
                <a:srgbClr val="F6F8FB">
                  <a:alpha val="94000"/>
                </a:srgbClr>
              </a:gs>
            </a:gsLst>
            <a:lin ang="0" scaled="0"/>
          </a:gra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184" name="R184"/>
          <p:cNvSpPr/>
          <p:nvPr/>
        </p:nvSpPr>
        <p:spPr>
          <a:xfrm>
            <a:off x="581025" y="923925"/>
            <a:ext cx="11029950" cy="2245965"/>
          </a:xfrm>
          <a:prstGeom prst="roundRect">
            <a:avLst>
              <a:gd name="adj" fmla="val 2544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0"/>
          </a:gradFill>
        </p:spPr>
      </p:sp>
      <p:sp>
        <p:nvSpPr>
          <p:cNvPr id="185" name="L185"/>
          <p:cNvSpPr/>
          <p:nvPr/>
        </p:nvSpPr>
        <p:spPr>
          <a:xfrm>
            <a:off x="581025" y="923925"/>
            <a:ext cx="9525" cy="2245965"/>
          </a:xfrm>
          <a:prstGeom prst="line">
            <a:avLst/>
          </a:prstGeom>
          <a:noFill/>
          <a:ln w="50800">
            <a:solidFill>
              <a:srgbClr val="FFFFFF">
                <a:alpha val="40000"/>
              </a:srgbClr>
            </a:solidFill>
          </a:ln>
        </p:spPr>
      </p:sp>
      <p:sp>
        <p:nvSpPr>
          <p:cNvPr id="186" name="T186"/>
          <p:cNvSpPr txBox="1"/>
          <p:nvPr/>
        </p:nvSpPr>
        <p:spPr>
          <a:xfrm>
            <a:off x="952500" y="1143000"/>
            <a:ext cx="219298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70000"/>
                  </a:srgbClr>
                </a:solidFill>
                <a:latin typeface="Noto Sans SC"/>
                <a:ea typeface="Noto Sans SC"/>
              </a:rPr>
              <a:t>CORE CONTRADICTION</a:t>
            </a:r>
            <a:endParaRPr lang="zh-CN" sz="1350" dirty="0">
              <a:solidFill>
                <a:srgbClr val="FFFFFF">
                  <a:alpha val="7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87" name="T187"/>
          <p:cNvSpPr txBox="1"/>
          <p:nvPr/>
        </p:nvSpPr>
        <p:spPr>
          <a:xfrm>
            <a:off x="952500" y="1495425"/>
            <a:ext cx="83820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FFFFFF"/>
                </a:solidFill>
                <a:latin typeface="Noto Sans SC"/>
                <a:ea typeface="Noto Sans SC"/>
              </a:rPr>
              <a:t>核心矛盾</a:t>
            </a:r>
            <a:endParaRPr lang="zh-CN" sz="165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188" name="R188"/>
          <p:cNvSpPr/>
          <p:nvPr/>
        </p:nvSpPr>
        <p:spPr>
          <a:xfrm>
            <a:off x="952500" y="206499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189" name="T189"/>
          <p:cNvSpPr txBox="1"/>
          <p:nvPr/>
        </p:nvSpPr>
        <p:spPr>
          <a:xfrm>
            <a:off x="1104900" y="1988790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FFFFFF">
                    <a:alpha val="92000"/>
                  </a:srgbClr>
                </a:solidFill>
                <a:latin typeface="Noto Sans SC"/>
                <a:ea typeface="Noto Sans SC"/>
              </a:rPr>
              <a:t>净负荷</a:t>
            </a:r>
            <a:endParaRPr lang="zh-CN" sz="1350" b="1" dirty="0">
              <a:solidFill>
                <a:srgbClr val="FFFFFF">
                  <a:alpha val="9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90" name="T190"/>
          <p:cNvSpPr txBox="1"/>
          <p:nvPr/>
        </p:nvSpPr>
        <p:spPr>
          <a:xfrm>
            <a:off x="1619250" y="1988790"/>
            <a:ext cx="445903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92000"/>
                  </a:srgbClr>
                </a:solidFill>
                <a:latin typeface="Noto Sans SC"/>
                <a:ea typeface="Noto Sans SC"/>
              </a:rPr>
              <a:t>= 总需求 − 风电 − 光伏，是新能源并网调度的关键预测对象</a:t>
            </a:r>
            <a:endParaRPr lang="zh-CN" sz="1350" dirty="0">
              <a:solidFill>
                <a:srgbClr val="FFFFFF">
                  <a:alpha val="9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91" name="R191"/>
          <p:cNvSpPr/>
          <p:nvPr/>
        </p:nvSpPr>
        <p:spPr>
          <a:xfrm>
            <a:off x="952500" y="2398365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192" name="T192"/>
          <p:cNvSpPr txBox="1"/>
          <p:nvPr/>
        </p:nvSpPr>
        <p:spPr>
          <a:xfrm>
            <a:off x="1104900" y="2322165"/>
            <a:ext cx="22288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92000"/>
                  </a:srgbClr>
                </a:solidFill>
                <a:latin typeface="Noto Sans SC"/>
                <a:ea typeface="Noto Sans SC"/>
              </a:rPr>
              <a:t>深度学习模型预测精度高，但</a:t>
            </a:r>
            <a:endParaRPr lang="zh-CN" sz="1350" dirty="0">
              <a:solidFill>
                <a:srgbClr val="FFFFFF">
                  <a:alpha val="9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93" name="T193"/>
          <p:cNvSpPr txBox="1"/>
          <p:nvPr/>
        </p:nvSpPr>
        <p:spPr>
          <a:xfrm>
            <a:off x="3333750" y="2322165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CA5A5"/>
                </a:solidFill>
                <a:latin typeface="Noto Sans SC"/>
                <a:ea typeface="Noto Sans SC"/>
              </a:rPr>
              <a:t>无法给出可审计的物理推理路径</a:t>
            </a:r>
            <a:endParaRPr lang="zh-CN" sz="1350" dirty="0">
              <a:solidFill>
                <a:srgbClr val="FCA5A5"/>
              </a:solidFill>
              <a:latin typeface="Noto Sans SC"/>
              <a:ea typeface="Noto Sans SC"/>
            </a:endParaRPr>
          </a:p>
        </p:txBody>
      </p:sp>
      <p:sp>
        <p:nvSpPr>
          <p:cNvPr id="194" name="R194"/>
          <p:cNvSpPr/>
          <p:nvPr/>
        </p:nvSpPr>
        <p:spPr>
          <a:xfrm>
            <a:off x="952500" y="273174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FFFFF">
              <a:alpha val="50000"/>
            </a:srgbClr>
          </a:solidFill>
        </p:spPr>
      </p:sp>
      <p:sp>
        <p:nvSpPr>
          <p:cNvPr id="195" name="T195"/>
          <p:cNvSpPr txBox="1"/>
          <p:nvPr/>
        </p:nvSpPr>
        <p:spPr>
          <a:xfrm>
            <a:off x="1104900" y="2655540"/>
            <a:ext cx="17145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92000"/>
                  </a:srgbClr>
                </a:solidFill>
                <a:latin typeface="Noto Sans SC"/>
                <a:ea typeface="Noto Sans SC"/>
              </a:rPr>
              <a:t>既要预测准确，也要让</a:t>
            </a:r>
            <a:endParaRPr lang="zh-CN" sz="1350" dirty="0">
              <a:solidFill>
                <a:srgbClr val="FFFFFF">
                  <a:alpha val="9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196" name="T196"/>
          <p:cNvSpPr txBox="1"/>
          <p:nvPr/>
        </p:nvSpPr>
        <p:spPr>
          <a:xfrm>
            <a:off x="2819400" y="2655540"/>
            <a:ext cx="3771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BFDBFE"/>
                </a:solidFill>
                <a:latin typeface="Noto Sans SC"/>
                <a:ea typeface="Noto Sans SC"/>
              </a:rPr>
              <a:t>辐照度、风速、温度等物理量以可读公式进入模型</a:t>
            </a:r>
            <a:endParaRPr lang="zh-CN" sz="1350" dirty="0">
              <a:solidFill>
                <a:srgbClr val="BFDBFE"/>
              </a:solidFill>
              <a:latin typeface="Noto Sans SC"/>
              <a:ea typeface="Noto Sans SC"/>
            </a:endParaRPr>
          </a:p>
        </p:txBody>
      </p:sp>
      <p:sp>
        <p:nvSpPr>
          <p:cNvPr id="197" name="R197"/>
          <p:cNvSpPr/>
          <p:nvPr/>
        </p:nvSpPr>
        <p:spPr>
          <a:xfrm>
            <a:off x="581025" y="3360390"/>
            <a:ext cx="5419725" cy="2954684"/>
          </a:xfrm>
          <a:prstGeom prst="roundRect">
            <a:avLst>
              <a:gd name="adj" fmla="val 1934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</p:spPr>
      </p:sp>
      <p:sp>
        <p:nvSpPr>
          <p:cNvPr id="198" name="L198"/>
          <p:cNvSpPr/>
          <p:nvPr/>
        </p:nvSpPr>
        <p:spPr>
          <a:xfrm>
            <a:off x="581025" y="3360390"/>
            <a:ext cx="5419725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199" name="L199"/>
          <p:cNvSpPr/>
          <p:nvPr/>
        </p:nvSpPr>
        <p:spPr>
          <a:xfrm>
            <a:off x="581025" y="6315075"/>
            <a:ext cx="5419725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00" name="L200"/>
          <p:cNvSpPr/>
          <p:nvPr/>
        </p:nvSpPr>
        <p:spPr>
          <a:xfrm>
            <a:off x="6000750" y="3360390"/>
            <a:ext cx="9525" cy="2954684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01" name="L201"/>
          <p:cNvSpPr/>
          <p:nvPr/>
        </p:nvSpPr>
        <p:spPr>
          <a:xfrm>
            <a:off x="581025" y="3360390"/>
            <a:ext cx="9525" cy="2954684"/>
          </a:xfrm>
          <a:prstGeom prst="line">
            <a:avLst/>
          </a:prstGeom>
          <a:noFill/>
          <a:ln w="38100">
            <a:solidFill>
              <a:srgbClr val="DC2626"/>
            </a:solidFill>
          </a:ln>
        </p:spPr>
      </p:sp>
      <p:sp>
        <p:nvSpPr>
          <p:cNvPr id="202" name="R202"/>
          <p:cNvSpPr/>
          <p:nvPr/>
        </p:nvSpPr>
        <p:spPr>
          <a:xfrm>
            <a:off x="866775" y="3598515"/>
            <a:ext cx="4895850" cy="323850"/>
          </a:xfrm>
          <a:prstGeom prst="roundRect">
            <a:avLst>
              <a:gd name="adj" fmla="val 50000"/>
            </a:avLst>
          </a:prstGeom>
          <a:solidFill>
            <a:srgbClr val="DC2626">
              <a:alpha val="10000"/>
            </a:srgbClr>
          </a:solidFill>
        </p:spPr>
      </p:sp>
      <p:sp>
        <p:nvSpPr>
          <p:cNvPr id="203" name="T203"/>
          <p:cNvSpPr txBox="1"/>
          <p:nvPr/>
        </p:nvSpPr>
        <p:spPr>
          <a:xfrm>
            <a:off x="3129408" y="3627090"/>
            <a:ext cx="37043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DC2626"/>
                </a:solidFill>
                <a:latin typeface="Noto Sans SC"/>
                <a:ea typeface="Noto Sans SC"/>
              </a:rPr>
              <a:t>痛点</a:t>
            </a:r>
            <a:endParaRPr lang="zh-CN" sz="135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204" name="T204"/>
          <p:cNvSpPr txBox="1"/>
          <p:nvPr/>
        </p:nvSpPr>
        <p:spPr>
          <a:xfrm>
            <a:off x="866775" y="4027140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黑箱困境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05" name="R205"/>
          <p:cNvSpPr/>
          <p:nvPr/>
        </p:nvSpPr>
        <p:spPr>
          <a:xfrm>
            <a:off x="866775" y="4526160"/>
            <a:ext cx="47625" cy="47625"/>
          </a:xfrm>
          <a:prstGeom prst="roundRect">
            <a:avLst>
              <a:gd name="adj" fmla="val 49998"/>
            </a:avLst>
          </a:prstGeom>
          <a:solidFill>
            <a:srgbClr val="DC2626"/>
          </a:solidFill>
        </p:spPr>
      </p:sp>
      <p:sp>
        <p:nvSpPr>
          <p:cNvPr id="206" name="T206"/>
          <p:cNvSpPr txBox="1"/>
          <p:nvPr/>
        </p:nvSpPr>
        <p:spPr>
          <a:xfrm>
            <a:off x="1000125" y="4440435"/>
            <a:ext cx="436155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LSTM、Transformer 等模型预测准确，但推理路径不可读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07" name="R207"/>
          <p:cNvSpPr/>
          <p:nvPr/>
        </p:nvSpPr>
        <p:spPr>
          <a:xfrm>
            <a:off x="866775" y="4859535"/>
            <a:ext cx="47625" cy="47625"/>
          </a:xfrm>
          <a:prstGeom prst="roundRect">
            <a:avLst>
              <a:gd name="adj" fmla="val 49998"/>
            </a:avLst>
          </a:prstGeom>
          <a:solidFill>
            <a:srgbClr val="DC2626"/>
          </a:solidFill>
        </p:spPr>
      </p:sp>
      <p:sp>
        <p:nvSpPr>
          <p:cNvPr id="208" name="T208"/>
          <p:cNvSpPr txBox="1"/>
          <p:nvPr/>
        </p:nvSpPr>
        <p:spPr>
          <a:xfrm>
            <a:off x="1000125" y="4773810"/>
            <a:ext cx="385524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SHAP、注意力权重等 XAI 方法仍属于事后近似归因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09" name="R209"/>
          <p:cNvSpPr/>
          <p:nvPr/>
        </p:nvSpPr>
        <p:spPr>
          <a:xfrm>
            <a:off x="866775" y="5192910"/>
            <a:ext cx="47625" cy="47625"/>
          </a:xfrm>
          <a:prstGeom prst="roundRect">
            <a:avLst>
              <a:gd name="adj" fmla="val 49998"/>
            </a:avLst>
          </a:prstGeom>
          <a:solidFill>
            <a:srgbClr val="DC2626"/>
          </a:solidFill>
        </p:spPr>
      </p:sp>
      <p:sp>
        <p:nvSpPr>
          <p:cNvPr id="210" name="T210"/>
          <p:cNvSpPr txBox="1"/>
          <p:nvPr/>
        </p:nvSpPr>
        <p:spPr>
          <a:xfrm>
            <a:off x="1000125" y="5107185"/>
            <a:ext cx="4114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工程侧真正需要的是可验证的数学公式，而非统计解释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11" name="L211"/>
          <p:cNvSpPr/>
          <p:nvPr/>
        </p:nvSpPr>
        <p:spPr>
          <a:xfrm>
            <a:off x="6191250" y="3360390"/>
            <a:ext cx="5419725" cy="9525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212" name="L212"/>
          <p:cNvSpPr/>
          <p:nvPr/>
        </p:nvSpPr>
        <p:spPr>
          <a:xfrm>
            <a:off x="6191250" y="6315075"/>
            <a:ext cx="5419725" cy="9525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213" name="L213"/>
          <p:cNvSpPr/>
          <p:nvPr/>
        </p:nvSpPr>
        <p:spPr>
          <a:xfrm>
            <a:off x="11610975" y="3360390"/>
            <a:ext cx="9525" cy="2954684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214" name="L214"/>
          <p:cNvSpPr/>
          <p:nvPr/>
        </p:nvSpPr>
        <p:spPr>
          <a:xfrm>
            <a:off x="6191250" y="3360390"/>
            <a:ext cx="9525" cy="2954684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215" name="R215"/>
          <p:cNvSpPr/>
          <p:nvPr/>
        </p:nvSpPr>
        <p:spPr>
          <a:xfrm>
            <a:off x="6477000" y="3598515"/>
            <a:ext cx="4895850" cy="323850"/>
          </a:xfrm>
          <a:prstGeom prst="roundRect">
            <a:avLst>
              <a:gd name="adj" fmla="val 50000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216" name="T216"/>
          <p:cNvSpPr txBox="1"/>
          <p:nvPr/>
        </p:nvSpPr>
        <p:spPr>
          <a:xfrm>
            <a:off x="8739633" y="3627090"/>
            <a:ext cx="370433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563EB"/>
                </a:solidFill>
                <a:latin typeface="Noto Sans SC"/>
                <a:ea typeface="Noto Sans SC"/>
              </a:rPr>
              <a:t>机会</a:t>
            </a:r>
            <a:endParaRPr lang="zh-CN" sz="135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17" name="T217"/>
          <p:cNvSpPr txBox="1"/>
          <p:nvPr/>
        </p:nvSpPr>
        <p:spPr>
          <a:xfrm>
            <a:off x="6477000" y="4027140"/>
            <a:ext cx="121027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KAN的突围潜力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18" name="R218"/>
          <p:cNvSpPr/>
          <p:nvPr/>
        </p:nvSpPr>
        <p:spPr>
          <a:xfrm>
            <a:off x="6477000" y="4526160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219" name="T219"/>
          <p:cNvSpPr txBox="1"/>
          <p:nvPr/>
        </p:nvSpPr>
        <p:spPr>
          <a:xfrm>
            <a:off x="6610350" y="4440435"/>
            <a:ext cx="467885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KAN 以 B 样条替代固定激活函数，具备先训练后提取公式的天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20" name="T220"/>
          <p:cNvSpPr txBox="1"/>
          <p:nvPr/>
        </p:nvSpPr>
        <p:spPr>
          <a:xfrm>
            <a:off x="6610350" y="4697610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然能力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21" name="R221"/>
          <p:cNvSpPr/>
          <p:nvPr/>
        </p:nvSpPr>
        <p:spPr>
          <a:xfrm>
            <a:off x="6477000" y="5116710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222" name="T222"/>
          <p:cNvSpPr txBox="1"/>
          <p:nvPr/>
        </p:nvSpPr>
        <p:spPr>
          <a:xfrm>
            <a:off x="6610350" y="5030985"/>
            <a:ext cx="4724846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符号回归能生成闭式表达式，但在 26 维时序场景中搜索空间爆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23" name="T223"/>
          <p:cNvSpPr txBox="1"/>
          <p:nvPr/>
        </p:nvSpPr>
        <p:spPr>
          <a:xfrm>
            <a:off x="6610350" y="528816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炸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24" name="R224"/>
          <p:cNvSpPr/>
          <p:nvPr/>
        </p:nvSpPr>
        <p:spPr>
          <a:xfrm>
            <a:off x="6477000" y="5707260"/>
            <a:ext cx="47625" cy="47625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225" name="T225"/>
          <p:cNvSpPr txBox="1"/>
          <p:nvPr/>
        </p:nvSpPr>
        <p:spPr>
          <a:xfrm>
            <a:off x="6610350" y="5621535"/>
            <a:ext cx="294664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KAN 提供了从训练到符号化的连续路径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26" name="T226"/>
          <p:cNvSpPr txBox="1"/>
          <p:nvPr/>
        </p:nvSpPr>
        <p:spPr>
          <a:xfrm>
            <a:off x="533400" y="180975"/>
            <a:ext cx="272787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2563EB"/>
                </a:solidFill>
                <a:latin typeface="Noto Sans SC"/>
                <a:ea typeface="Noto Sans SC"/>
              </a:rPr>
              <a:t>PART 1 · 研究定位与方法框架</a:t>
            </a:r>
            <a:endParaRPr lang="zh-CN" sz="135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27" name="T227"/>
          <p:cNvSpPr txBox="1"/>
          <p:nvPr/>
        </p:nvSpPr>
        <p:spPr>
          <a:xfrm>
            <a:off x="533400" y="447675"/>
            <a:ext cx="3925341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dirty="0">
                <a:solidFill>
                  <a:srgbClr val="212529"/>
                </a:solidFill>
                <a:latin typeface="Noto Sans SC"/>
                <a:ea typeface="Noto Sans SC"/>
              </a:rPr>
              <a:t>研究背景——净负荷预测的核心矛盾</a:t>
            </a:r>
            <a:endParaRPr lang="zh-CN" sz="19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28" name="T228"/>
          <p:cNvSpPr txBox="1"/>
          <p:nvPr/>
        </p:nvSpPr>
        <p:spPr>
          <a:xfrm>
            <a:off x="533400" y="6486525"/>
            <a:ext cx="25653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350" dirty="0">
              <a:solidFill>
                <a:srgbClr val="6B7280">
                  <a:alpha val="7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29" name="T229"/>
          <p:cNvSpPr txBox="1"/>
          <p:nvPr/>
        </p:nvSpPr>
        <p:spPr>
          <a:xfrm>
            <a:off x="11229082" y="6486525"/>
            <a:ext cx="4295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3 / 12</a:t>
            </a:r>
            <a:endParaRPr lang="zh-CN" sz="1350" dirty="0">
              <a:solidFill>
                <a:srgbClr val="6B7280">
                  <a:alpha val="70000"/>
                </a:srgbClr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30" name="T230"/>
          <p:cNvSpPr txBox="1"/>
          <p:nvPr/>
        </p:nvSpPr>
        <p:spPr>
          <a:xfrm>
            <a:off x="390525" y="247650"/>
            <a:ext cx="25549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>
                    <a:alpha val="80000"/>
                  </a:srgbClr>
                </a:solidFill>
                <a:latin typeface="Noto Sans SC"/>
                <a:ea typeface="Noto Sans SC"/>
              </a:rPr>
              <a:t>PART 01 — 研究定位与方法框架</a:t>
            </a:r>
            <a:endParaRPr lang="zh-CN" sz="1200" b="1" dirty="0">
              <a:solidFill>
                <a:srgbClr val="2563EB">
                  <a:alpha val="8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31" name="T231"/>
          <p:cNvSpPr txBox="1"/>
          <p:nvPr/>
        </p:nvSpPr>
        <p:spPr>
          <a:xfrm>
            <a:off x="3097857" y="152400"/>
            <a:ext cx="549994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212529"/>
                </a:solidFill>
                <a:latin typeface="Noto Sans SC"/>
                <a:ea typeface="Noto Sans SC"/>
              </a:rPr>
              <a:t>方法框架——KAN教师模型与后验符号提取两阶段路线</a:t>
            </a:r>
            <a:endParaRPr lang="zh-CN" sz="18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32" name="T232"/>
          <p:cNvSpPr txBox="1"/>
          <p:nvPr/>
        </p:nvSpPr>
        <p:spPr>
          <a:xfrm>
            <a:off x="390525" y="6524625"/>
            <a:ext cx="14573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研究定位与方法框架</a:t>
            </a:r>
            <a:endParaRPr lang="zh-CN" sz="1200" dirty="0">
              <a:solidFill>
                <a:srgbClr val="6B7280">
                  <a:alpha val="5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33" name="T233"/>
          <p:cNvSpPr txBox="1"/>
          <p:nvPr/>
        </p:nvSpPr>
        <p:spPr>
          <a:xfrm>
            <a:off x="11419730" y="6524625"/>
            <a:ext cx="381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>
                    <a:alpha val="50000"/>
                  </a:srgbClr>
                </a:solidFill>
                <a:latin typeface="Noto Sans SC"/>
                <a:ea typeface="Noto Sans SC"/>
              </a:rPr>
              <a:t>4 / 12</a:t>
            </a:r>
            <a:endParaRPr lang="zh-CN" sz="1200" dirty="0">
              <a:solidFill>
                <a:srgbClr val="6B7280">
                  <a:alpha val="5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34" name="T234"/>
          <p:cNvSpPr txBox="1"/>
          <p:nvPr/>
        </p:nvSpPr>
        <p:spPr>
          <a:xfrm>
            <a:off x="8502550" y="4086225"/>
            <a:ext cx="3394174" cy="2571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0" b="1" dirty="0">
                <a:solidFill>
                  <a:srgbClr val="2563EB">
                    <a:alpha val="2000"/>
                  </a:srgbClr>
                </a:solidFill>
                <a:latin typeface="Noto Sans SC"/>
                <a:ea typeface="Noto Sans SC"/>
              </a:rPr>
              <a:t>KAN</a:t>
            </a:r>
            <a:endParaRPr lang="zh-CN" sz="13500" b="1" dirty="0">
              <a:solidFill>
                <a:srgbClr val="2563EB">
                  <a:alpha val="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35" name="R235"/>
          <p:cNvSpPr/>
          <p:nvPr/>
        </p:nvSpPr>
        <p:spPr>
          <a:xfrm>
            <a:off x="323850" y="771525"/>
            <a:ext cx="76200" cy="3099435"/>
          </a:xfrm>
          <a:prstGeom prst="roundRect">
            <a:avLst>
              <a:gd name="adj" fmla="val 49998"/>
            </a:avLst>
          </a:prstGeom>
          <a:solidFill>
            <a:srgbClr val="2563EB">
              <a:alpha val="70000"/>
            </a:srgbClr>
          </a:solidFill>
        </p:spPr>
      </p:sp>
      <p:sp>
        <p:nvSpPr>
          <p:cNvPr id="236" name="R236"/>
          <p:cNvSpPr/>
          <p:nvPr/>
        </p:nvSpPr>
        <p:spPr>
          <a:xfrm>
            <a:off x="504825" y="771525"/>
            <a:ext cx="11296650" cy="5657850"/>
          </a:xfrm>
          <a:prstGeom prst="roundRect">
            <a:avLst>
              <a:gd name="adj" fmla="val 1683"/>
            </a:avLst>
          </a:prstGeom>
          <a:gradFill>
            <a:gsLst>
              <a:gs pos="0">
                <a:srgbClr val="E8F0FF">
                  <a:alpha val="88000"/>
                </a:srgbClr>
              </a:gs>
              <a:gs pos="100000">
                <a:srgbClr val="EEF5FB">
                  <a:alpha val="96000"/>
                </a:srgbClr>
              </a:gs>
            </a:gsLst>
            <a:lin ang="0" scaled="0"/>
          </a:gra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237" name="R237"/>
          <p:cNvSpPr/>
          <p:nvPr/>
        </p:nvSpPr>
        <p:spPr>
          <a:xfrm>
            <a:off x="647700" y="895350"/>
            <a:ext cx="11010900" cy="2975520"/>
          </a:xfrm>
          <a:prstGeom prst="roundRect">
            <a:avLst>
              <a:gd name="adj" fmla="val 1920"/>
            </a:avLst>
          </a:prstGeom>
          <a:gradFill>
            <a:gsLst>
              <a:gs pos="0">
                <a:srgbClr val="DCE9FF">
                  <a:alpha val="98000"/>
                </a:srgbClr>
              </a:gs>
              <a:gs pos="100000">
                <a:srgbClr val="ECF4FF">
                  <a:alpha val="98000"/>
                </a:srgbClr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238" name="T238"/>
          <p:cNvSpPr txBox="1"/>
          <p:nvPr/>
        </p:nvSpPr>
        <p:spPr>
          <a:xfrm>
            <a:off x="885825" y="1095375"/>
            <a:ext cx="1967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>
                    <a:alpha val="90000"/>
                  </a:srgbClr>
                </a:solidFill>
                <a:latin typeface="Noto Sans SC"/>
                <a:ea typeface="Noto Sans SC"/>
              </a:rPr>
              <a:t>TECHNICAL ROADMAP</a:t>
            </a:r>
            <a:endParaRPr lang="zh-CN" sz="1200" b="1" dirty="0">
              <a:solidFill>
                <a:srgbClr val="2563EB">
                  <a:alpha val="9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239" name="T239"/>
          <p:cNvSpPr txBox="1"/>
          <p:nvPr/>
        </p:nvSpPr>
        <p:spPr>
          <a:xfrm>
            <a:off x="885825" y="1371600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两阶段技术路线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40" name="R240"/>
          <p:cNvSpPr/>
          <p:nvPr/>
        </p:nvSpPr>
        <p:spPr>
          <a:xfrm>
            <a:off x="1680120" y="17563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41" name="T241"/>
          <p:cNvSpPr txBox="1"/>
          <p:nvPr/>
        </p:nvSpPr>
        <p:spPr>
          <a:xfrm>
            <a:off x="1786086" y="1794420"/>
            <a:ext cx="9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1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242" name="R242"/>
          <p:cNvSpPr/>
          <p:nvPr/>
        </p:nvSpPr>
        <p:spPr>
          <a:xfrm>
            <a:off x="1246286" y="2156370"/>
            <a:ext cx="1172616" cy="883890"/>
          </a:xfrm>
          <a:prstGeom prst="roundRect">
            <a:avLst>
              <a:gd name="adj" fmla="val 6465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243" name="T243"/>
          <p:cNvSpPr txBox="1"/>
          <p:nvPr/>
        </p:nvSpPr>
        <p:spPr>
          <a:xfrm>
            <a:off x="1527720" y="223257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数据准备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44" name="T244"/>
          <p:cNvSpPr txBox="1"/>
          <p:nvPr/>
        </p:nvSpPr>
        <p:spPr>
          <a:xfrm>
            <a:off x="1322486" y="2487810"/>
            <a:ext cx="10202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26维PERFORM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45" name="T245"/>
          <p:cNvSpPr txBox="1"/>
          <p:nvPr/>
        </p:nvSpPr>
        <p:spPr>
          <a:xfrm>
            <a:off x="1451520" y="271641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特征集构建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46" name="P246"/>
          <p:cNvSpPr/>
          <p:nvPr/>
        </p:nvSpPr>
        <p:spPr>
          <a:xfrm>
            <a:off x="2779366" y="1908724"/>
            <a:ext cx="190500" cy="95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25400">
            <a:solidFill>
              <a:srgbClr val="2563EB"/>
            </a:solidFill>
          </a:ln>
        </p:spPr>
      </p:sp>
      <p:sp>
        <p:nvSpPr>
          <p:cNvPr id="247" name="PG247"/>
          <p:cNvSpPr/>
          <p:nvPr/>
        </p:nvSpPr>
        <p:spPr>
          <a:xfrm>
            <a:off x="2950816" y="1861099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</p:spPr>
      </p:sp>
      <p:sp>
        <p:nvSpPr>
          <p:cNvPr id="248" name="R248"/>
          <p:cNvSpPr/>
          <p:nvPr/>
        </p:nvSpPr>
        <p:spPr>
          <a:xfrm>
            <a:off x="3840509" y="17563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49" name="T249"/>
          <p:cNvSpPr txBox="1"/>
          <p:nvPr/>
        </p:nvSpPr>
        <p:spPr>
          <a:xfrm>
            <a:off x="3946475" y="1794420"/>
            <a:ext cx="9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2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250" name="R250"/>
          <p:cNvSpPr/>
          <p:nvPr/>
        </p:nvSpPr>
        <p:spPr>
          <a:xfrm>
            <a:off x="3459509" y="2156370"/>
            <a:ext cx="1066800" cy="883890"/>
          </a:xfrm>
          <a:prstGeom prst="roundRect">
            <a:avLst>
              <a:gd name="adj" fmla="val 6465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251" name="T251"/>
          <p:cNvSpPr txBox="1"/>
          <p:nvPr/>
        </p:nvSpPr>
        <p:spPr>
          <a:xfrm>
            <a:off x="3683496" y="2232570"/>
            <a:ext cx="6186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KAN训练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52" name="T252"/>
          <p:cNvSpPr txBox="1"/>
          <p:nvPr/>
        </p:nvSpPr>
        <p:spPr>
          <a:xfrm>
            <a:off x="3535709" y="248781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预热→稀疏化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53" name="T253"/>
          <p:cNvSpPr txBox="1"/>
          <p:nvPr/>
        </p:nvSpPr>
        <p:spPr>
          <a:xfrm>
            <a:off x="3535709" y="271641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→精调三阶段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54" name="P254"/>
          <p:cNvSpPr/>
          <p:nvPr/>
        </p:nvSpPr>
        <p:spPr>
          <a:xfrm>
            <a:off x="4939750" y="1908724"/>
            <a:ext cx="190500" cy="95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25400">
            <a:solidFill>
              <a:srgbClr val="2563EB"/>
            </a:solidFill>
          </a:ln>
        </p:spPr>
      </p:sp>
      <p:sp>
        <p:nvSpPr>
          <p:cNvPr id="255" name="PG255"/>
          <p:cNvSpPr/>
          <p:nvPr/>
        </p:nvSpPr>
        <p:spPr>
          <a:xfrm>
            <a:off x="5111200" y="1861099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</p:spPr>
      </p:sp>
      <p:sp>
        <p:nvSpPr>
          <p:cNvPr id="256" name="R256"/>
          <p:cNvSpPr/>
          <p:nvPr/>
        </p:nvSpPr>
        <p:spPr>
          <a:xfrm>
            <a:off x="6000750" y="17563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57" name="T257"/>
          <p:cNvSpPr txBox="1"/>
          <p:nvPr/>
        </p:nvSpPr>
        <p:spPr>
          <a:xfrm>
            <a:off x="6106715" y="1794420"/>
            <a:ext cx="9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258" name="R258"/>
          <p:cNvSpPr/>
          <p:nvPr/>
        </p:nvSpPr>
        <p:spPr>
          <a:xfrm>
            <a:off x="5619750" y="2156370"/>
            <a:ext cx="1066800" cy="883890"/>
          </a:xfrm>
          <a:prstGeom prst="roundRect">
            <a:avLst>
              <a:gd name="adj" fmla="val 6465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259" name="T259"/>
          <p:cNvSpPr txBox="1"/>
          <p:nvPr/>
        </p:nvSpPr>
        <p:spPr>
          <a:xfrm>
            <a:off x="5848350" y="223257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结构剪枝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60" name="T260"/>
          <p:cNvSpPr txBox="1"/>
          <p:nvPr/>
        </p:nvSpPr>
        <p:spPr>
          <a:xfrm>
            <a:off x="5695950" y="248781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阈值网格搜索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61" name="T261"/>
          <p:cNvSpPr txBox="1"/>
          <p:nvPr/>
        </p:nvSpPr>
        <p:spPr>
          <a:xfrm>
            <a:off x="5848350" y="271641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去冗余边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62" name="P262"/>
          <p:cNvSpPr/>
          <p:nvPr/>
        </p:nvSpPr>
        <p:spPr>
          <a:xfrm>
            <a:off x="7099992" y="1908724"/>
            <a:ext cx="190500" cy="95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25400">
            <a:solidFill>
              <a:srgbClr val="2563EB"/>
            </a:solidFill>
          </a:ln>
        </p:spPr>
      </p:sp>
      <p:sp>
        <p:nvSpPr>
          <p:cNvPr id="263" name="PG263"/>
          <p:cNvSpPr/>
          <p:nvPr/>
        </p:nvSpPr>
        <p:spPr>
          <a:xfrm>
            <a:off x="7271442" y="1861099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</p:spPr>
      </p:sp>
      <p:sp>
        <p:nvSpPr>
          <p:cNvPr id="264" name="R264"/>
          <p:cNvSpPr/>
          <p:nvPr/>
        </p:nvSpPr>
        <p:spPr>
          <a:xfrm>
            <a:off x="8160990" y="17563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65" name="T265"/>
          <p:cNvSpPr txBox="1"/>
          <p:nvPr/>
        </p:nvSpPr>
        <p:spPr>
          <a:xfrm>
            <a:off x="8266955" y="1794420"/>
            <a:ext cx="9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266" name="R266"/>
          <p:cNvSpPr/>
          <p:nvPr/>
        </p:nvSpPr>
        <p:spPr>
          <a:xfrm>
            <a:off x="7779990" y="2156370"/>
            <a:ext cx="1066800" cy="883890"/>
          </a:xfrm>
          <a:prstGeom prst="roundRect">
            <a:avLst>
              <a:gd name="adj" fmla="val 6465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267" name="T267"/>
          <p:cNvSpPr txBox="1"/>
          <p:nvPr/>
        </p:nvSpPr>
        <p:spPr>
          <a:xfrm>
            <a:off x="8008590" y="223257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符号提取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68" name="T268"/>
          <p:cNvSpPr txBox="1"/>
          <p:nvPr/>
        </p:nvSpPr>
        <p:spPr>
          <a:xfrm>
            <a:off x="7932390" y="248781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候选函数库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69" name="T269"/>
          <p:cNvSpPr txBox="1"/>
          <p:nvPr/>
        </p:nvSpPr>
        <p:spPr>
          <a:xfrm>
            <a:off x="7856190" y="271641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逐边拟合化简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70" name="P270"/>
          <p:cNvSpPr/>
          <p:nvPr/>
        </p:nvSpPr>
        <p:spPr>
          <a:xfrm>
            <a:off x="9260233" y="1908724"/>
            <a:ext cx="190500" cy="95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</a:path>
            </a:pathLst>
          </a:custGeom>
          <a:noFill/>
          <a:ln w="25400">
            <a:solidFill>
              <a:srgbClr val="2563EB"/>
            </a:solidFill>
          </a:ln>
        </p:spPr>
      </p:sp>
      <p:sp>
        <p:nvSpPr>
          <p:cNvPr id="271" name="PG271"/>
          <p:cNvSpPr/>
          <p:nvPr/>
        </p:nvSpPr>
        <p:spPr>
          <a:xfrm>
            <a:off x="9431683" y="1861099"/>
            <a:ext cx="95250" cy="9525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5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2563EB">
              <a:alpha val="40000"/>
            </a:srgbClr>
          </a:solidFill>
        </p:spPr>
      </p:sp>
      <p:sp>
        <p:nvSpPr>
          <p:cNvPr id="272" name="R272"/>
          <p:cNvSpPr/>
          <p:nvPr/>
        </p:nvSpPr>
        <p:spPr>
          <a:xfrm>
            <a:off x="10321230" y="1756320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273" name="T273"/>
          <p:cNvSpPr txBox="1"/>
          <p:nvPr/>
        </p:nvSpPr>
        <p:spPr>
          <a:xfrm>
            <a:off x="10427196" y="1794420"/>
            <a:ext cx="9286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5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274" name="R274"/>
          <p:cNvSpPr/>
          <p:nvPr/>
        </p:nvSpPr>
        <p:spPr>
          <a:xfrm>
            <a:off x="9897963" y="2156370"/>
            <a:ext cx="1151483" cy="883890"/>
          </a:xfrm>
          <a:prstGeom prst="roundRect">
            <a:avLst>
              <a:gd name="adj" fmla="val 6465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275" name="T275"/>
          <p:cNvSpPr txBox="1"/>
          <p:nvPr/>
        </p:nvSpPr>
        <p:spPr>
          <a:xfrm>
            <a:off x="10168830" y="2232570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统一评估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76" name="T276"/>
          <p:cNvSpPr txBox="1"/>
          <p:nvPr/>
        </p:nvSpPr>
        <p:spPr>
          <a:xfrm>
            <a:off x="9974163" y="2487810"/>
            <a:ext cx="9990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精度+可解释性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77" name="T277"/>
          <p:cNvSpPr txBox="1"/>
          <p:nvPr/>
        </p:nvSpPr>
        <p:spPr>
          <a:xfrm>
            <a:off x="10092630" y="271641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双维度对比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78" name="R278"/>
          <p:cNvSpPr/>
          <p:nvPr/>
        </p:nvSpPr>
        <p:spPr>
          <a:xfrm>
            <a:off x="647700" y="4023270"/>
            <a:ext cx="5429250" cy="2282279"/>
          </a:xfrm>
          <a:prstGeom prst="roundRect">
            <a:avLst>
              <a:gd name="adj" fmla="val 2504"/>
            </a:avLst>
          </a:prstGeom>
          <a:gradFill>
            <a:gsLst>
              <a:gs pos="0">
                <a:srgbClr val="DFF5EC">
                  <a:alpha val="98000"/>
                </a:srgbClr>
              </a:gs>
              <a:gs pos="100000">
                <a:srgbClr val="F0FAF5">
                  <a:alpha val="98000"/>
                </a:srgbClr>
              </a:gs>
            </a:gsLst>
            <a:lin ang="2700000" scaled="0"/>
          </a:gradFill>
        </p:spPr>
      </p:sp>
      <p:sp>
        <p:nvSpPr>
          <p:cNvPr id="279" name="L279"/>
          <p:cNvSpPr/>
          <p:nvPr/>
        </p:nvSpPr>
        <p:spPr>
          <a:xfrm>
            <a:off x="647700" y="4023270"/>
            <a:ext cx="542925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80" name="L280"/>
          <p:cNvSpPr/>
          <p:nvPr/>
        </p:nvSpPr>
        <p:spPr>
          <a:xfrm>
            <a:off x="647700" y="6305550"/>
            <a:ext cx="542925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81" name="L281"/>
          <p:cNvSpPr/>
          <p:nvPr/>
        </p:nvSpPr>
        <p:spPr>
          <a:xfrm>
            <a:off x="6076950" y="4023270"/>
            <a:ext cx="9525" cy="2282279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282" name="L282"/>
          <p:cNvSpPr/>
          <p:nvPr/>
        </p:nvSpPr>
        <p:spPr>
          <a:xfrm>
            <a:off x="647700" y="4023270"/>
            <a:ext cx="9525" cy="2282279"/>
          </a:xfrm>
          <a:prstGeom prst="line">
            <a:avLst/>
          </a:prstGeom>
          <a:noFill/>
          <a:ln w="38100">
            <a:solidFill>
              <a:srgbClr val="059669"/>
            </a:solidFill>
          </a:ln>
        </p:spPr>
      </p:sp>
      <p:sp>
        <p:nvSpPr>
          <p:cNvPr id="283" name="T283"/>
          <p:cNvSpPr txBox="1"/>
          <p:nvPr/>
        </p:nvSpPr>
        <p:spPr>
          <a:xfrm>
            <a:off x="866775" y="4166145"/>
            <a:ext cx="9234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KAN架构参数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284" name="T284"/>
          <p:cNvSpPr txBox="1"/>
          <p:nvPr/>
        </p:nvSpPr>
        <p:spPr>
          <a:xfrm>
            <a:off x="866775" y="4478535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架构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85" name="T285"/>
          <p:cNvSpPr txBox="1"/>
          <p:nvPr/>
        </p:nvSpPr>
        <p:spPr>
          <a:xfrm>
            <a:off x="1228725" y="4478535"/>
            <a:ext cx="6732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[26, k, 1]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86" name="T286"/>
          <p:cNvSpPr txBox="1"/>
          <p:nvPr/>
        </p:nvSpPr>
        <p:spPr>
          <a:xfrm>
            <a:off x="3448050" y="447853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网格数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87" name="T287"/>
          <p:cNvSpPr txBox="1"/>
          <p:nvPr/>
        </p:nvSpPr>
        <p:spPr>
          <a:xfrm>
            <a:off x="3962400" y="4478535"/>
            <a:ext cx="2973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G=5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88" name="T288"/>
          <p:cNvSpPr txBox="1"/>
          <p:nvPr/>
        </p:nvSpPr>
        <p:spPr>
          <a:xfrm>
            <a:off x="866775" y="4764285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预热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89" name="T289"/>
          <p:cNvSpPr txBox="1"/>
          <p:nvPr/>
        </p:nvSpPr>
        <p:spPr>
          <a:xfrm>
            <a:off x="1228725" y="4764285"/>
            <a:ext cx="2784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200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90" name="T290"/>
          <p:cNvSpPr txBox="1"/>
          <p:nvPr/>
        </p:nvSpPr>
        <p:spPr>
          <a:xfrm>
            <a:off x="1516707" y="476428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步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1" name="T291"/>
          <p:cNvSpPr txBox="1"/>
          <p:nvPr/>
        </p:nvSpPr>
        <p:spPr>
          <a:xfrm>
            <a:off x="3448050" y="476428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样条阶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2" name="T292"/>
          <p:cNvSpPr txBox="1"/>
          <p:nvPr/>
        </p:nvSpPr>
        <p:spPr>
          <a:xfrm>
            <a:off x="3962400" y="4764285"/>
            <a:ext cx="28232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k=3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93" name="T293"/>
          <p:cNvSpPr txBox="1"/>
          <p:nvPr/>
        </p:nvSpPr>
        <p:spPr>
          <a:xfrm>
            <a:off x="866775" y="5050035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稀疏化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4" name="T294"/>
          <p:cNvSpPr txBox="1"/>
          <p:nvPr/>
        </p:nvSpPr>
        <p:spPr>
          <a:xfrm>
            <a:off x="1381125" y="5050035"/>
            <a:ext cx="2784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800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95" name="T295"/>
          <p:cNvSpPr txBox="1"/>
          <p:nvPr/>
        </p:nvSpPr>
        <p:spPr>
          <a:xfrm>
            <a:off x="1669107" y="505003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步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6" name="T296"/>
          <p:cNvSpPr txBox="1"/>
          <p:nvPr/>
        </p:nvSpPr>
        <p:spPr>
          <a:xfrm>
            <a:off x="3448050" y="5050035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精调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7" name="T297"/>
          <p:cNvSpPr txBox="1"/>
          <p:nvPr/>
        </p:nvSpPr>
        <p:spPr>
          <a:xfrm>
            <a:off x="3810000" y="5050035"/>
            <a:ext cx="2784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563EB"/>
                </a:solidFill>
                <a:latin typeface="Noto Sans SC"/>
                <a:ea typeface="Noto Sans SC"/>
              </a:rPr>
              <a:t>200</a:t>
            </a:r>
            <a:endParaRPr lang="zh-CN" sz="12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298" name="T298"/>
          <p:cNvSpPr txBox="1"/>
          <p:nvPr/>
        </p:nvSpPr>
        <p:spPr>
          <a:xfrm>
            <a:off x="4097982" y="5050035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步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99" name="R299"/>
          <p:cNvSpPr/>
          <p:nvPr/>
        </p:nvSpPr>
        <p:spPr>
          <a:xfrm>
            <a:off x="866775" y="5440560"/>
            <a:ext cx="38100" cy="381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300" name="T300"/>
          <p:cNvSpPr txBox="1"/>
          <p:nvPr/>
        </p:nvSpPr>
        <p:spPr>
          <a:xfrm>
            <a:off x="981075" y="5373885"/>
            <a:ext cx="29372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单隐藏层B样条KAN，L1+熵正则化稀疏训练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01" name="R301"/>
          <p:cNvSpPr/>
          <p:nvPr/>
        </p:nvSpPr>
        <p:spPr>
          <a:xfrm>
            <a:off x="866775" y="5684341"/>
            <a:ext cx="38100" cy="381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302" name="T302"/>
          <p:cNvSpPr txBox="1"/>
          <p:nvPr/>
        </p:nvSpPr>
        <p:spPr>
          <a:xfrm>
            <a:off x="981075" y="5617666"/>
            <a:ext cx="2432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标签始终来自真实目标，非KAN输出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03" name="R303"/>
          <p:cNvSpPr/>
          <p:nvPr/>
        </p:nvSpPr>
        <p:spPr>
          <a:xfrm>
            <a:off x="6229350" y="4023270"/>
            <a:ext cx="5429250" cy="2282279"/>
          </a:xfrm>
          <a:prstGeom prst="roundRect">
            <a:avLst>
              <a:gd name="adj" fmla="val 2504"/>
            </a:avLst>
          </a:prstGeom>
          <a:gradFill>
            <a:gsLst>
              <a:gs pos="0">
                <a:srgbClr val="FFEFD6">
                  <a:alpha val="92000"/>
                </a:srgbClr>
              </a:gs>
              <a:gs pos="100000">
                <a:srgbClr val="FAF6ED">
                  <a:alpha val="98000"/>
                </a:srgbClr>
              </a:gs>
            </a:gsLst>
            <a:lin ang="2700000" scaled="0"/>
          </a:gradFill>
          <a:ln w="12700">
            <a:solidFill>
              <a:srgbClr val="DEE2E6"/>
            </a:solidFill>
          </a:ln>
        </p:spPr>
      </p:sp>
      <p:sp>
        <p:nvSpPr>
          <p:cNvPr id="304" name="T304"/>
          <p:cNvSpPr txBox="1"/>
          <p:nvPr/>
        </p:nvSpPr>
        <p:spPr>
          <a:xfrm>
            <a:off x="6429375" y="4166145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核心设计原则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05" name="R305"/>
          <p:cNvSpPr/>
          <p:nvPr/>
        </p:nvSpPr>
        <p:spPr>
          <a:xfrm>
            <a:off x="6429375" y="4488060"/>
            <a:ext cx="209550" cy="209550"/>
          </a:xfrm>
          <a:prstGeom prst="roundRect">
            <a:avLst>
              <a:gd name="adj" fmla="val 18181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06" name="R306"/>
          <p:cNvSpPr/>
          <p:nvPr/>
        </p:nvSpPr>
        <p:spPr>
          <a:xfrm>
            <a:off x="6496050" y="4554735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07" name="T307"/>
          <p:cNvSpPr txBox="1"/>
          <p:nvPr/>
        </p:nvSpPr>
        <p:spPr>
          <a:xfrm>
            <a:off x="6734175" y="4478535"/>
            <a:ext cx="107587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不修改KAN算法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08" name="T308"/>
          <p:cNvSpPr txBox="1"/>
          <p:nvPr/>
        </p:nvSpPr>
        <p:spPr>
          <a:xfrm>
            <a:off x="7810053" y="4478535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，仅通过控制输入特征组成和任务结构实施干预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09" name="R309"/>
          <p:cNvSpPr/>
          <p:nvPr/>
        </p:nvSpPr>
        <p:spPr>
          <a:xfrm>
            <a:off x="6429375" y="4808041"/>
            <a:ext cx="209550" cy="209550"/>
          </a:xfrm>
          <a:prstGeom prst="roundRect">
            <a:avLst>
              <a:gd name="adj" fmla="val 18181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10" name="R310"/>
          <p:cNvSpPr/>
          <p:nvPr/>
        </p:nvSpPr>
        <p:spPr>
          <a:xfrm>
            <a:off x="6496050" y="4874716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11" name="T311"/>
          <p:cNvSpPr txBox="1"/>
          <p:nvPr/>
        </p:nvSpPr>
        <p:spPr>
          <a:xfrm>
            <a:off x="6734175" y="4798516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非传统蒸馏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12" name="T312"/>
          <p:cNvSpPr txBox="1"/>
          <p:nvPr/>
        </p:nvSpPr>
        <p:spPr>
          <a:xfrm>
            <a:off x="7496175" y="4798516"/>
            <a:ext cx="396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：标签来自真实目标而非教师输出，重在提炼已学到的关键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13" name="T313"/>
          <p:cNvSpPr txBox="1"/>
          <p:nvPr/>
        </p:nvSpPr>
        <p:spPr>
          <a:xfrm>
            <a:off x="6734175" y="5042296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关系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14" name="R314"/>
          <p:cNvSpPr/>
          <p:nvPr/>
        </p:nvSpPr>
        <p:spPr>
          <a:xfrm>
            <a:off x="6429375" y="5371802"/>
            <a:ext cx="209550" cy="209550"/>
          </a:xfrm>
          <a:prstGeom prst="roundRect">
            <a:avLst>
              <a:gd name="adj" fmla="val 18181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15" name="R315"/>
          <p:cNvSpPr/>
          <p:nvPr/>
        </p:nvSpPr>
        <p:spPr>
          <a:xfrm>
            <a:off x="6496050" y="5438477"/>
            <a:ext cx="76200" cy="76200"/>
          </a:xfrm>
          <a:prstGeom prst="roundRect">
            <a:avLst>
              <a:gd name="adj" fmla="val 25000"/>
            </a:avLst>
          </a:prstGeom>
          <a:solidFill>
            <a:srgbClr val="2563EB">
              <a:alpha val="10000"/>
            </a:srgbClr>
          </a:solidFill>
        </p:spPr>
      </p:sp>
      <p:sp>
        <p:nvSpPr>
          <p:cNvPr id="316" name="T316"/>
          <p:cNvSpPr txBox="1"/>
          <p:nvPr/>
        </p:nvSpPr>
        <p:spPr>
          <a:xfrm>
            <a:off x="6734175" y="5362277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结构化分解消解竞争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17" name="T317"/>
          <p:cNvSpPr txBox="1"/>
          <p:nvPr/>
        </p:nvSpPr>
        <p:spPr>
          <a:xfrm>
            <a:off x="8105775" y="5362277"/>
            <a:ext cx="3352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：将净负荷拆分为子任务，使物理变量不再被自回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18" name="T318"/>
          <p:cNvSpPr txBox="1"/>
          <p:nvPr/>
        </p:nvSpPr>
        <p:spPr>
          <a:xfrm>
            <a:off x="6734175" y="5606057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归项压制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19" name="R319"/>
          <p:cNvSpPr/>
          <p:nvPr/>
        </p:nvSpPr>
        <p:spPr>
          <a:xfrm>
            <a:off x="2571750" y="1520279"/>
            <a:ext cx="7048500" cy="3817441"/>
          </a:xfrm>
          <a:prstGeom prst="roundRect">
            <a:avLst>
              <a:gd name="adj" fmla="val 2495"/>
            </a:avLst>
          </a:prstGeom>
          <a:gradFill>
            <a:gsLst>
              <a:gs pos="0">
                <a:srgbClr val="E8F0FF">
                  <a:alpha val="94000"/>
                </a:srgbClr>
              </a:gs>
              <a:gs pos="50000">
                <a:srgbClr val="F2F7FF">
                  <a:alpha val="96000"/>
                </a:srgbClr>
              </a:gs>
              <a:gs pos="100000">
                <a:srgbClr val="EAF4F0">
                  <a:alpha val="92000"/>
                </a:srgbClr>
              </a:gs>
            </a:gsLst>
            <a:lin ang="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320" name="T320"/>
          <p:cNvSpPr txBox="1"/>
          <p:nvPr/>
        </p:nvSpPr>
        <p:spPr>
          <a:xfrm>
            <a:off x="5713214" y="1882229"/>
            <a:ext cx="76542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563EB">
                    <a:alpha val="85000"/>
                  </a:srgbClr>
                </a:solidFill>
                <a:latin typeface="Noto Sans SC"/>
                <a:ea typeface="Noto Sans SC"/>
              </a:rPr>
              <a:t>PART 2</a:t>
            </a:r>
            <a:endParaRPr lang="zh-CN" sz="1500" dirty="0">
              <a:solidFill>
                <a:srgbClr val="2563EB">
                  <a:alpha val="85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321" name="T321"/>
          <p:cNvSpPr txBox="1"/>
          <p:nvPr/>
        </p:nvSpPr>
        <p:spPr>
          <a:xfrm>
            <a:off x="4511724" y="2301329"/>
            <a:ext cx="3168401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50" b="1" dirty="0">
                <a:solidFill>
                  <a:srgbClr val="212529"/>
                </a:solidFill>
                <a:latin typeface="Noto Sans SC"/>
                <a:ea typeface="Noto Sans SC"/>
              </a:rPr>
              <a:t>六步实验探索历程</a:t>
            </a:r>
            <a:endParaRPr lang="zh-CN" sz="31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22" name="T322"/>
          <p:cNvSpPr txBox="1"/>
          <p:nvPr/>
        </p:nvSpPr>
        <p:spPr>
          <a:xfrm>
            <a:off x="4524375" y="3030884"/>
            <a:ext cx="3143250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dirty="0">
                <a:solidFill>
                  <a:srgbClr val="6B7280"/>
                </a:solidFill>
                <a:latin typeface="Noto Sans SC"/>
                <a:ea typeface="Noto Sans SC"/>
              </a:rPr>
              <a:t>过程与数据结果并重的递进式探索</a:t>
            </a:r>
            <a:endParaRPr lang="zh-CN" sz="16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23" name="R323"/>
          <p:cNvSpPr/>
          <p:nvPr/>
        </p:nvSpPr>
        <p:spPr>
          <a:xfrm>
            <a:off x="2933700" y="38232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24" name="R324"/>
          <p:cNvSpPr/>
          <p:nvPr/>
        </p:nvSpPr>
        <p:spPr>
          <a:xfrm>
            <a:off x="3048000" y="39184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25" name="T325"/>
          <p:cNvSpPr txBox="1"/>
          <p:nvPr/>
        </p:nvSpPr>
        <p:spPr>
          <a:xfrm>
            <a:off x="3159174" y="3899445"/>
            <a:ext cx="8230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1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26" name="T326"/>
          <p:cNvSpPr txBox="1"/>
          <p:nvPr/>
        </p:nvSpPr>
        <p:spPr>
          <a:xfrm>
            <a:off x="3448050" y="39184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精度优化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27" name="R327"/>
          <p:cNvSpPr/>
          <p:nvPr/>
        </p:nvSpPr>
        <p:spPr>
          <a:xfrm>
            <a:off x="5143500" y="38232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28" name="R328"/>
          <p:cNvSpPr/>
          <p:nvPr/>
        </p:nvSpPr>
        <p:spPr>
          <a:xfrm>
            <a:off x="5257800" y="39184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29" name="T329"/>
          <p:cNvSpPr txBox="1"/>
          <p:nvPr/>
        </p:nvSpPr>
        <p:spPr>
          <a:xfrm>
            <a:off x="5350222" y="3899445"/>
            <a:ext cx="11995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2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30" name="T330"/>
          <p:cNvSpPr txBox="1"/>
          <p:nvPr/>
        </p:nvSpPr>
        <p:spPr>
          <a:xfrm>
            <a:off x="5657850" y="39184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公式提取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31" name="R331"/>
          <p:cNvSpPr/>
          <p:nvPr/>
        </p:nvSpPr>
        <p:spPr>
          <a:xfrm>
            <a:off x="7353300" y="38232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32" name="R332"/>
          <p:cNvSpPr/>
          <p:nvPr/>
        </p:nvSpPr>
        <p:spPr>
          <a:xfrm>
            <a:off x="7467600" y="39184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33" name="T333"/>
          <p:cNvSpPr txBox="1"/>
          <p:nvPr/>
        </p:nvSpPr>
        <p:spPr>
          <a:xfrm>
            <a:off x="7558385" y="3899445"/>
            <a:ext cx="12308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3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34" name="T334"/>
          <p:cNvSpPr txBox="1"/>
          <p:nvPr/>
        </p:nvSpPr>
        <p:spPr>
          <a:xfrm>
            <a:off x="7867650" y="39184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排查原因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35" name="R335"/>
          <p:cNvSpPr/>
          <p:nvPr/>
        </p:nvSpPr>
        <p:spPr>
          <a:xfrm>
            <a:off x="2933700" y="45090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36" name="R336"/>
          <p:cNvSpPr/>
          <p:nvPr/>
        </p:nvSpPr>
        <p:spPr>
          <a:xfrm>
            <a:off x="3048000" y="46042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37" name="T337"/>
          <p:cNvSpPr txBox="1"/>
          <p:nvPr/>
        </p:nvSpPr>
        <p:spPr>
          <a:xfrm>
            <a:off x="3135957" y="4585245"/>
            <a:ext cx="12888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4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38" name="T338"/>
          <p:cNvSpPr txBox="1"/>
          <p:nvPr/>
        </p:nvSpPr>
        <p:spPr>
          <a:xfrm>
            <a:off x="3448050" y="46042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隔离实验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39" name="R339"/>
          <p:cNvSpPr/>
          <p:nvPr/>
        </p:nvSpPr>
        <p:spPr>
          <a:xfrm>
            <a:off x="5143500" y="45090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40" name="R340"/>
          <p:cNvSpPr/>
          <p:nvPr/>
        </p:nvSpPr>
        <p:spPr>
          <a:xfrm>
            <a:off x="5257800" y="46042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41" name="T341"/>
          <p:cNvSpPr txBox="1"/>
          <p:nvPr/>
        </p:nvSpPr>
        <p:spPr>
          <a:xfrm>
            <a:off x="5350817" y="4585245"/>
            <a:ext cx="11861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5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42" name="T342"/>
          <p:cNvSpPr txBox="1"/>
          <p:nvPr/>
        </p:nvSpPr>
        <p:spPr>
          <a:xfrm>
            <a:off x="5657850" y="46042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深挖风力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43" name="R343"/>
          <p:cNvSpPr/>
          <p:nvPr/>
        </p:nvSpPr>
        <p:spPr>
          <a:xfrm>
            <a:off x="7353300" y="4509045"/>
            <a:ext cx="1905000" cy="495300"/>
          </a:xfrm>
          <a:prstGeom prst="roundRect">
            <a:avLst>
              <a:gd name="adj" fmla="val 11538"/>
            </a:avLst>
          </a:prstGeom>
          <a:solidFill>
            <a:srgbClr val="FFFFFF">
              <a:alpha val="57999"/>
            </a:srgbClr>
          </a:solidFill>
        </p:spPr>
      </p:sp>
      <p:sp>
        <p:nvSpPr>
          <p:cNvPr id="344" name="R344"/>
          <p:cNvSpPr/>
          <p:nvPr/>
        </p:nvSpPr>
        <p:spPr>
          <a:xfrm>
            <a:off x="7467600" y="4604295"/>
            <a:ext cx="304800" cy="304800"/>
          </a:xfrm>
          <a:prstGeom prst="roundRect">
            <a:avLst>
              <a:gd name="adj" fmla="val 18750"/>
            </a:avLst>
          </a:prstGeom>
          <a:solidFill>
            <a:srgbClr val="2563EB"/>
          </a:solidFill>
        </p:spPr>
      </p:sp>
      <p:sp>
        <p:nvSpPr>
          <p:cNvPr id="345" name="T345"/>
          <p:cNvSpPr txBox="1"/>
          <p:nvPr/>
        </p:nvSpPr>
        <p:spPr>
          <a:xfrm>
            <a:off x="7558087" y="4585245"/>
            <a:ext cx="12382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FFFFFF"/>
                </a:solidFill>
                <a:latin typeface="Inter"/>
                <a:ea typeface="Inter"/>
              </a:rPr>
              <a:t>6</a:t>
            </a:r>
            <a:endParaRPr lang="zh-CN" sz="1500" b="1" dirty="0">
              <a:solidFill>
                <a:srgbClr val="FFFFFF"/>
              </a:solidFill>
              <a:latin typeface="Inter"/>
              <a:ea typeface="Inter"/>
            </a:endParaRPr>
          </a:p>
        </p:txBody>
      </p:sp>
      <p:sp>
        <p:nvSpPr>
          <p:cNvPr id="346" name="T346"/>
          <p:cNvSpPr txBox="1"/>
          <p:nvPr/>
        </p:nvSpPr>
        <p:spPr>
          <a:xfrm>
            <a:off x="7867650" y="4604295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验证假设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47" name="T347"/>
          <p:cNvSpPr txBox="1"/>
          <p:nvPr/>
        </p:nvSpPr>
        <p:spPr>
          <a:xfrm>
            <a:off x="533400" y="180975"/>
            <a:ext cx="2276475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563EB"/>
                </a:solidFill>
                <a:latin typeface="Noto Sans SC"/>
                <a:ea typeface="Noto Sans SC"/>
              </a:rPr>
              <a:t>PART 2 · 六步实验探索</a:t>
            </a:r>
            <a:endParaRPr lang="zh-CN" sz="15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348" name="T348"/>
          <p:cNvSpPr txBox="1"/>
          <p:nvPr/>
        </p:nvSpPr>
        <p:spPr>
          <a:xfrm>
            <a:off x="533400" y="466725"/>
            <a:ext cx="2133600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 dirty="0">
                <a:solidFill>
                  <a:srgbClr val="212529"/>
                </a:solidFill>
                <a:latin typeface="Noto Sans SC"/>
                <a:ea typeface="Noto Sans SC"/>
              </a:rPr>
              <a:t>六步实验探索历程</a:t>
            </a:r>
            <a:endParaRPr lang="zh-CN" sz="21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49" name="T349"/>
          <p:cNvSpPr txBox="1"/>
          <p:nvPr/>
        </p:nvSpPr>
        <p:spPr>
          <a:xfrm>
            <a:off x="533400" y="6457950"/>
            <a:ext cx="285035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5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50" name="T350"/>
          <p:cNvSpPr txBox="1"/>
          <p:nvPr/>
        </p:nvSpPr>
        <p:spPr>
          <a:xfrm>
            <a:off x="11152435" y="6410325"/>
            <a:ext cx="5061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/>
                </a:solidFill>
                <a:latin typeface="Inter"/>
                <a:ea typeface="Inter"/>
              </a:rPr>
              <a:t>5 / 12</a:t>
            </a:r>
            <a:endParaRPr lang="zh-CN" sz="1500" dirty="0">
              <a:solidFill>
                <a:srgbClr val="6B7280"/>
              </a:solidFill>
              <a:latin typeface="Inter"/>
              <a:ea typeface="Inter"/>
            </a:endParaRPr>
          </a:p>
        </p:txBody>
      </p:sp>
      <p:sp>
        <p:nvSpPr>
          <p:cNvPr id="351" name="R351"/>
          <p:cNvSpPr/>
          <p:nvPr/>
        </p:nvSpPr>
        <p:spPr>
          <a:xfrm>
            <a:off x="762000" y="2095500"/>
            <a:ext cx="28575" cy="2667000"/>
          </a:xfrm>
          <a:prstGeom prst="roundRect">
            <a:avLst>
              <a:gd name="adj" fmla="val 49998"/>
            </a:avLst>
          </a:prstGeom>
          <a:solidFill>
            <a:srgbClr val="2563EB">
              <a:alpha val="55000"/>
            </a:srgbClr>
          </a:solid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352" name="T352"/>
          <p:cNvSpPr txBox="1"/>
          <p:nvPr/>
        </p:nvSpPr>
        <p:spPr>
          <a:xfrm>
            <a:off x="466725" y="200025"/>
            <a:ext cx="18212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563EB"/>
                </a:solidFill>
                <a:latin typeface="Noto Sans SC"/>
                <a:ea typeface="Noto Sans SC"/>
              </a:rPr>
              <a:t>PART 2 · 六步实验探索</a:t>
            </a:r>
            <a:endParaRPr lang="zh-CN" sz="12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353" name="T353"/>
          <p:cNvSpPr txBox="1"/>
          <p:nvPr/>
        </p:nvSpPr>
        <p:spPr>
          <a:xfrm>
            <a:off x="466725" y="438150"/>
            <a:ext cx="3258442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212529"/>
                </a:solidFill>
                <a:latin typeface="Noto Sans SC"/>
                <a:ea typeface="Noto Sans SC"/>
              </a:rPr>
              <a:t>步骤1-2：精度优异但公式全面坍缩</a:t>
            </a:r>
            <a:endParaRPr lang="zh-CN" sz="16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54" name="T354"/>
          <p:cNvSpPr txBox="1"/>
          <p:nvPr/>
        </p:nvSpPr>
        <p:spPr>
          <a:xfrm>
            <a:off x="466725" y="6505575"/>
            <a:ext cx="34153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 — 中期进展汇报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55" name="T355"/>
          <p:cNvSpPr txBox="1"/>
          <p:nvPr/>
        </p:nvSpPr>
        <p:spPr>
          <a:xfrm>
            <a:off x="11343530" y="6505575"/>
            <a:ext cx="381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6 / 12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56" name="R356"/>
          <p:cNvSpPr/>
          <p:nvPr/>
        </p:nvSpPr>
        <p:spPr>
          <a:xfrm>
            <a:off x="352425" y="771525"/>
            <a:ext cx="28575" cy="9525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358" name="R358"/>
          <p:cNvSpPr/>
          <p:nvPr/>
        </p:nvSpPr>
        <p:spPr>
          <a:xfrm>
            <a:off x="533400" y="800100"/>
            <a:ext cx="11125200" cy="762000"/>
          </a:xfrm>
          <a:prstGeom prst="roundRect">
            <a:avLst>
              <a:gd name="adj" fmla="val 7500"/>
            </a:avLst>
          </a:prstGeom>
          <a:gradFill>
            <a:gsLst>
              <a:gs pos="0">
                <a:srgbClr val="2563EB">
                  <a:alpha val="6000"/>
                </a:srgbClr>
              </a:gs>
              <a:gs pos="100000">
                <a:srgbClr val="2563EB">
                  <a:alpha val="2000"/>
                </a:srgbClr>
              </a:gs>
            </a:gsLst>
            <a:lin ang="2700000" scaled="0"/>
          </a:gradFill>
        </p:spPr>
      </p:sp>
      <p:sp>
        <p:nvSpPr>
          <p:cNvPr id="359" name="L359"/>
          <p:cNvSpPr/>
          <p:nvPr/>
        </p:nvSpPr>
        <p:spPr>
          <a:xfrm>
            <a:off x="533400" y="800100"/>
            <a:ext cx="9525" cy="76200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360" name="R360"/>
          <p:cNvSpPr/>
          <p:nvPr/>
        </p:nvSpPr>
        <p:spPr>
          <a:xfrm>
            <a:off x="790575" y="1038225"/>
            <a:ext cx="836711" cy="285750"/>
          </a:xfrm>
          <a:prstGeom prst="roundRect">
            <a:avLst>
              <a:gd name="adj" fmla="val 10000"/>
            </a:avLst>
          </a:prstGeom>
          <a:solidFill>
            <a:srgbClr val="2563EB"/>
          </a:solidFill>
        </p:spPr>
      </p:sp>
      <p:sp>
        <p:nvSpPr>
          <p:cNvPr id="361" name="T361"/>
          <p:cNvSpPr txBox="1"/>
          <p:nvPr/>
        </p:nvSpPr>
        <p:spPr>
          <a:xfrm>
            <a:off x="885825" y="1066800"/>
            <a:ext cx="646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核心发现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62" name="T362"/>
          <p:cNvSpPr txBox="1"/>
          <p:nvPr/>
        </p:nvSpPr>
        <p:spPr>
          <a:xfrm>
            <a:off x="1779686" y="1033462"/>
            <a:ext cx="396656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KAN能预测，但不能解释——不是本身</a:t>
            </a: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不行，是</a:t>
            </a:r>
            <a:endParaRPr lang="en-US" alt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63" name="T363"/>
          <p:cNvSpPr txBox="1"/>
          <p:nvPr/>
        </p:nvSpPr>
        <p:spPr>
          <a:xfrm>
            <a:off x="5848488" y="1009967"/>
            <a:ext cx="56584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DC2626"/>
                </a:solidFill>
                <a:latin typeface="Noto Sans SC"/>
                <a:ea typeface="Noto Sans SC"/>
              </a:rPr>
              <a:t>抄</a:t>
            </a:r>
            <a:r>
              <a:rPr lang="zh-CN" sz="1500" b="1" dirty="0">
                <a:solidFill>
                  <a:srgbClr val="DC2626"/>
                </a:solidFill>
                <a:latin typeface="Noto Sans SC"/>
                <a:ea typeface="Noto Sans SC"/>
              </a:rPr>
              <a:t>了近路</a:t>
            </a:r>
            <a:endParaRPr lang="zh-CN" sz="15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364" name="R364"/>
          <p:cNvSpPr/>
          <p:nvPr/>
        </p:nvSpPr>
        <p:spPr>
          <a:xfrm>
            <a:off x="533400" y="1714500"/>
            <a:ext cx="4328070" cy="4648200"/>
          </a:xfrm>
          <a:prstGeom prst="roundRect">
            <a:avLst>
              <a:gd name="adj" fmla="val 1320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365" name="R365"/>
          <p:cNvSpPr/>
          <p:nvPr/>
        </p:nvSpPr>
        <p:spPr>
          <a:xfrm>
            <a:off x="733425" y="1914525"/>
            <a:ext cx="570011" cy="266700"/>
          </a:xfrm>
          <a:prstGeom prst="roundRect">
            <a:avLst>
              <a:gd name="adj" fmla="val 10714"/>
            </a:avLst>
          </a:prstGeom>
          <a:solidFill>
            <a:srgbClr val="2563EB"/>
          </a:solidFill>
        </p:spPr>
      </p:sp>
      <p:sp>
        <p:nvSpPr>
          <p:cNvPr id="366" name="T366"/>
          <p:cNvSpPr txBox="1"/>
          <p:nvPr/>
        </p:nvSpPr>
        <p:spPr>
          <a:xfrm>
            <a:off x="809625" y="1933575"/>
            <a:ext cx="4176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步骤1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67" name="T367"/>
          <p:cNvSpPr txBox="1"/>
          <p:nvPr/>
        </p:nvSpPr>
        <p:spPr>
          <a:xfrm>
            <a:off x="1379636" y="1929705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精度对比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68" name="T368"/>
          <p:cNvSpPr txBox="1"/>
          <p:nvPr/>
        </p:nvSpPr>
        <p:spPr>
          <a:xfrm>
            <a:off x="733425" y="2295525"/>
            <a:ext cx="3194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KAN教师模型在净负荷预测中显著优于所有基线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69" name="R369"/>
          <p:cNvSpPr/>
          <p:nvPr/>
        </p:nvSpPr>
        <p:spPr>
          <a:xfrm>
            <a:off x="733425" y="2638425"/>
            <a:ext cx="1818640" cy="323850"/>
          </a:xfrm>
          <a:prstGeom prst="roundRect">
            <a:avLst>
              <a:gd name="adj" fmla="val 11764"/>
            </a:avLst>
          </a:prstGeom>
          <a:solidFill>
            <a:srgbClr val="2563EB"/>
          </a:solidFill>
        </p:spPr>
      </p:sp>
      <p:sp>
        <p:nvSpPr>
          <p:cNvPr id="370" name="T370"/>
          <p:cNvSpPr txBox="1"/>
          <p:nvPr/>
        </p:nvSpPr>
        <p:spPr>
          <a:xfrm>
            <a:off x="809625" y="2686050"/>
            <a:ext cx="3140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FFFFFF"/>
                </a:solidFill>
                <a:latin typeface="Noto Sans SC"/>
                <a:ea typeface="Noto Sans SC"/>
              </a:rPr>
              <a:t>方法</a:t>
            </a:r>
            <a:endParaRPr lang="zh-CN" sz="1200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71" name="R371"/>
          <p:cNvSpPr/>
          <p:nvPr/>
        </p:nvSpPr>
        <p:spPr>
          <a:xfrm>
            <a:off x="2498526" y="2638425"/>
            <a:ext cx="932408" cy="3238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2" name="T372"/>
          <p:cNvSpPr txBox="1"/>
          <p:nvPr/>
        </p:nvSpPr>
        <p:spPr>
          <a:xfrm>
            <a:off x="2574726" y="2686050"/>
            <a:ext cx="3451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FFFFFF"/>
                </a:solidFill>
                <a:latin typeface="Noto Sans SC"/>
                <a:ea typeface="Noto Sans SC"/>
              </a:rPr>
              <a:t>Skill</a:t>
            </a:r>
            <a:endParaRPr lang="zh-CN" sz="1200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73" name="R373"/>
          <p:cNvSpPr/>
          <p:nvPr/>
        </p:nvSpPr>
        <p:spPr>
          <a:xfrm>
            <a:off x="3430934" y="2638425"/>
            <a:ext cx="1230510" cy="3238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74" name="T374"/>
          <p:cNvSpPr txBox="1"/>
          <p:nvPr/>
        </p:nvSpPr>
        <p:spPr>
          <a:xfrm>
            <a:off x="3507134" y="2686050"/>
            <a:ext cx="43502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FFFFFF"/>
                </a:solidFill>
                <a:latin typeface="Noto Sans SC"/>
                <a:ea typeface="Noto Sans SC"/>
              </a:rPr>
              <a:t>RMSE</a:t>
            </a:r>
            <a:endParaRPr lang="zh-CN" sz="1200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375" name="R375"/>
          <p:cNvSpPr/>
          <p:nvPr/>
        </p:nvSpPr>
        <p:spPr>
          <a:xfrm>
            <a:off x="733425" y="2962275"/>
            <a:ext cx="3928020" cy="328612"/>
          </a:xfrm>
          <a:prstGeom prst="rect">
            <a:avLst/>
          </a:prstGeom>
          <a:solidFill>
            <a:srgbClr val="2563EB">
              <a:alpha val="5000"/>
            </a:srgbClr>
          </a:solidFill>
        </p:spPr>
      </p:sp>
      <p:sp>
        <p:nvSpPr>
          <p:cNvPr id="376" name="L376"/>
          <p:cNvSpPr/>
          <p:nvPr/>
        </p:nvSpPr>
        <p:spPr>
          <a:xfrm>
            <a:off x="733425" y="3290887"/>
            <a:ext cx="1765101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77" name="R377"/>
          <p:cNvSpPr/>
          <p:nvPr/>
        </p:nvSpPr>
        <p:spPr>
          <a:xfrm>
            <a:off x="809625" y="3110507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378" name="T378"/>
          <p:cNvSpPr txBox="1"/>
          <p:nvPr/>
        </p:nvSpPr>
        <p:spPr>
          <a:xfrm>
            <a:off x="942975" y="3009900"/>
            <a:ext cx="6145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KAN教师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79" name="L379"/>
          <p:cNvSpPr/>
          <p:nvPr/>
        </p:nvSpPr>
        <p:spPr>
          <a:xfrm>
            <a:off x="2498526" y="3290887"/>
            <a:ext cx="932408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80" name="T380"/>
          <p:cNvSpPr txBox="1"/>
          <p:nvPr/>
        </p:nvSpPr>
        <p:spPr>
          <a:xfrm>
            <a:off x="2574726" y="3009900"/>
            <a:ext cx="401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563EB"/>
                </a:solidFill>
                <a:latin typeface="Noto Sans SC"/>
                <a:ea typeface="Noto Sans SC"/>
              </a:rPr>
              <a:t>0.453</a:t>
            </a:r>
            <a:endParaRPr lang="zh-CN" sz="12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381" name="L381"/>
          <p:cNvSpPr/>
          <p:nvPr/>
        </p:nvSpPr>
        <p:spPr>
          <a:xfrm>
            <a:off x="3430934" y="3290887"/>
            <a:ext cx="123051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82" name="T382"/>
          <p:cNvSpPr txBox="1"/>
          <p:nvPr/>
        </p:nvSpPr>
        <p:spPr>
          <a:xfrm>
            <a:off x="3507134" y="3009900"/>
            <a:ext cx="57789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1413.51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83" name="L383"/>
          <p:cNvSpPr/>
          <p:nvPr/>
        </p:nvSpPr>
        <p:spPr>
          <a:xfrm>
            <a:off x="733425" y="3624262"/>
            <a:ext cx="1765101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84" name="R384"/>
          <p:cNvSpPr/>
          <p:nvPr/>
        </p:nvSpPr>
        <p:spPr>
          <a:xfrm>
            <a:off x="809625" y="3444775"/>
            <a:ext cx="76200" cy="76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385" name="T385"/>
          <p:cNvSpPr txBox="1"/>
          <p:nvPr/>
        </p:nvSpPr>
        <p:spPr>
          <a:xfrm>
            <a:off x="942975" y="3343275"/>
            <a:ext cx="60781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MLP基线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86" name="L386"/>
          <p:cNvSpPr/>
          <p:nvPr/>
        </p:nvSpPr>
        <p:spPr>
          <a:xfrm>
            <a:off x="2498526" y="3624262"/>
            <a:ext cx="932408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87" name="T387"/>
          <p:cNvSpPr txBox="1"/>
          <p:nvPr/>
        </p:nvSpPr>
        <p:spPr>
          <a:xfrm>
            <a:off x="2574726" y="334327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0.430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88" name="L388"/>
          <p:cNvSpPr/>
          <p:nvPr/>
        </p:nvSpPr>
        <p:spPr>
          <a:xfrm>
            <a:off x="3430934" y="3624262"/>
            <a:ext cx="123051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89" name="T389"/>
          <p:cNvSpPr txBox="1"/>
          <p:nvPr/>
        </p:nvSpPr>
        <p:spPr>
          <a:xfrm>
            <a:off x="3507134" y="3343275"/>
            <a:ext cx="550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1474.38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90" name="L390"/>
          <p:cNvSpPr/>
          <p:nvPr/>
        </p:nvSpPr>
        <p:spPr>
          <a:xfrm>
            <a:off x="733425" y="3957637"/>
            <a:ext cx="1765101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91" name="R391"/>
          <p:cNvSpPr/>
          <p:nvPr/>
        </p:nvSpPr>
        <p:spPr>
          <a:xfrm>
            <a:off x="809625" y="37781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392" name="T392"/>
          <p:cNvSpPr txBox="1"/>
          <p:nvPr/>
        </p:nvSpPr>
        <p:spPr>
          <a:xfrm>
            <a:off x="942975" y="3676650"/>
            <a:ext cx="3635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PySR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93" name="L393"/>
          <p:cNvSpPr/>
          <p:nvPr/>
        </p:nvSpPr>
        <p:spPr>
          <a:xfrm>
            <a:off x="2498526" y="3957637"/>
            <a:ext cx="932408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94" name="T394"/>
          <p:cNvSpPr txBox="1"/>
          <p:nvPr/>
        </p:nvSpPr>
        <p:spPr>
          <a:xfrm>
            <a:off x="2574726" y="367665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0.076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95" name="L395"/>
          <p:cNvSpPr/>
          <p:nvPr/>
        </p:nvSpPr>
        <p:spPr>
          <a:xfrm>
            <a:off x="3430934" y="3957637"/>
            <a:ext cx="123051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96" name="T396"/>
          <p:cNvSpPr txBox="1"/>
          <p:nvPr/>
        </p:nvSpPr>
        <p:spPr>
          <a:xfrm>
            <a:off x="3507134" y="3676650"/>
            <a:ext cx="550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2388.46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397" name="L397"/>
          <p:cNvSpPr/>
          <p:nvPr/>
        </p:nvSpPr>
        <p:spPr>
          <a:xfrm>
            <a:off x="733425" y="4291012"/>
            <a:ext cx="1765101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398" name="R398"/>
          <p:cNvSpPr/>
          <p:nvPr/>
        </p:nvSpPr>
        <p:spPr>
          <a:xfrm>
            <a:off x="809625" y="4111525"/>
            <a:ext cx="76200" cy="76200"/>
          </a:xfrm>
          <a:prstGeom prst="roundRect">
            <a:avLst>
              <a:gd name="adj" fmla="val 50000"/>
            </a:avLst>
          </a:prstGeom>
          <a:solidFill>
            <a:srgbClr val="DEE2E6"/>
          </a:solidFill>
        </p:spPr>
      </p:sp>
      <p:sp>
        <p:nvSpPr>
          <p:cNvPr id="399" name="T399"/>
          <p:cNvSpPr txBox="1"/>
          <p:nvPr/>
        </p:nvSpPr>
        <p:spPr>
          <a:xfrm>
            <a:off x="942975" y="40100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持久性基线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00" name="L400"/>
          <p:cNvSpPr/>
          <p:nvPr/>
        </p:nvSpPr>
        <p:spPr>
          <a:xfrm>
            <a:off x="2498526" y="4291012"/>
            <a:ext cx="932408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01" name="T401"/>
          <p:cNvSpPr txBox="1"/>
          <p:nvPr/>
        </p:nvSpPr>
        <p:spPr>
          <a:xfrm>
            <a:off x="2574726" y="4010025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0.000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02" name="L402"/>
          <p:cNvSpPr/>
          <p:nvPr/>
        </p:nvSpPr>
        <p:spPr>
          <a:xfrm>
            <a:off x="3430934" y="4291012"/>
            <a:ext cx="123051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03" name="T403"/>
          <p:cNvSpPr txBox="1"/>
          <p:nvPr/>
        </p:nvSpPr>
        <p:spPr>
          <a:xfrm>
            <a:off x="3507134" y="4010025"/>
            <a:ext cx="5502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2585.66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04" name="L404"/>
          <p:cNvSpPr/>
          <p:nvPr/>
        </p:nvSpPr>
        <p:spPr>
          <a:xfrm>
            <a:off x="733425" y="4762500"/>
            <a:ext cx="392802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05" name="T405"/>
          <p:cNvSpPr txBox="1"/>
          <p:nvPr/>
        </p:nvSpPr>
        <p:spPr>
          <a:xfrm>
            <a:off x="1285130" y="4467225"/>
            <a:ext cx="3055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KAN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06" name="R406"/>
          <p:cNvSpPr/>
          <p:nvPr/>
        </p:nvSpPr>
        <p:spPr>
          <a:xfrm>
            <a:off x="1666875" y="4476750"/>
            <a:ext cx="2251620" cy="209550"/>
          </a:xfrm>
          <a:prstGeom prst="roundRect">
            <a:avLst>
              <a:gd name="adj" fmla="val 13636"/>
            </a:avLst>
          </a:prstGeom>
          <a:solidFill>
            <a:srgbClr val="F1F3F5"/>
          </a:solidFill>
        </p:spPr>
      </p:sp>
      <p:sp>
        <p:nvSpPr>
          <p:cNvPr id="407" name="R407"/>
          <p:cNvSpPr/>
          <p:nvPr/>
        </p:nvSpPr>
        <p:spPr>
          <a:xfrm>
            <a:off x="1666875" y="4476750"/>
            <a:ext cx="2251620" cy="209550"/>
          </a:xfrm>
          <a:prstGeom prst="roundRect">
            <a:avLst>
              <a:gd name="adj" fmla="val 13636"/>
            </a:avLst>
          </a:prstGeom>
          <a:solidFill>
            <a:srgbClr val="2563EB"/>
          </a:solidFill>
        </p:spPr>
      </p:sp>
      <p:sp>
        <p:nvSpPr>
          <p:cNvPr id="408" name="T408"/>
          <p:cNvSpPr txBox="1"/>
          <p:nvPr/>
        </p:nvSpPr>
        <p:spPr>
          <a:xfrm>
            <a:off x="3994695" y="4467225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0.453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09" name="L409"/>
          <p:cNvSpPr/>
          <p:nvPr/>
        </p:nvSpPr>
        <p:spPr>
          <a:xfrm>
            <a:off x="733425" y="5114925"/>
            <a:ext cx="392802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10" name="T410"/>
          <p:cNvSpPr txBox="1"/>
          <p:nvPr/>
        </p:nvSpPr>
        <p:spPr>
          <a:xfrm>
            <a:off x="1280219" y="4819650"/>
            <a:ext cx="310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MLP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11" name="R411"/>
          <p:cNvSpPr/>
          <p:nvPr/>
        </p:nvSpPr>
        <p:spPr>
          <a:xfrm>
            <a:off x="1666875" y="4829175"/>
            <a:ext cx="2251620" cy="209550"/>
          </a:xfrm>
          <a:prstGeom prst="roundRect">
            <a:avLst>
              <a:gd name="adj" fmla="val 13636"/>
            </a:avLst>
          </a:prstGeom>
          <a:solidFill>
            <a:srgbClr val="F1F3F5"/>
          </a:solidFill>
        </p:spPr>
      </p:sp>
      <p:sp>
        <p:nvSpPr>
          <p:cNvPr id="412" name="R412"/>
          <p:cNvSpPr/>
          <p:nvPr/>
        </p:nvSpPr>
        <p:spPr>
          <a:xfrm>
            <a:off x="1666875" y="4829175"/>
            <a:ext cx="2136725" cy="209550"/>
          </a:xfrm>
          <a:prstGeom prst="roundRect">
            <a:avLst>
              <a:gd name="adj" fmla="val 13636"/>
            </a:avLst>
          </a:prstGeom>
          <a:solidFill>
            <a:srgbClr val="059669"/>
          </a:solidFill>
        </p:spPr>
      </p:sp>
      <p:sp>
        <p:nvSpPr>
          <p:cNvPr id="413" name="T413"/>
          <p:cNvSpPr txBox="1"/>
          <p:nvPr/>
        </p:nvSpPr>
        <p:spPr>
          <a:xfrm>
            <a:off x="3994695" y="4819650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0.430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14" name="L414"/>
          <p:cNvSpPr/>
          <p:nvPr/>
        </p:nvSpPr>
        <p:spPr>
          <a:xfrm>
            <a:off x="733425" y="5467350"/>
            <a:ext cx="392802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15" name="T415"/>
          <p:cNvSpPr txBox="1"/>
          <p:nvPr/>
        </p:nvSpPr>
        <p:spPr>
          <a:xfrm>
            <a:off x="1216372" y="5172075"/>
            <a:ext cx="3743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PySR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16" name="R416"/>
          <p:cNvSpPr/>
          <p:nvPr/>
        </p:nvSpPr>
        <p:spPr>
          <a:xfrm>
            <a:off x="1666875" y="5181600"/>
            <a:ext cx="2251620" cy="209550"/>
          </a:xfrm>
          <a:prstGeom prst="roundRect">
            <a:avLst>
              <a:gd name="adj" fmla="val 13636"/>
            </a:avLst>
          </a:prstGeom>
          <a:solidFill>
            <a:srgbClr val="F1F3F5"/>
          </a:solidFill>
        </p:spPr>
      </p:sp>
      <p:sp>
        <p:nvSpPr>
          <p:cNvPr id="417" name="R417"/>
          <p:cNvSpPr/>
          <p:nvPr/>
        </p:nvSpPr>
        <p:spPr>
          <a:xfrm>
            <a:off x="1666875" y="5181600"/>
            <a:ext cx="378172" cy="209550"/>
          </a:xfrm>
          <a:prstGeom prst="roundRect">
            <a:avLst>
              <a:gd name="adj" fmla="val 13636"/>
            </a:avLst>
          </a:prstGeom>
          <a:solidFill>
            <a:srgbClr val="D97706"/>
          </a:solidFill>
        </p:spPr>
      </p:sp>
      <p:sp>
        <p:nvSpPr>
          <p:cNvPr id="418" name="T418"/>
          <p:cNvSpPr txBox="1"/>
          <p:nvPr/>
        </p:nvSpPr>
        <p:spPr>
          <a:xfrm>
            <a:off x="3994695" y="5172075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0.076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19" name="T419"/>
          <p:cNvSpPr txBox="1"/>
          <p:nvPr/>
        </p:nvSpPr>
        <p:spPr>
          <a:xfrm>
            <a:off x="828675" y="55245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持久性基线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20" name="R420"/>
          <p:cNvSpPr/>
          <p:nvPr/>
        </p:nvSpPr>
        <p:spPr>
          <a:xfrm>
            <a:off x="1666875" y="5534025"/>
            <a:ext cx="2251620" cy="209550"/>
          </a:xfrm>
          <a:prstGeom prst="roundRect">
            <a:avLst>
              <a:gd name="adj" fmla="val 13636"/>
            </a:avLst>
          </a:prstGeom>
          <a:solidFill>
            <a:srgbClr val="F1F3F5"/>
          </a:solidFill>
        </p:spPr>
      </p:sp>
      <p:sp>
        <p:nvSpPr>
          <p:cNvPr id="421" name="R421"/>
          <p:cNvSpPr/>
          <p:nvPr/>
        </p:nvSpPr>
        <p:spPr>
          <a:xfrm>
            <a:off x="1666875" y="5534025"/>
            <a:ext cx="44946" cy="209550"/>
          </a:xfrm>
          <a:prstGeom prst="roundRect">
            <a:avLst>
              <a:gd name="adj" fmla="val 50000"/>
            </a:avLst>
          </a:prstGeom>
          <a:solidFill>
            <a:srgbClr val="DEE2E6"/>
          </a:solidFill>
        </p:spPr>
      </p:sp>
      <p:sp>
        <p:nvSpPr>
          <p:cNvPr id="422" name="T422"/>
          <p:cNvSpPr txBox="1"/>
          <p:nvPr/>
        </p:nvSpPr>
        <p:spPr>
          <a:xfrm>
            <a:off x="3994695" y="5524500"/>
            <a:ext cx="4089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0.000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23" name="L423"/>
          <p:cNvSpPr/>
          <p:nvPr/>
        </p:nvSpPr>
        <p:spPr>
          <a:xfrm>
            <a:off x="733425" y="5867400"/>
            <a:ext cx="392802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424" name="T424"/>
          <p:cNvSpPr txBox="1"/>
          <p:nvPr/>
        </p:nvSpPr>
        <p:spPr>
          <a:xfrm>
            <a:off x="733425" y="5934075"/>
            <a:ext cx="32484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059669"/>
                </a:solidFill>
                <a:latin typeface="Noto Sans SC"/>
                <a:ea typeface="Noto Sans SC"/>
              </a:rPr>
              <a:t>KAN vs MLP 排列检验 p=0.0005，差异高度显著</a:t>
            </a:r>
            <a:endParaRPr lang="zh-CN" sz="12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425" name="R425"/>
          <p:cNvSpPr/>
          <p:nvPr/>
        </p:nvSpPr>
        <p:spPr>
          <a:xfrm>
            <a:off x="5013870" y="1714500"/>
            <a:ext cx="3606849" cy="4648200"/>
          </a:xfrm>
          <a:prstGeom prst="roundRect">
            <a:avLst>
              <a:gd name="adj" fmla="val 1584"/>
            </a:avLst>
          </a:prstGeom>
          <a:solidFill>
            <a:srgbClr val="000000">
              <a:alpha val="0"/>
            </a:srgbClr>
          </a:solidFill>
          <a:ln w="12700">
            <a:solidFill>
              <a:srgbClr val="DEE2E6"/>
            </a:solidFill>
          </a:ln>
        </p:spPr>
      </p:sp>
      <p:sp>
        <p:nvSpPr>
          <p:cNvPr id="426" name="R426"/>
          <p:cNvSpPr/>
          <p:nvPr/>
        </p:nvSpPr>
        <p:spPr>
          <a:xfrm>
            <a:off x="5213895" y="1914525"/>
            <a:ext cx="570011" cy="266700"/>
          </a:xfrm>
          <a:prstGeom prst="roundRect">
            <a:avLst>
              <a:gd name="adj" fmla="val 10714"/>
            </a:avLst>
          </a:prstGeom>
          <a:solidFill>
            <a:srgbClr val="DC2626"/>
          </a:solidFill>
        </p:spPr>
      </p:sp>
      <p:sp>
        <p:nvSpPr>
          <p:cNvPr id="427" name="T427"/>
          <p:cNvSpPr txBox="1"/>
          <p:nvPr/>
        </p:nvSpPr>
        <p:spPr>
          <a:xfrm>
            <a:off x="5290095" y="1933575"/>
            <a:ext cx="4176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步骤2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428" name="T428"/>
          <p:cNvSpPr txBox="1"/>
          <p:nvPr/>
        </p:nvSpPr>
        <p:spPr>
          <a:xfrm>
            <a:off x="5860107" y="1929705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公式坍缩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29" name="T429"/>
          <p:cNvSpPr txBox="1"/>
          <p:nvPr/>
        </p:nvSpPr>
        <p:spPr>
          <a:xfrm>
            <a:off x="5213895" y="2295525"/>
            <a:ext cx="29971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3×3网格9种符号配置，物理变量全部被剪除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30" name="R430"/>
          <p:cNvSpPr/>
          <p:nvPr/>
        </p:nvSpPr>
        <p:spPr>
          <a:xfrm>
            <a:off x="5213895" y="2638425"/>
            <a:ext cx="3206799" cy="853380"/>
          </a:xfrm>
          <a:prstGeom prst="roundRect">
            <a:avLst>
              <a:gd name="adj" fmla="val 6696"/>
            </a:avLst>
          </a:prstGeom>
          <a:solidFill>
            <a:srgbClr val="DC2626">
              <a:alpha val="4000"/>
            </a:srgbClr>
          </a:solidFill>
          <a:ln w="12700">
            <a:solidFill>
              <a:srgbClr val="DC2626">
                <a:alpha val="12000"/>
              </a:srgbClr>
            </a:solidFill>
          </a:ln>
        </p:spPr>
      </p:sp>
      <p:sp>
        <p:nvSpPr>
          <p:cNvPr id="431" name="T431"/>
          <p:cNvSpPr txBox="1"/>
          <p:nvPr/>
        </p:nvSpPr>
        <p:spPr>
          <a:xfrm>
            <a:off x="6555730" y="2657475"/>
            <a:ext cx="522982" cy="514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00" b="1" dirty="0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  <a:endParaRPr lang="zh-CN" sz="27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432" name="T432"/>
          <p:cNvSpPr txBox="1"/>
          <p:nvPr/>
        </p:nvSpPr>
        <p:spPr>
          <a:xfrm>
            <a:off x="5694461" y="3158430"/>
            <a:ext cx="224551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VER(any_physical) — 全部坍缩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33" name="R433"/>
          <p:cNvSpPr/>
          <p:nvPr/>
        </p:nvSpPr>
        <p:spPr>
          <a:xfrm>
            <a:off x="5213895" y="3587055"/>
            <a:ext cx="1030783" cy="590550"/>
          </a:xfrm>
          <a:prstGeom prst="roundRect">
            <a:avLst>
              <a:gd name="adj" fmla="val 6451"/>
            </a:avLst>
          </a:prstGeom>
          <a:solidFill>
            <a:srgbClr val="F1F3F5"/>
          </a:solidFill>
        </p:spPr>
      </p:sp>
      <p:sp>
        <p:nvSpPr>
          <p:cNvPr id="434" name="T434"/>
          <p:cNvSpPr txBox="1"/>
          <p:nvPr/>
        </p:nvSpPr>
        <p:spPr>
          <a:xfrm>
            <a:off x="5609778" y="3644205"/>
            <a:ext cx="2388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  <a:endParaRPr lang="zh-CN" sz="12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435" name="T435"/>
          <p:cNvSpPr txBox="1"/>
          <p:nvPr/>
        </p:nvSpPr>
        <p:spPr>
          <a:xfrm>
            <a:off x="5353496" y="3891855"/>
            <a:ext cx="7515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VER(wind)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36" name="R436"/>
          <p:cNvSpPr/>
          <p:nvPr/>
        </p:nvSpPr>
        <p:spPr>
          <a:xfrm>
            <a:off x="6301829" y="3587055"/>
            <a:ext cx="1030783" cy="590550"/>
          </a:xfrm>
          <a:prstGeom prst="roundRect">
            <a:avLst>
              <a:gd name="adj" fmla="val 6451"/>
            </a:avLst>
          </a:prstGeom>
          <a:solidFill>
            <a:srgbClr val="F1F3F5"/>
          </a:solidFill>
        </p:spPr>
      </p:sp>
      <p:sp>
        <p:nvSpPr>
          <p:cNvPr id="437" name="T437"/>
          <p:cNvSpPr txBox="1"/>
          <p:nvPr/>
        </p:nvSpPr>
        <p:spPr>
          <a:xfrm>
            <a:off x="6697712" y="3644205"/>
            <a:ext cx="2388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  <a:endParaRPr lang="zh-CN" sz="12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438" name="T438"/>
          <p:cNvSpPr txBox="1"/>
          <p:nvPr/>
        </p:nvSpPr>
        <p:spPr>
          <a:xfrm>
            <a:off x="6488608" y="3891855"/>
            <a:ext cx="6572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VER(GHI)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39" name="R439"/>
          <p:cNvSpPr/>
          <p:nvPr/>
        </p:nvSpPr>
        <p:spPr>
          <a:xfrm>
            <a:off x="7389762" y="3587055"/>
            <a:ext cx="1030932" cy="590550"/>
          </a:xfrm>
          <a:prstGeom prst="roundRect">
            <a:avLst>
              <a:gd name="adj" fmla="val 6451"/>
            </a:avLst>
          </a:prstGeom>
          <a:solidFill>
            <a:srgbClr val="F1F3F5"/>
          </a:solidFill>
        </p:spPr>
      </p:sp>
      <p:sp>
        <p:nvSpPr>
          <p:cNvPr id="440" name="T440"/>
          <p:cNvSpPr txBox="1"/>
          <p:nvPr/>
        </p:nvSpPr>
        <p:spPr>
          <a:xfrm>
            <a:off x="7785794" y="3644205"/>
            <a:ext cx="2388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  <a:endParaRPr lang="zh-CN" sz="12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441" name="T441"/>
          <p:cNvSpPr txBox="1"/>
          <p:nvPr/>
        </p:nvSpPr>
        <p:spPr>
          <a:xfrm>
            <a:off x="7518499" y="3891855"/>
            <a:ext cx="7734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VER(temp)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42" name="T442"/>
          <p:cNvSpPr txBox="1"/>
          <p:nvPr/>
        </p:nvSpPr>
        <p:spPr>
          <a:xfrm>
            <a:off x="8963620" y="188595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97706"/>
                </a:solidFill>
                <a:latin typeface="Noto Sans SC"/>
                <a:ea typeface="Noto Sans SC"/>
              </a:rPr>
              <a:t>意味着什么</a:t>
            </a:r>
            <a:endParaRPr lang="zh-CN" sz="1200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443" name="L443"/>
          <p:cNvSpPr/>
          <p:nvPr/>
        </p:nvSpPr>
        <p:spPr>
          <a:xfrm>
            <a:off x="8963620" y="2813595"/>
            <a:ext cx="2504330" cy="9525"/>
          </a:xfrm>
          <a:prstGeom prst="line">
            <a:avLst/>
          </a:prstGeom>
          <a:noFill/>
          <a:ln w="12700">
            <a:solidFill>
              <a:srgbClr val="000000">
                <a:alpha val="4000"/>
              </a:srgbClr>
            </a:solidFill>
          </a:ln>
        </p:spPr>
      </p:sp>
      <p:sp>
        <p:nvSpPr>
          <p:cNvPr id="444" name="R444"/>
          <p:cNvSpPr/>
          <p:nvPr/>
        </p:nvSpPr>
        <p:spPr>
          <a:xfrm>
            <a:off x="8963620" y="2331690"/>
            <a:ext cx="47625" cy="47625"/>
          </a:xfrm>
          <a:prstGeom prst="roundRect">
            <a:avLst>
              <a:gd name="adj" fmla="val 49998"/>
            </a:avLst>
          </a:prstGeom>
          <a:solidFill>
            <a:srgbClr val="D97706"/>
          </a:solidFill>
        </p:spPr>
      </p:sp>
      <p:sp>
        <p:nvSpPr>
          <p:cNvPr id="445" name="T445"/>
          <p:cNvSpPr txBox="1"/>
          <p:nvPr/>
        </p:nvSpPr>
        <p:spPr>
          <a:xfrm>
            <a:off x="9096970" y="2274540"/>
            <a:ext cx="23584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提取的公式退化为"明天跟今天差不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46" name="T446"/>
          <p:cNvSpPr txBox="1"/>
          <p:nvPr/>
        </p:nvSpPr>
        <p:spPr>
          <a:xfrm>
            <a:off x="9096970" y="2510730"/>
            <a:ext cx="22487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多"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47" name="R447"/>
          <p:cNvSpPr/>
          <p:nvPr/>
        </p:nvSpPr>
        <p:spPr>
          <a:xfrm>
            <a:off x="8963620" y="2927895"/>
            <a:ext cx="47625" cy="47625"/>
          </a:xfrm>
          <a:prstGeom prst="roundRect">
            <a:avLst>
              <a:gd name="adj" fmla="val 49998"/>
            </a:avLst>
          </a:prstGeom>
          <a:solidFill>
            <a:srgbClr val="D97706"/>
          </a:solidFill>
        </p:spPr>
      </p:sp>
      <p:sp>
        <p:nvSpPr>
          <p:cNvPr id="448" name="T448"/>
          <p:cNvSpPr txBox="1"/>
          <p:nvPr/>
        </p:nvSpPr>
        <p:spPr>
          <a:xfrm>
            <a:off x="9096970" y="2870745"/>
            <a:ext cx="22531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所有物理量（风速/辐照/温度）在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49" name="T449"/>
          <p:cNvSpPr txBox="1"/>
          <p:nvPr/>
        </p:nvSpPr>
        <p:spPr>
          <a:xfrm>
            <a:off x="9096970" y="310693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稀疏化中被彻底淘汰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50" name="L450"/>
          <p:cNvSpPr/>
          <p:nvPr/>
        </p:nvSpPr>
        <p:spPr>
          <a:xfrm>
            <a:off x="8963620" y="3514576"/>
            <a:ext cx="250433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451" name="T451"/>
          <p:cNvSpPr txBox="1"/>
          <p:nvPr/>
        </p:nvSpPr>
        <p:spPr>
          <a:xfrm>
            <a:off x="8963620" y="3619351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精度与可解释性之间存在结构性冲突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52" name="T452"/>
          <p:cNvSpPr txBox="1"/>
          <p:nvPr/>
        </p:nvSpPr>
        <p:spPr>
          <a:xfrm>
            <a:off x="8963620" y="3847951"/>
            <a:ext cx="2438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——自回归滞后项在竞争中系统性压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53" name="T453"/>
          <p:cNvSpPr txBox="1"/>
          <p:nvPr/>
        </p:nvSpPr>
        <p:spPr>
          <a:xfrm>
            <a:off x="8963620" y="4076551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制了物理变量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454" name="T454"/>
          <p:cNvSpPr txBox="1"/>
          <p:nvPr/>
        </p:nvSpPr>
        <p:spPr>
          <a:xfrm>
            <a:off x="542925" y="161925"/>
            <a:ext cx="191363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2563EB"/>
                </a:solidFill>
                <a:latin typeface="Noto Sans SC"/>
                <a:ea typeface="Noto Sans SC"/>
              </a:rPr>
              <a:t>PART 2 · 六步实验探索</a:t>
            </a:r>
            <a:endParaRPr lang="zh-CN" sz="135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455" name="T455"/>
          <p:cNvSpPr txBox="1"/>
          <p:nvPr/>
        </p:nvSpPr>
        <p:spPr>
          <a:xfrm>
            <a:off x="542925" y="419100"/>
            <a:ext cx="441409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212529"/>
                </a:solidFill>
                <a:latin typeface="Noto Sans SC"/>
                <a:ea typeface="Noto Sans SC"/>
              </a:rPr>
              <a:t>步骤3-4：从调参排查到阻断实验的因果确认</a:t>
            </a:r>
            <a:endParaRPr lang="zh-CN" sz="18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56" name="T456"/>
          <p:cNvSpPr txBox="1"/>
          <p:nvPr/>
        </p:nvSpPr>
        <p:spPr>
          <a:xfrm>
            <a:off x="542925" y="6457950"/>
            <a:ext cx="2578149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57" name="T457"/>
          <p:cNvSpPr txBox="1"/>
          <p:nvPr/>
        </p:nvSpPr>
        <p:spPr>
          <a:xfrm>
            <a:off x="11210627" y="6453187"/>
            <a:ext cx="43844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7 / 12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58" name="R458"/>
          <p:cNvSpPr/>
          <p:nvPr/>
        </p:nvSpPr>
        <p:spPr>
          <a:xfrm>
            <a:off x="428625" y="752475"/>
            <a:ext cx="11334750" cy="5676900"/>
          </a:xfrm>
          <a:prstGeom prst="roundRect">
            <a:avLst>
              <a:gd name="adj" fmla="val 1677"/>
            </a:avLst>
          </a:prstGeom>
          <a:gradFill>
            <a:gsLst>
              <a:gs pos="0">
                <a:srgbClr val="E8F0FF">
                  <a:alpha val="88000"/>
                </a:srgbClr>
              </a:gs>
              <a:gs pos="100000">
                <a:srgbClr val="EEF5FB">
                  <a:alpha val="96000"/>
                </a:srgbClr>
              </a:gs>
            </a:gsLst>
            <a:lin ang="0" scaled="0"/>
          </a:gra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459" name="R459"/>
          <p:cNvSpPr/>
          <p:nvPr/>
        </p:nvSpPr>
        <p:spPr>
          <a:xfrm>
            <a:off x="571500" y="876300"/>
            <a:ext cx="11049000" cy="1253430"/>
          </a:xfrm>
          <a:prstGeom prst="roundRect">
            <a:avLst>
              <a:gd name="adj" fmla="val 4559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0"/>
          </a:gradFill>
        </p:spPr>
      </p:sp>
      <p:sp>
        <p:nvSpPr>
          <p:cNvPr id="460" name="R460"/>
          <p:cNvSpPr/>
          <p:nvPr/>
        </p:nvSpPr>
        <p:spPr>
          <a:xfrm>
            <a:off x="838200" y="1274415"/>
            <a:ext cx="38100" cy="457200"/>
          </a:xfrm>
          <a:prstGeom prst="roundRect">
            <a:avLst>
              <a:gd name="adj" fmla="val 50000"/>
            </a:avLst>
          </a:prstGeom>
          <a:solidFill>
            <a:srgbClr val="FFFFFF">
              <a:alpha val="40000"/>
            </a:srgbClr>
          </a:solidFill>
        </p:spPr>
      </p:sp>
      <p:sp>
        <p:nvSpPr>
          <p:cNvPr id="461" name="T461"/>
          <p:cNvSpPr txBox="1"/>
          <p:nvPr/>
        </p:nvSpPr>
        <p:spPr>
          <a:xfrm>
            <a:off x="1028700" y="1028700"/>
            <a:ext cx="727025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85000"/>
                  </a:srgbClr>
                </a:solidFill>
                <a:latin typeface="Noto Sans SC"/>
                <a:ea typeface="Noto Sans SC"/>
              </a:rPr>
              <a:t>因果确认</a:t>
            </a:r>
            <a:endParaRPr lang="zh-CN" sz="1350" dirty="0">
              <a:solidFill>
                <a:srgbClr val="FFFFFF">
                  <a:alpha val="85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462" name="T462"/>
          <p:cNvSpPr txBox="1"/>
          <p:nvPr/>
        </p:nvSpPr>
        <p:spPr>
          <a:xfrm>
            <a:off x="1028700" y="1328738"/>
            <a:ext cx="1266825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b="1" dirty="0">
                <a:solidFill>
                  <a:srgbClr val="FBBF24"/>
                </a:solidFill>
                <a:latin typeface="Noto Sans SC"/>
                <a:ea typeface="Noto Sans SC"/>
              </a:rPr>
              <a:t>自回归捷径竞争</a:t>
            </a:r>
            <a:endParaRPr lang="zh-CN" sz="1425" b="1" dirty="0">
              <a:solidFill>
                <a:srgbClr val="FBBF24"/>
              </a:solidFill>
              <a:latin typeface="Noto Sans SC"/>
              <a:ea typeface="Noto Sans SC"/>
            </a:endParaRPr>
          </a:p>
        </p:txBody>
      </p:sp>
      <p:sp>
        <p:nvSpPr>
          <p:cNvPr id="463" name="T463"/>
          <p:cNvSpPr txBox="1"/>
          <p:nvPr/>
        </p:nvSpPr>
        <p:spPr>
          <a:xfrm>
            <a:off x="2295525" y="1328738"/>
            <a:ext cx="3800475" cy="27146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25" dirty="0">
                <a:solidFill>
                  <a:srgbClr val="FFFFFF"/>
                </a:solidFill>
                <a:latin typeface="Noto Sans SC"/>
                <a:ea typeface="Noto Sans SC"/>
              </a:rPr>
              <a:t>——而非变量无关性——是物理量被剪除的主因</a:t>
            </a:r>
            <a:endParaRPr lang="zh-CN" sz="1425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464" name="T464"/>
          <p:cNvSpPr txBox="1"/>
          <p:nvPr/>
        </p:nvSpPr>
        <p:spPr>
          <a:xfrm>
            <a:off x="1028700" y="1652587"/>
            <a:ext cx="3771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FFFFFF">
                    <a:alpha val="82000"/>
                  </a:srgbClr>
                </a:solidFill>
                <a:latin typeface="Noto Sans SC"/>
                <a:ea typeface="Noto Sans SC"/>
              </a:rPr>
              <a:t>阻断滞后项后，物理变量大量涌现，因果链条闭合</a:t>
            </a:r>
            <a:endParaRPr lang="zh-CN" sz="1350" dirty="0">
              <a:solidFill>
                <a:srgbClr val="FFFFFF">
                  <a:alpha val="82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465" name="R465"/>
          <p:cNvSpPr/>
          <p:nvPr/>
        </p:nvSpPr>
        <p:spPr>
          <a:xfrm>
            <a:off x="571500" y="2282130"/>
            <a:ext cx="5448300" cy="4023419"/>
          </a:xfrm>
          <a:prstGeom prst="roundRect">
            <a:avLst>
              <a:gd name="adj" fmla="val 1420"/>
            </a:avLst>
          </a:prstGeom>
          <a:gradFill>
            <a:gsLst>
              <a:gs pos="0">
                <a:srgbClr val="FFECEC">
                  <a:alpha val="98000"/>
                </a:srgbClr>
              </a:gs>
              <a:gs pos="100000">
                <a:srgbClr val="FFF5F5">
                  <a:alpha val="98000"/>
                </a:srgbClr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466" name="R466"/>
          <p:cNvSpPr/>
          <p:nvPr/>
        </p:nvSpPr>
        <p:spPr>
          <a:xfrm>
            <a:off x="809625" y="250120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467" name="T467"/>
          <p:cNvSpPr txBox="1"/>
          <p:nvPr/>
        </p:nvSpPr>
        <p:spPr>
          <a:xfrm>
            <a:off x="895201" y="2477392"/>
            <a:ext cx="9539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FFFFFF"/>
                </a:solidFill>
                <a:latin typeface="Noto Sans SC"/>
                <a:ea typeface="Noto Sans SC"/>
              </a:rPr>
              <a:t>3</a:t>
            </a:r>
            <a:endParaRPr lang="zh-CN" sz="135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468" name="T468"/>
          <p:cNvSpPr txBox="1"/>
          <p:nvPr/>
        </p:nvSpPr>
        <p:spPr>
          <a:xfrm>
            <a:off x="1171575" y="2477392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调参排查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69" name="R469"/>
          <p:cNvSpPr/>
          <p:nvPr/>
        </p:nvSpPr>
        <p:spPr>
          <a:xfrm>
            <a:off x="809625" y="3015555"/>
            <a:ext cx="57150" cy="571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</p:spPr>
      </p:sp>
      <p:sp>
        <p:nvSpPr>
          <p:cNvPr id="470" name="T470"/>
          <p:cNvSpPr txBox="1"/>
          <p:nvPr/>
        </p:nvSpPr>
        <p:spPr>
          <a:xfrm>
            <a:off x="981075" y="2910780"/>
            <a:ext cx="3533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初判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71" name="T471"/>
          <p:cNvSpPr txBox="1"/>
          <p:nvPr/>
        </p:nvSpPr>
        <p:spPr>
          <a:xfrm>
            <a:off x="981075" y="3195488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212529"/>
                </a:solidFill>
                <a:latin typeface="Noto Sans SC"/>
                <a:ea typeface="Noto Sans SC"/>
              </a:rPr>
              <a:t>参数设置不当导致物理量被剪除</a:t>
            </a:r>
            <a:endParaRPr lang="zh-CN" sz="13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72" name="R472"/>
          <p:cNvSpPr/>
          <p:nvPr/>
        </p:nvSpPr>
        <p:spPr>
          <a:xfrm>
            <a:off x="809625" y="3699271"/>
            <a:ext cx="57150" cy="571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473" name="T473"/>
          <p:cNvSpPr txBox="1"/>
          <p:nvPr/>
        </p:nvSpPr>
        <p:spPr>
          <a:xfrm>
            <a:off x="981075" y="3594496"/>
            <a:ext cx="70648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多轮调参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74" name="T474"/>
          <p:cNvSpPr txBox="1"/>
          <p:nvPr/>
        </p:nvSpPr>
        <p:spPr>
          <a:xfrm>
            <a:off x="981075" y="3879205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212529"/>
                </a:solidFill>
                <a:latin typeface="Noto Sans SC"/>
                <a:ea typeface="Noto Sans SC"/>
              </a:rPr>
              <a:t>多轮调参后物理因素仍无法进入公式</a:t>
            </a:r>
            <a:endParaRPr lang="zh-CN" sz="13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75" name="R475"/>
          <p:cNvSpPr/>
          <p:nvPr/>
        </p:nvSpPr>
        <p:spPr>
          <a:xfrm>
            <a:off x="809625" y="4382988"/>
            <a:ext cx="57150" cy="571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476" name="T476"/>
          <p:cNvSpPr txBox="1"/>
          <p:nvPr/>
        </p:nvSpPr>
        <p:spPr>
          <a:xfrm>
            <a:off x="981075" y="4278213"/>
            <a:ext cx="35331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重判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77" name="T477"/>
          <p:cNvSpPr txBox="1"/>
          <p:nvPr/>
        </p:nvSpPr>
        <p:spPr>
          <a:xfrm>
            <a:off x="981075" y="4562921"/>
            <a:ext cx="27432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212529"/>
                </a:solidFill>
                <a:latin typeface="Noto Sans SC"/>
                <a:ea typeface="Noto Sans SC"/>
              </a:rPr>
              <a:t>自回归滞后项主导竞争，非参数问题</a:t>
            </a:r>
            <a:endParaRPr lang="zh-CN" sz="135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78" name="L478"/>
          <p:cNvSpPr/>
          <p:nvPr/>
        </p:nvSpPr>
        <p:spPr>
          <a:xfrm>
            <a:off x="809625" y="5686425"/>
            <a:ext cx="497205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479" name="T479"/>
          <p:cNvSpPr txBox="1"/>
          <p:nvPr/>
        </p:nvSpPr>
        <p:spPr>
          <a:xfrm>
            <a:off x="809625" y="5800725"/>
            <a:ext cx="29146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059669"/>
                </a:solidFill>
                <a:latin typeface="Noto Sans SC"/>
                <a:ea typeface="Noto Sans SC"/>
              </a:rPr>
              <a:t>认知转折：从参数调优转向结构性归因</a:t>
            </a:r>
            <a:endParaRPr lang="zh-CN" sz="135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480" name="R480"/>
          <p:cNvSpPr/>
          <p:nvPr/>
        </p:nvSpPr>
        <p:spPr>
          <a:xfrm>
            <a:off x="6172200" y="2282130"/>
            <a:ext cx="5448300" cy="4023419"/>
          </a:xfrm>
          <a:prstGeom prst="roundRect">
            <a:avLst>
              <a:gd name="adj" fmla="val 1420"/>
            </a:avLst>
          </a:prstGeom>
          <a:gradFill>
            <a:gsLst>
              <a:gs pos="0">
                <a:srgbClr val="E4F8F0">
                  <a:alpha val="98000"/>
                </a:srgbClr>
              </a:gs>
              <a:gs pos="100000">
                <a:srgbClr val="F1FBF6">
                  <a:alpha val="98000"/>
                </a:srgbClr>
              </a:gs>
            </a:gsLst>
            <a:lin ang="0" scaled="0"/>
          </a:gradFill>
          <a:ln w="12700">
            <a:solidFill>
              <a:srgbClr val="2563EB">
                <a:alpha val="15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481" name="R481"/>
          <p:cNvSpPr/>
          <p:nvPr/>
        </p:nvSpPr>
        <p:spPr>
          <a:xfrm>
            <a:off x="6410325" y="2501205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482" name="T482"/>
          <p:cNvSpPr txBox="1"/>
          <p:nvPr/>
        </p:nvSpPr>
        <p:spPr>
          <a:xfrm>
            <a:off x="6495901" y="2477392"/>
            <a:ext cx="9539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FFFFFF"/>
                </a:solidFill>
                <a:latin typeface="Noto Sans SC"/>
                <a:ea typeface="Noto Sans SC"/>
              </a:rPr>
              <a:t>4</a:t>
            </a:r>
            <a:endParaRPr lang="zh-CN" sz="135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483" name="T483"/>
          <p:cNvSpPr txBox="1"/>
          <p:nvPr/>
        </p:nvSpPr>
        <p:spPr>
          <a:xfrm>
            <a:off x="6772275" y="2477392"/>
            <a:ext cx="940147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S2 阻断实验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484" name="T484"/>
          <p:cNvSpPr txBox="1"/>
          <p:nvPr/>
        </p:nvSpPr>
        <p:spPr>
          <a:xfrm>
            <a:off x="6410325" y="2891730"/>
            <a:ext cx="489272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阻断自回归滞后项，观察物理变量能否翻身。两组实验 CI 均不含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85" name="T485"/>
          <p:cNvSpPr txBox="1"/>
          <p:nvPr/>
        </p:nvSpPr>
        <p:spPr>
          <a:xfrm>
            <a:off x="6410325" y="3148905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零，满足预注册成功判定标准。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86" name="T486"/>
          <p:cNvSpPr txBox="1"/>
          <p:nvPr/>
        </p:nvSpPr>
        <p:spPr>
          <a:xfrm>
            <a:off x="6866255" y="3548955"/>
            <a:ext cx="1432321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Case 3 · 聚焦风电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87" name="T487"/>
          <p:cNvSpPr txBox="1"/>
          <p:nvPr/>
        </p:nvSpPr>
        <p:spPr>
          <a:xfrm>
            <a:off x="6936432" y="4539555"/>
            <a:ext cx="9539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DC2626"/>
                </a:solidFill>
                <a:latin typeface="Noto Sans SC"/>
                <a:ea typeface="Noto Sans SC"/>
              </a:rPr>
              <a:t>0</a:t>
            </a:r>
            <a:endParaRPr lang="zh-CN" sz="135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488" name="R488"/>
          <p:cNvSpPr/>
          <p:nvPr/>
        </p:nvSpPr>
        <p:spPr>
          <a:xfrm>
            <a:off x="6755606" y="4844355"/>
            <a:ext cx="457200" cy="7620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489" name="T489"/>
          <p:cNvSpPr txBox="1"/>
          <p:nvPr/>
        </p:nvSpPr>
        <p:spPr>
          <a:xfrm>
            <a:off x="8041332" y="4044255"/>
            <a:ext cx="33367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059669"/>
                </a:solidFill>
                <a:latin typeface="Noto Sans SC"/>
                <a:ea typeface="Noto Sans SC"/>
              </a:rPr>
              <a:t>0.60</a:t>
            </a:r>
            <a:endParaRPr lang="zh-CN" sz="135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490" name="R490"/>
          <p:cNvSpPr/>
          <p:nvPr/>
        </p:nvSpPr>
        <p:spPr>
          <a:xfrm>
            <a:off x="7979568" y="4349055"/>
            <a:ext cx="457200" cy="571500"/>
          </a:xfrm>
          <a:prstGeom prst="roundRect">
            <a:avLst>
              <a:gd name="adj" fmla="val 8333"/>
            </a:avLst>
          </a:prstGeom>
          <a:solidFill>
            <a:srgbClr val="059669"/>
          </a:solidFill>
        </p:spPr>
      </p:sp>
      <p:sp>
        <p:nvSpPr>
          <p:cNvPr id="491" name="T491"/>
          <p:cNvSpPr txBox="1"/>
          <p:nvPr/>
        </p:nvSpPr>
        <p:spPr>
          <a:xfrm>
            <a:off x="6810375" y="4939605"/>
            <a:ext cx="34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阻断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2" name="T492"/>
          <p:cNvSpPr txBox="1"/>
          <p:nvPr/>
        </p:nvSpPr>
        <p:spPr>
          <a:xfrm>
            <a:off x="6896100" y="517773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前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3" name="T493"/>
          <p:cNvSpPr txBox="1"/>
          <p:nvPr/>
        </p:nvSpPr>
        <p:spPr>
          <a:xfrm>
            <a:off x="8041640" y="4939605"/>
            <a:ext cx="34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阻断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4" name="T494"/>
          <p:cNvSpPr txBox="1"/>
          <p:nvPr/>
        </p:nvSpPr>
        <p:spPr>
          <a:xfrm>
            <a:off x="8127365" y="517773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后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5" name="R495"/>
          <p:cNvSpPr/>
          <p:nvPr/>
        </p:nvSpPr>
        <p:spPr>
          <a:xfrm>
            <a:off x="6410325" y="5530155"/>
            <a:ext cx="1284982" cy="276225"/>
          </a:xfrm>
          <a:prstGeom prst="roundRect">
            <a:avLst>
              <a:gd name="adj" fmla="val 41379"/>
            </a:avLst>
          </a:prstGeom>
          <a:solidFill>
            <a:srgbClr val="059669">
              <a:alpha val="10000"/>
            </a:srgbClr>
          </a:solidFill>
        </p:spPr>
      </p:sp>
      <p:sp>
        <p:nvSpPr>
          <p:cNvPr id="496" name="T496"/>
          <p:cNvSpPr txBox="1"/>
          <p:nvPr/>
        </p:nvSpPr>
        <p:spPr>
          <a:xfrm>
            <a:off x="6505575" y="5511105"/>
            <a:ext cx="109448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059669"/>
                </a:solidFill>
                <a:latin typeface="Noto Sans SC"/>
                <a:ea typeface="Noto Sans SC"/>
              </a:rPr>
              <a:t>ΔVER = +0.60</a:t>
            </a:r>
            <a:endParaRPr lang="zh-CN" sz="135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497" name="T497"/>
          <p:cNvSpPr txBox="1"/>
          <p:nvPr/>
        </p:nvSpPr>
        <p:spPr>
          <a:xfrm>
            <a:off x="6410325" y="5825430"/>
            <a:ext cx="162758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95% CI = [0.20, 1.00]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8" name="T498"/>
          <p:cNvSpPr txBox="1"/>
          <p:nvPr/>
        </p:nvSpPr>
        <p:spPr>
          <a:xfrm>
            <a:off x="9356090" y="3499425"/>
            <a:ext cx="160719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Case 4 · 直接净负荷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99" name="T499"/>
          <p:cNvSpPr txBox="1"/>
          <p:nvPr/>
        </p:nvSpPr>
        <p:spPr>
          <a:xfrm>
            <a:off x="9536757" y="4539555"/>
            <a:ext cx="95398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DC2626"/>
                </a:solidFill>
                <a:latin typeface="Noto Sans SC"/>
                <a:ea typeface="Noto Sans SC"/>
              </a:rPr>
              <a:t>0</a:t>
            </a:r>
            <a:endParaRPr lang="zh-CN" sz="135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500" name="R500"/>
          <p:cNvSpPr/>
          <p:nvPr/>
        </p:nvSpPr>
        <p:spPr>
          <a:xfrm>
            <a:off x="9355931" y="4844355"/>
            <a:ext cx="457200" cy="76200"/>
          </a:xfrm>
          <a:prstGeom prst="roundRect">
            <a:avLst>
              <a:gd name="adj" fmla="val 50000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501" name="T501"/>
          <p:cNvSpPr txBox="1"/>
          <p:nvPr/>
        </p:nvSpPr>
        <p:spPr>
          <a:xfrm>
            <a:off x="10641657" y="3853755"/>
            <a:ext cx="33367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059669"/>
                </a:solidFill>
                <a:latin typeface="Noto Sans SC"/>
                <a:ea typeface="Noto Sans SC"/>
              </a:rPr>
              <a:t>0.80</a:t>
            </a:r>
            <a:endParaRPr lang="zh-CN" sz="135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02" name="R502"/>
          <p:cNvSpPr/>
          <p:nvPr/>
        </p:nvSpPr>
        <p:spPr>
          <a:xfrm>
            <a:off x="10579893" y="4158555"/>
            <a:ext cx="457200" cy="762000"/>
          </a:xfrm>
          <a:prstGeom prst="roundRect">
            <a:avLst>
              <a:gd name="adj" fmla="val 8333"/>
            </a:avLst>
          </a:prstGeom>
          <a:solidFill>
            <a:srgbClr val="059669"/>
          </a:solidFill>
        </p:spPr>
      </p:sp>
      <p:sp>
        <p:nvSpPr>
          <p:cNvPr id="503" name="T503"/>
          <p:cNvSpPr txBox="1"/>
          <p:nvPr/>
        </p:nvSpPr>
        <p:spPr>
          <a:xfrm>
            <a:off x="9410700" y="4939605"/>
            <a:ext cx="34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阻断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04" name="T504"/>
          <p:cNvSpPr txBox="1"/>
          <p:nvPr/>
        </p:nvSpPr>
        <p:spPr>
          <a:xfrm>
            <a:off x="9496425" y="517773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前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05" name="T505"/>
          <p:cNvSpPr txBox="1"/>
          <p:nvPr/>
        </p:nvSpPr>
        <p:spPr>
          <a:xfrm>
            <a:off x="10632440" y="5015805"/>
            <a:ext cx="3429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阻断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06" name="T506"/>
          <p:cNvSpPr txBox="1"/>
          <p:nvPr/>
        </p:nvSpPr>
        <p:spPr>
          <a:xfrm>
            <a:off x="10718165" y="5253930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后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07" name="R507"/>
          <p:cNvSpPr/>
          <p:nvPr/>
        </p:nvSpPr>
        <p:spPr>
          <a:xfrm>
            <a:off x="9010650" y="5530155"/>
            <a:ext cx="1284982" cy="276225"/>
          </a:xfrm>
          <a:prstGeom prst="roundRect">
            <a:avLst>
              <a:gd name="adj" fmla="val 41379"/>
            </a:avLst>
          </a:prstGeom>
          <a:solidFill>
            <a:srgbClr val="059669">
              <a:alpha val="10000"/>
            </a:srgbClr>
          </a:solidFill>
        </p:spPr>
      </p:sp>
      <p:sp>
        <p:nvSpPr>
          <p:cNvPr id="508" name="T508"/>
          <p:cNvSpPr txBox="1"/>
          <p:nvPr/>
        </p:nvSpPr>
        <p:spPr>
          <a:xfrm>
            <a:off x="9105900" y="5511105"/>
            <a:ext cx="1094482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059669"/>
                </a:solidFill>
                <a:latin typeface="Noto Sans SC"/>
                <a:ea typeface="Noto Sans SC"/>
              </a:rPr>
              <a:t>ΔVER = +0.80</a:t>
            </a:r>
            <a:endParaRPr lang="zh-CN" sz="135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09" name="T509"/>
          <p:cNvSpPr txBox="1"/>
          <p:nvPr/>
        </p:nvSpPr>
        <p:spPr>
          <a:xfrm>
            <a:off x="9010650" y="5825430"/>
            <a:ext cx="1627584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95% CI = [0.40, 1.00]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10" name="L510"/>
          <p:cNvSpPr/>
          <p:nvPr/>
        </p:nvSpPr>
        <p:spPr>
          <a:xfrm>
            <a:off x="6410325" y="6255841"/>
            <a:ext cx="497205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513" name="T513"/>
          <p:cNvSpPr txBox="1"/>
          <p:nvPr/>
        </p:nvSpPr>
        <p:spPr>
          <a:xfrm>
            <a:off x="7269212" y="6408241"/>
            <a:ext cx="137814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dirty="0">
                <a:solidFill>
                  <a:srgbClr val="DC2626"/>
                </a:solidFill>
                <a:latin typeface="Noto Sans SC"/>
                <a:ea typeface="Noto Sans SC"/>
              </a:rPr>
              <a:t>0</a:t>
            </a:r>
            <a:endParaRPr lang="zh-CN" sz="195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514" name="T514"/>
          <p:cNvSpPr txBox="1"/>
          <p:nvPr/>
        </p:nvSpPr>
        <p:spPr>
          <a:xfrm>
            <a:off x="7483226" y="6479678"/>
            <a:ext cx="1714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→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15" name="T515"/>
          <p:cNvSpPr txBox="1"/>
          <p:nvPr/>
        </p:nvSpPr>
        <p:spPr>
          <a:xfrm>
            <a:off x="7730876" y="6408241"/>
            <a:ext cx="27548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dirty="0">
                <a:solidFill>
                  <a:srgbClr val="059669"/>
                </a:solidFill>
                <a:latin typeface="Noto Sans SC"/>
                <a:ea typeface="Noto Sans SC"/>
              </a:rPr>
              <a:t>19</a:t>
            </a:r>
            <a:endParaRPr lang="zh-CN" sz="195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16" name="T516"/>
          <p:cNvSpPr txBox="1"/>
          <p:nvPr/>
        </p:nvSpPr>
        <p:spPr>
          <a:xfrm>
            <a:off x="8120657" y="6479678"/>
            <a:ext cx="51435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dirty="0">
                <a:solidFill>
                  <a:srgbClr val="6B7280"/>
                </a:solidFill>
                <a:latin typeface="Noto Sans SC"/>
                <a:ea typeface="Noto Sans SC"/>
              </a:rPr>
              <a:t>活跃边</a:t>
            </a:r>
            <a:endParaRPr lang="zh-CN" sz="13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17" name="T517"/>
          <p:cNvSpPr txBox="1"/>
          <p:nvPr/>
        </p:nvSpPr>
        <p:spPr>
          <a:xfrm>
            <a:off x="542925" y="190500"/>
            <a:ext cx="3719363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2563EB"/>
                </a:solidFill>
                <a:latin typeface="Noto Sans SC"/>
                <a:ea typeface="Noto Sans SC"/>
              </a:rPr>
              <a:t>PART 3 · 深挖机制与结构化解决</a:t>
            </a:r>
            <a:endParaRPr lang="zh-CN" sz="18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518" name="T518"/>
          <p:cNvSpPr txBox="1"/>
          <p:nvPr/>
        </p:nvSpPr>
        <p:spPr>
          <a:xfrm>
            <a:off x="542925" y="523875"/>
            <a:ext cx="3048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 dirty="0">
                <a:solidFill>
                  <a:srgbClr val="212529"/>
                </a:solidFill>
                <a:latin typeface="Noto Sans SC"/>
                <a:ea typeface="Noto Sans SC"/>
              </a:rPr>
              <a:t>深挖机制与结构化解决</a:t>
            </a:r>
            <a:endParaRPr lang="zh-CN" sz="24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19" name="T519"/>
          <p:cNvSpPr txBox="1"/>
          <p:nvPr/>
        </p:nvSpPr>
        <p:spPr>
          <a:xfrm>
            <a:off x="542925" y="6391275"/>
            <a:ext cx="3420516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20" name="R520"/>
          <p:cNvSpPr/>
          <p:nvPr/>
        </p:nvSpPr>
        <p:spPr>
          <a:xfrm>
            <a:off x="4115841" y="6562725"/>
            <a:ext cx="6808142" cy="9525"/>
          </a:xfrm>
          <a:prstGeom prst="rect">
            <a:avLst/>
          </a:prstGeom>
          <a:solidFill>
            <a:srgbClr val="DEE2E6"/>
          </a:solidFill>
        </p:spPr>
      </p:sp>
      <p:sp>
        <p:nvSpPr>
          <p:cNvPr id="521" name="T521"/>
          <p:cNvSpPr txBox="1"/>
          <p:nvPr/>
        </p:nvSpPr>
        <p:spPr>
          <a:xfrm>
            <a:off x="11076384" y="6391275"/>
            <a:ext cx="57269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8 / 12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22" name="R522"/>
          <p:cNvSpPr/>
          <p:nvPr/>
        </p:nvSpPr>
        <p:spPr>
          <a:xfrm>
            <a:off x="542925" y="1732915"/>
            <a:ext cx="28575" cy="15240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523" name="T523"/>
          <p:cNvSpPr txBox="1"/>
          <p:nvPr/>
        </p:nvSpPr>
        <p:spPr>
          <a:xfrm>
            <a:off x="8708975" y="590550"/>
            <a:ext cx="2520999" cy="285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0" dirty="0">
                <a:solidFill>
                  <a:srgbClr val="F1F3F5">
                    <a:alpha val="60000"/>
                  </a:srgbClr>
                </a:solidFill>
                <a:latin typeface="Inter"/>
                <a:ea typeface="Inter"/>
              </a:rPr>
              <a:t>03</a:t>
            </a:r>
            <a:endParaRPr lang="zh-CN" sz="15000" dirty="0">
              <a:solidFill>
                <a:srgbClr val="F1F3F5">
                  <a:alpha val="60000"/>
                </a:srgbClr>
              </a:solidFill>
              <a:latin typeface="Inter"/>
              <a:ea typeface="Inter"/>
            </a:endParaRPr>
          </a:p>
        </p:txBody>
      </p:sp>
      <p:sp>
        <p:nvSpPr>
          <p:cNvPr id="524" name="R524"/>
          <p:cNvSpPr/>
          <p:nvPr/>
        </p:nvSpPr>
        <p:spPr>
          <a:xfrm>
            <a:off x="542925" y="1733177"/>
            <a:ext cx="6800850" cy="3391644"/>
          </a:xfrm>
          <a:prstGeom prst="roundRect">
            <a:avLst>
              <a:gd name="adj" fmla="val 2808"/>
            </a:avLst>
          </a:prstGeom>
          <a:gradFill>
            <a:gsLst>
              <a:gs pos="0">
                <a:srgbClr val="FFFFFF">
                  <a:alpha val="82000"/>
                </a:srgbClr>
              </a:gs>
              <a:gs pos="100000">
                <a:srgbClr val="F6F8FB">
                  <a:alpha val="94000"/>
                </a:srgbClr>
              </a:gs>
            </a:gsLst>
            <a:lin ang="0" scaled="0"/>
          </a:gradFill>
          <a:ln w="12700">
            <a:solidFill>
              <a:srgbClr val="2563EB">
                <a:alpha val="10000"/>
              </a:srgbClr>
            </a:solidFill>
          </a:ln>
        </p:spPr>
      </p:sp>
      <p:sp>
        <p:nvSpPr>
          <p:cNvPr id="525" name="R525"/>
          <p:cNvSpPr/>
          <p:nvPr/>
        </p:nvSpPr>
        <p:spPr>
          <a:xfrm>
            <a:off x="876300" y="2066552"/>
            <a:ext cx="1130349" cy="409575"/>
          </a:xfrm>
          <a:prstGeom prst="roundRect">
            <a:avLst>
              <a:gd name="adj" fmla="val 6976"/>
            </a:avLst>
          </a:prstGeom>
          <a:solidFill>
            <a:srgbClr val="2563EB"/>
          </a:solidFill>
        </p:spPr>
      </p:sp>
      <p:sp>
        <p:nvSpPr>
          <p:cNvPr id="526" name="T526"/>
          <p:cNvSpPr txBox="1"/>
          <p:nvPr/>
        </p:nvSpPr>
        <p:spPr>
          <a:xfrm>
            <a:off x="1009650" y="2095127"/>
            <a:ext cx="86364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FFFFFF"/>
                </a:solidFill>
                <a:latin typeface="Noto Sans SC"/>
                <a:ea typeface="Noto Sans SC"/>
              </a:rPr>
              <a:t>PART 3</a:t>
            </a:r>
            <a:endParaRPr lang="zh-CN" sz="1800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527" name="T527"/>
          <p:cNvSpPr txBox="1"/>
          <p:nvPr/>
        </p:nvSpPr>
        <p:spPr>
          <a:xfrm>
            <a:off x="876300" y="2666627"/>
            <a:ext cx="3583334" cy="542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50" b="1" dirty="0">
                <a:solidFill>
                  <a:srgbClr val="212529"/>
                </a:solidFill>
                <a:latin typeface="Noto Sans SC"/>
                <a:ea typeface="Noto Sans SC"/>
              </a:rPr>
              <a:t>深挖机制与结构化解决</a:t>
            </a:r>
            <a:endParaRPr lang="zh-CN" sz="28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28" name="T528"/>
          <p:cNvSpPr txBox="1"/>
          <p:nvPr/>
        </p:nvSpPr>
        <p:spPr>
          <a:xfrm>
            <a:off x="876300" y="3383830"/>
            <a:ext cx="59436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风速在阻断后仍不按规矩出牌——从特异行为中寻找构造性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29" name="T529"/>
          <p:cNvSpPr txBox="1"/>
          <p:nvPr/>
        </p:nvSpPr>
        <p:spPr>
          <a:xfrm>
            <a:off x="876300" y="3749501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解决方案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30" name="R530"/>
          <p:cNvSpPr/>
          <p:nvPr/>
        </p:nvSpPr>
        <p:spPr>
          <a:xfrm>
            <a:off x="876300" y="4615234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</p:spPr>
      </p:sp>
      <p:sp>
        <p:nvSpPr>
          <p:cNvPr id="531" name="R531"/>
          <p:cNvSpPr/>
          <p:nvPr/>
        </p:nvSpPr>
        <p:spPr>
          <a:xfrm>
            <a:off x="1047750" y="4615234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</p:spPr>
      </p:sp>
      <p:sp>
        <p:nvSpPr>
          <p:cNvPr id="532" name="R532"/>
          <p:cNvSpPr/>
          <p:nvPr/>
        </p:nvSpPr>
        <p:spPr>
          <a:xfrm>
            <a:off x="1219200" y="4615234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</p:spPr>
      </p:sp>
      <p:sp>
        <p:nvSpPr>
          <p:cNvPr id="533" name="R533"/>
          <p:cNvSpPr/>
          <p:nvPr/>
        </p:nvSpPr>
        <p:spPr>
          <a:xfrm>
            <a:off x="1390650" y="4615234"/>
            <a:ext cx="95250" cy="95250"/>
          </a:xfrm>
          <a:prstGeom prst="roundRect">
            <a:avLst>
              <a:gd name="adj" fmla="val 50000"/>
            </a:avLst>
          </a:prstGeom>
          <a:solidFill>
            <a:srgbClr val="2563EB">
              <a:alpha val="50000"/>
            </a:srgbClr>
          </a:solidFill>
        </p:spPr>
      </p:sp>
      <p:sp>
        <p:nvSpPr>
          <p:cNvPr id="534" name="R534"/>
          <p:cNvSpPr/>
          <p:nvPr/>
        </p:nvSpPr>
        <p:spPr>
          <a:xfrm>
            <a:off x="1562100" y="4615234"/>
            <a:ext cx="266700" cy="952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535" name="R535"/>
          <p:cNvSpPr/>
          <p:nvPr/>
        </p:nvSpPr>
        <p:spPr>
          <a:xfrm>
            <a:off x="1905000" y="4615234"/>
            <a:ext cx="95250" cy="95250"/>
          </a:xfrm>
          <a:prstGeom prst="roundRect">
            <a:avLst>
              <a:gd name="adj" fmla="val 50000"/>
            </a:avLst>
          </a:prstGeom>
          <a:solidFill>
            <a:srgbClr val="DEE2E6"/>
          </a:solidFill>
        </p:spPr>
      </p:sp>
      <p:sp>
        <p:nvSpPr>
          <p:cNvPr id="536" name="T536"/>
          <p:cNvSpPr txBox="1"/>
          <p:nvPr/>
        </p:nvSpPr>
        <p:spPr>
          <a:xfrm>
            <a:off x="2152650" y="4486647"/>
            <a:ext cx="86900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步骤 5-6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537" name="T537"/>
          <p:cNvSpPr txBox="1"/>
          <p:nvPr/>
        </p:nvSpPr>
        <p:spPr>
          <a:xfrm>
            <a:off x="533400" y="152400"/>
            <a:ext cx="118526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563EB"/>
                </a:solidFill>
                <a:latin typeface="Noto Sans SC"/>
                <a:ea typeface="Noto Sans SC"/>
              </a:rPr>
              <a:t>PART 3 · 步骤5</a:t>
            </a:r>
            <a:endParaRPr lang="zh-CN" sz="12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538" name="L538"/>
          <p:cNvSpPr/>
          <p:nvPr/>
        </p:nvSpPr>
        <p:spPr>
          <a:xfrm>
            <a:off x="533400" y="438150"/>
            <a:ext cx="9525" cy="321915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539" name="T539"/>
          <p:cNvSpPr txBox="1"/>
          <p:nvPr/>
        </p:nvSpPr>
        <p:spPr>
          <a:xfrm>
            <a:off x="676275" y="371475"/>
            <a:ext cx="27241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dirty="0">
                <a:solidFill>
                  <a:srgbClr val="212529"/>
                </a:solidFill>
                <a:latin typeface="Noto Sans SC"/>
                <a:ea typeface="Noto Sans SC"/>
              </a:rPr>
              <a:t>风力深挖与可辨识性消融</a:t>
            </a:r>
            <a:endParaRPr lang="zh-CN" sz="19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41" name="T541"/>
          <p:cNvSpPr txBox="1"/>
          <p:nvPr/>
        </p:nvSpPr>
        <p:spPr>
          <a:xfrm>
            <a:off x="11263014" y="6500812"/>
            <a:ext cx="39558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563EB"/>
                </a:solidFill>
                <a:latin typeface="Noto Sans SC"/>
                <a:ea typeface="Noto Sans SC"/>
              </a:rPr>
              <a:t>9 / 12</a:t>
            </a:r>
            <a:endParaRPr lang="zh-CN" sz="12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542" name="R542"/>
          <p:cNvSpPr/>
          <p:nvPr/>
        </p:nvSpPr>
        <p:spPr>
          <a:xfrm>
            <a:off x="0" y="190500"/>
            <a:ext cx="28575" cy="64770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543" name="R543"/>
          <p:cNvSpPr/>
          <p:nvPr/>
        </p:nvSpPr>
        <p:spPr>
          <a:xfrm>
            <a:off x="419100" y="723900"/>
            <a:ext cx="11353800" cy="5829300"/>
          </a:xfrm>
          <a:prstGeom prst="roundRect">
            <a:avLst>
              <a:gd name="adj" fmla="val 1633"/>
            </a:avLst>
          </a:prstGeom>
          <a:gradFill>
            <a:gsLst>
              <a:gs pos="0">
                <a:srgbClr val="FFFFFF">
                  <a:alpha val="72000"/>
                </a:srgbClr>
              </a:gs>
              <a:gs pos="100000">
                <a:srgbClr val="F6F8FB">
                  <a:alpha val="94000"/>
                </a:srgbClr>
              </a:gs>
            </a:gsLst>
            <a:lin ang="0" scaled="0"/>
          </a:gra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544" name="R544"/>
          <p:cNvSpPr/>
          <p:nvPr/>
        </p:nvSpPr>
        <p:spPr>
          <a:xfrm>
            <a:off x="542925" y="828675"/>
            <a:ext cx="11106150" cy="2371725"/>
          </a:xfrm>
          <a:prstGeom prst="roundRect">
            <a:avLst>
              <a:gd name="adj" fmla="val 2409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545" name="R545"/>
          <p:cNvSpPr/>
          <p:nvPr/>
        </p:nvSpPr>
        <p:spPr>
          <a:xfrm>
            <a:off x="723900" y="995362"/>
            <a:ext cx="841027" cy="219075"/>
          </a:xfrm>
          <a:prstGeom prst="roundRect">
            <a:avLst>
              <a:gd name="adj" fmla="val 13043"/>
            </a:avLst>
          </a:prstGeom>
          <a:solidFill>
            <a:srgbClr val="2563EB"/>
          </a:solidFill>
        </p:spPr>
      </p:sp>
      <p:sp>
        <p:nvSpPr>
          <p:cNvPr id="546" name="T546"/>
          <p:cNvSpPr txBox="1"/>
          <p:nvPr/>
        </p:nvSpPr>
        <p:spPr>
          <a:xfrm>
            <a:off x="781050" y="966787"/>
            <a:ext cx="726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ANCHOR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547" name="T547"/>
          <p:cNvSpPr txBox="1"/>
          <p:nvPr/>
        </p:nvSpPr>
        <p:spPr>
          <a:xfrm>
            <a:off x="1641127" y="957263"/>
            <a:ext cx="971550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75" b="1" dirty="0">
                <a:solidFill>
                  <a:srgbClr val="212529"/>
                </a:solidFill>
                <a:latin typeface="Noto Sans SC"/>
                <a:ea typeface="Noto Sans SC"/>
              </a:rPr>
              <a:t>可辨识性分化</a:t>
            </a:r>
            <a:endParaRPr lang="zh-CN" sz="1275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48" name="L548"/>
          <p:cNvSpPr/>
          <p:nvPr/>
        </p:nvSpPr>
        <p:spPr>
          <a:xfrm>
            <a:off x="723900" y="1666875"/>
            <a:ext cx="2578596" cy="9525"/>
          </a:xfrm>
          <a:prstGeom prst="line">
            <a:avLst/>
          </a:prstGeom>
          <a:noFill/>
          <a:ln w="25400">
            <a:solidFill>
              <a:srgbClr val="DEE2E6"/>
            </a:solidFill>
          </a:ln>
        </p:spPr>
      </p:sp>
      <p:sp>
        <p:nvSpPr>
          <p:cNvPr id="549" name="T549"/>
          <p:cNvSpPr txBox="1"/>
          <p:nvPr/>
        </p:nvSpPr>
        <p:spPr>
          <a:xfrm>
            <a:off x="838200" y="1352550"/>
            <a:ext cx="6340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目标设置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50" name="L550"/>
          <p:cNvSpPr/>
          <p:nvPr/>
        </p:nvSpPr>
        <p:spPr>
          <a:xfrm>
            <a:off x="3302496" y="1666875"/>
            <a:ext cx="3652986" cy="9525"/>
          </a:xfrm>
          <a:prstGeom prst="line">
            <a:avLst/>
          </a:prstGeom>
          <a:noFill/>
          <a:ln w="25400">
            <a:solidFill>
              <a:srgbClr val="DEE2E6"/>
            </a:solidFill>
          </a:ln>
        </p:spPr>
      </p:sp>
      <p:sp>
        <p:nvSpPr>
          <p:cNvPr id="551" name="T551"/>
          <p:cNvSpPr txBox="1"/>
          <p:nvPr/>
        </p:nvSpPr>
        <p:spPr>
          <a:xfrm>
            <a:off x="3416796" y="1352550"/>
            <a:ext cx="6340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变量表现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52" name="L552"/>
          <p:cNvSpPr/>
          <p:nvPr/>
        </p:nvSpPr>
        <p:spPr>
          <a:xfrm>
            <a:off x="6955482" y="1666875"/>
            <a:ext cx="2578596" cy="9525"/>
          </a:xfrm>
          <a:prstGeom prst="line">
            <a:avLst/>
          </a:prstGeom>
          <a:noFill/>
          <a:ln w="25400">
            <a:solidFill>
              <a:srgbClr val="DEE2E6"/>
            </a:solidFill>
          </a:ln>
        </p:spPr>
      </p:sp>
      <p:sp>
        <p:nvSpPr>
          <p:cNvPr id="553" name="T553"/>
          <p:cNvSpPr txBox="1"/>
          <p:nvPr/>
        </p:nvSpPr>
        <p:spPr>
          <a:xfrm>
            <a:off x="7069782" y="1352550"/>
            <a:ext cx="6340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关键数据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54" name="L554"/>
          <p:cNvSpPr/>
          <p:nvPr/>
        </p:nvSpPr>
        <p:spPr>
          <a:xfrm>
            <a:off x="9534078" y="1666875"/>
            <a:ext cx="1934021" cy="9525"/>
          </a:xfrm>
          <a:prstGeom prst="line">
            <a:avLst/>
          </a:prstGeom>
          <a:noFill/>
          <a:ln w="25400">
            <a:solidFill>
              <a:srgbClr val="DEE2E6"/>
            </a:solidFill>
          </a:ln>
        </p:spPr>
      </p:sp>
      <p:sp>
        <p:nvSpPr>
          <p:cNvPr id="555" name="T555"/>
          <p:cNvSpPr txBox="1"/>
          <p:nvPr/>
        </p:nvSpPr>
        <p:spPr>
          <a:xfrm>
            <a:off x="9648378" y="1352550"/>
            <a:ext cx="6340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观察结论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56" name="R556"/>
          <p:cNvSpPr/>
          <p:nvPr/>
        </p:nvSpPr>
        <p:spPr>
          <a:xfrm>
            <a:off x="723900" y="1695450"/>
            <a:ext cx="10744200" cy="419100"/>
          </a:xfrm>
          <a:prstGeom prst="roundRect">
            <a:avLst>
              <a:gd name="adj" fmla="val 13636"/>
            </a:avLst>
          </a:prstGeom>
          <a:solidFill>
            <a:srgbClr val="DC2626">
              <a:alpha val="6000"/>
            </a:srgbClr>
          </a:solidFill>
        </p:spPr>
      </p:sp>
      <p:sp>
        <p:nvSpPr>
          <p:cNvPr id="557" name="T557"/>
          <p:cNvSpPr txBox="1"/>
          <p:nvPr/>
        </p:nvSpPr>
        <p:spPr>
          <a:xfrm>
            <a:off x="838200" y="1762125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直接净负荷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58" name="T558"/>
          <p:cNvSpPr txBox="1"/>
          <p:nvPr/>
        </p:nvSpPr>
        <p:spPr>
          <a:xfrm>
            <a:off x="3416796" y="1762125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全部不进入公式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59" name="T559"/>
          <p:cNvSpPr txBox="1"/>
          <p:nvPr/>
        </p:nvSpPr>
        <p:spPr>
          <a:xfrm>
            <a:off x="7069782" y="1762125"/>
            <a:ext cx="70708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C2626"/>
                </a:solidFill>
                <a:latin typeface="Noto Sans SC"/>
                <a:ea typeface="Noto Sans SC"/>
              </a:rPr>
              <a:t>VER = 0/9</a:t>
            </a:r>
            <a:endParaRPr lang="zh-CN" sz="120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560" name="R560"/>
          <p:cNvSpPr/>
          <p:nvPr/>
        </p:nvSpPr>
        <p:spPr>
          <a:xfrm>
            <a:off x="9648378" y="1771650"/>
            <a:ext cx="501401" cy="266700"/>
          </a:xfrm>
          <a:prstGeom prst="roundRect">
            <a:avLst>
              <a:gd name="adj" fmla="val 35714"/>
            </a:avLst>
          </a:prstGeom>
          <a:solidFill>
            <a:srgbClr val="DC2626"/>
          </a:solidFill>
        </p:spPr>
      </p:sp>
      <p:sp>
        <p:nvSpPr>
          <p:cNvPr id="561" name="T561"/>
          <p:cNvSpPr txBox="1"/>
          <p:nvPr/>
        </p:nvSpPr>
        <p:spPr>
          <a:xfrm>
            <a:off x="9743628" y="1762125"/>
            <a:ext cx="3109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坍缩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562" name="R562"/>
          <p:cNvSpPr/>
          <p:nvPr/>
        </p:nvSpPr>
        <p:spPr>
          <a:xfrm>
            <a:off x="723900" y="2143125"/>
            <a:ext cx="10744200" cy="419100"/>
          </a:xfrm>
          <a:prstGeom prst="roundRect">
            <a:avLst>
              <a:gd name="adj" fmla="val 13636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563" name="T563"/>
          <p:cNvSpPr txBox="1"/>
          <p:nvPr/>
        </p:nvSpPr>
        <p:spPr>
          <a:xfrm>
            <a:off x="838200" y="2209800"/>
            <a:ext cx="762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太阳能分量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64" name="T564"/>
          <p:cNvSpPr txBox="1"/>
          <p:nvPr/>
        </p:nvSpPr>
        <p:spPr>
          <a:xfrm>
            <a:off x="3416796" y="2209800"/>
            <a:ext cx="326588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meteo_only 全程存活，both 中长horizon受压制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65" name="T565"/>
          <p:cNvSpPr txBox="1"/>
          <p:nvPr/>
        </p:nvSpPr>
        <p:spPr>
          <a:xfrm>
            <a:off x="7069782" y="2209800"/>
            <a:ext cx="3673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059669"/>
                </a:solidFill>
                <a:latin typeface="Noto Sans SC"/>
                <a:ea typeface="Noto Sans SC"/>
              </a:rPr>
              <a:t>6/3/5</a:t>
            </a:r>
            <a:endParaRPr lang="zh-CN" sz="12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66" name="T566"/>
          <p:cNvSpPr txBox="1"/>
          <p:nvPr/>
        </p:nvSpPr>
        <p:spPr>
          <a:xfrm>
            <a:off x="7595840" y="2209800"/>
            <a:ext cx="243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vs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67" name="T567"/>
          <p:cNvSpPr txBox="1"/>
          <p:nvPr/>
        </p:nvSpPr>
        <p:spPr>
          <a:xfrm>
            <a:off x="7838876" y="2209800"/>
            <a:ext cx="3673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97706"/>
                </a:solidFill>
                <a:latin typeface="Noto Sans SC"/>
                <a:ea typeface="Noto Sans SC"/>
              </a:rPr>
              <a:t>8/0/2</a:t>
            </a:r>
            <a:endParaRPr lang="zh-CN" sz="1200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568" name="R568"/>
          <p:cNvSpPr/>
          <p:nvPr/>
        </p:nvSpPr>
        <p:spPr>
          <a:xfrm>
            <a:off x="9648378" y="2219325"/>
            <a:ext cx="967829" cy="266700"/>
          </a:xfrm>
          <a:prstGeom prst="roundRect">
            <a:avLst>
              <a:gd name="adj" fmla="val 35714"/>
            </a:avLst>
          </a:prstGeom>
          <a:solidFill>
            <a:srgbClr val="059669"/>
          </a:solidFill>
        </p:spPr>
      </p:sp>
      <p:sp>
        <p:nvSpPr>
          <p:cNvPr id="569" name="T569"/>
          <p:cNvSpPr txBox="1"/>
          <p:nvPr/>
        </p:nvSpPr>
        <p:spPr>
          <a:xfrm>
            <a:off x="9743628" y="2209800"/>
            <a:ext cx="77732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条件可辨识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570" name="R570"/>
          <p:cNvSpPr/>
          <p:nvPr/>
        </p:nvSpPr>
        <p:spPr>
          <a:xfrm>
            <a:off x="723900" y="2590800"/>
            <a:ext cx="10744200" cy="419100"/>
          </a:xfrm>
          <a:prstGeom prst="roundRect">
            <a:avLst>
              <a:gd name="adj" fmla="val 13636"/>
            </a:avLst>
          </a:prstGeom>
          <a:solidFill>
            <a:srgbClr val="D97706">
              <a:alpha val="6000"/>
            </a:srgbClr>
          </a:solidFill>
        </p:spPr>
      </p:sp>
      <p:sp>
        <p:nvSpPr>
          <p:cNvPr id="571" name="T571"/>
          <p:cNvSpPr txBox="1"/>
          <p:nvPr/>
        </p:nvSpPr>
        <p:spPr>
          <a:xfrm>
            <a:off x="838200" y="2657475"/>
            <a:ext cx="609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风电分量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72" name="T572"/>
          <p:cNvSpPr txBox="1"/>
          <p:nvPr/>
        </p:nvSpPr>
        <p:spPr>
          <a:xfrm>
            <a:off x="3416796" y="2657475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12529"/>
                </a:solidFill>
                <a:latin typeface="Noto Sans SC"/>
                <a:ea typeface="Noto Sans SC"/>
              </a:rPr>
              <a:t>风速边数窗口式出没</a:t>
            </a:r>
            <a:endParaRPr lang="zh-CN" sz="12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73" name="T573"/>
          <p:cNvSpPr txBox="1"/>
          <p:nvPr/>
        </p:nvSpPr>
        <p:spPr>
          <a:xfrm>
            <a:off x="7069782" y="2657475"/>
            <a:ext cx="11351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97706"/>
                </a:solidFill>
                <a:latin typeface="Noto Sans SC"/>
                <a:ea typeface="Noto Sans SC"/>
              </a:rPr>
              <a:t>11 → 0 → 9 → 0</a:t>
            </a:r>
            <a:endParaRPr lang="zh-CN" sz="1200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574" name="R574"/>
          <p:cNvSpPr/>
          <p:nvPr/>
        </p:nvSpPr>
        <p:spPr>
          <a:xfrm>
            <a:off x="9648378" y="2667000"/>
            <a:ext cx="501401" cy="266700"/>
          </a:xfrm>
          <a:prstGeom prst="roundRect">
            <a:avLst>
              <a:gd name="adj" fmla="val 35714"/>
            </a:avLst>
          </a:prstGeom>
          <a:solidFill>
            <a:srgbClr val="D97706"/>
          </a:solidFill>
        </p:spPr>
      </p:sp>
      <p:sp>
        <p:nvSpPr>
          <p:cNvPr id="575" name="T575"/>
          <p:cNvSpPr txBox="1"/>
          <p:nvPr/>
        </p:nvSpPr>
        <p:spPr>
          <a:xfrm>
            <a:off x="9743628" y="2657475"/>
            <a:ext cx="3109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特异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577" name="R577"/>
          <p:cNvSpPr/>
          <p:nvPr/>
        </p:nvSpPr>
        <p:spPr>
          <a:xfrm>
            <a:off x="723900" y="3481387"/>
            <a:ext cx="912465" cy="219075"/>
          </a:xfrm>
          <a:prstGeom prst="roundRect">
            <a:avLst>
              <a:gd name="adj" fmla="val 13043"/>
            </a:avLst>
          </a:prstGeom>
          <a:solidFill>
            <a:srgbClr val="F1F3F5"/>
          </a:solidFill>
        </p:spPr>
      </p:sp>
      <p:sp>
        <p:nvSpPr>
          <p:cNvPr id="578" name="T578"/>
          <p:cNvSpPr txBox="1"/>
          <p:nvPr/>
        </p:nvSpPr>
        <p:spPr>
          <a:xfrm>
            <a:off x="781050" y="3452812"/>
            <a:ext cx="79816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6B7280"/>
                </a:solidFill>
                <a:latin typeface="Noto Sans SC"/>
                <a:ea typeface="Noto Sans SC"/>
              </a:rPr>
              <a:t>SUPPORT</a:t>
            </a:r>
            <a:endParaRPr lang="zh-CN" sz="1200" b="1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79" name="T579"/>
          <p:cNvSpPr txBox="1"/>
          <p:nvPr/>
        </p:nvSpPr>
        <p:spPr>
          <a:xfrm>
            <a:off x="1712565" y="3443288"/>
            <a:ext cx="1145381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75" b="1" dirty="0">
                <a:solidFill>
                  <a:srgbClr val="212529"/>
                </a:solidFill>
                <a:latin typeface="Noto Sans SC"/>
                <a:ea typeface="Noto Sans SC"/>
              </a:rPr>
              <a:t>GHI 条件可辨识</a:t>
            </a:r>
            <a:endParaRPr lang="zh-CN" sz="1275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580" name="T580"/>
          <p:cNvSpPr txBox="1"/>
          <p:nvPr/>
        </p:nvSpPr>
        <p:spPr>
          <a:xfrm>
            <a:off x="723900" y="3771900"/>
            <a:ext cx="453940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meteo_only 下 VER(GHI)=3/3，证明辐照度不是”天生进不了公式”；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81" name="T581"/>
          <p:cNvSpPr txBox="1"/>
          <p:nvPr/>
        </p:nvSpPr>
        <p:spPr>
          <a:xfrm>
            <a:off x="723900" y="400809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真正的差异来自配置竞争。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82" name="R582"/>
          <p:cNvSpPr/>
          <p:nvPr/>
        </p:nvSpPr>
        <p:spPr>
          <a:xfrm>
            <a:off x="723900" y="444430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7706"/>
          </a:solidFill>
        </p:spPr>
      </p:sp>
      <p:sp>
        <p:nvSpPr>
          <p:cNvPr id="583" name="T583"/>
          <p:cNvSpPr txBox="1"/>
          <p:nvPr/>
        </p:nvSpPr>
        <p:spPr>
          <a:xfrm>
            <a:off x="876300" y="4349055"/>
            <a:ext cx="12757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both（含lag竞争）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84" name="R584"/>
          <p:cNvSpPr/>
          <p:nvPr/>
        </p:nvSpPr>
        <p:spPr>
          <a:xfrm>
            <a:off x="2266354" y="4444305"/>
            <a:ext cx="95250" cy="952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585" name="T585"/>
          <p:cNvSpPr txBox="1"/>
          <p:nvPr/>
        </p:nvSpPr>
        <p:spPr>
          <a:xfrm>
            <a:off x="2418754" y="4349055"/>
            <a:ext cx="1549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meteo_only（纯气象）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86" name="R586"/>
          <p:cNvSpPr/>
          <p:nvPr/>
        </p:nvSpPr>
        <p:spPr>
          <a:xfrm>
            <a:off x="723900" y="4691955"/>
            <a:ext cx="4635698" cy="1524000"/>
          </a:xfrm>
          <a:prstGeom prst="roundRect">
            <a:avLst>
              <a:gd name="adj" fmla="val 3750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587" name="T587"/>
          <p:cNvSpPr txBox="1"/>
          <p:nvPr/>
        </p:nvSpPr>
        <p:spPr>
          <a:xfrm>
            <a:off x="1167258" y="497294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97706"/>
                </a:solidFill>
                <a:latin typeface="Noto Sans SC"/>
                <a:ea typeface="Noto Sans SC"/>
              </a:rPr>
              <a:t>8</a:t>
            </a:r>
            <a:endParaRPr lang="zh-CN" sz="1125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588" name="R588"/>
          <p:cNvSpPr/>
          <p:nvPr/>
        </p:nvSpPr>
        <p:spPr>
          <a:xfrm>
            <a:off x="1054596" y="5187255"/>
            <a:ext cx="304800" cy="762000"/>
          </a:xfrm>
          <a:prstGeom prst="roundRect">
            <a:avLst>
              <a:gd name="adj" fmla="val 9375"/>
            </a:avLst>
          </a:prstGeom>
          <a:solidFill>
            <a:srgbClr val="D97706">
              <a:alpha val="85000"/>
            </a:srgbClr>
          </a:solidFill>
        </p:spPr>
      </p:sp>
      <p:sp>
        <p:nvSpPr>
          <p:cNvPr id="589" name="T589"/>
          <p:cNvSpPr txBox="1"/>
          <p:nvPr/>
        </p:nvSpPr>
        <p:spPr>
          <a:xfrm>
            <a:off x="1847701" y="516344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059669"/>
                </a:solidFill>
                <a:latin typeface="Noto Sans SC"/>
                <a:ea typeface="Noto Sans SC"/>
              </a:rPr>
              <a:t>6</a:t>
            </a:r>
            <a:endParaRPr lang="zh-CN" sz="1125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90" name="R590"/>
          <p:cNvSpPr/>
          <p:nvPr/>
        </p:nvSpPr>
        <p:spPr>
          <a:xfrm>
            <a:off x="1735038" y="5377755"/>
            <a:ext cx="304800" cy="571500"/>
          </a:xfrm>
          <a:prstGeom prst="roundRect">
            <a:avLst>
              <a:gd name="adj" fmla="val 9375"/>
            </a:avLst>
          </a:prstGeom>
          <a:solidFill>
            <a:srgbClr val="059669">
              <a:alpha val="85000"/>
            </a:srgbClr>
          </a:solidFill>
        </p:spPr>
      </p:sp>
      <p:sp>
        <p:nvSpPr>
          <p:cNvPr id="591" name="T591"/>
          <p:cNvSpPr txBox="1"/>
          <p:nvPr/>
        </p:nvSpPr>
        <p:spPr>
          <a:xfrm>
            <a:off x="1393477" y="5949255"/>
            <a:ext cx="307478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dirty="0">
                <a:solidFill>
                  <a:srgbClr val="6B7280"/>
                </a:solidFill>
                <a:latin typeface="Noto Sans SC"/>
                <a:ea typeface="Noto Sans SC"/>
              </a:rPr>
              <a:t>h=72</a:t>
            </a:r>
            <a:endParaRPr lang="zh-CN" sz="10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92" name="T592"/>
          <p:cNvSpPr txBox="1"/>
          <p:nvPr/>
        </p:nvSpPr>
        <p:spPr>
          <a:xfrm>
            <a:off x="2661642" y="569684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97706"/>
                </a:solidFill>
                <a:latin typeface="Noto Sans SC"/>
                <a:ea typeface="Noto Sans SC"/>
              </a:rPr>
              <a:t>0</a:t>
            </a:r>
            <a:endParaRPr lang="zh-CN" sz="1125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593" name="R593"/>
          <p:cNvSpPr/>
          <p:nvPr/>
        </p:nvSpPr>
        <p:spPr>
          <a:xfrm>
            <a:off x="2548979" y="5911155"/>
            <a:ext cx="304800" cy="38100"/>
          </a:xfrm>
          <a:prstGeom prst="roundRect">
            <a:avLst>
              <a:gd name="adj" fmla="val 50000"/>
            </a:avLst>
          </a:prstGeom>
          <a:solidFill>
            <a:srgbClr val="D97706">
              <a:alpha val="85000"/>
            </a:srgbClr>
          </a:solidFill>
        </p:spPr>
      </p:sp>
      <p:sp>
        <p:nvSpPr>
          <p:cNvPr id="594" name="T594"/>
          <p:cNvSpPr txBox="1"/>
          <p:nvPr/>
        </p:nvSpPr>
        <p:spPr>
          <a:xfrm>
            <a:off x="3342233" y="544919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059669"/>
                </a:solidFill>
                <a:latin typeface="Noto Sans SC"/>
                <a:ea typeface="Noto Sans SC"/>
              </a:rPr>
              <a:t>3</a:t>
            </a:r>
            <a:endParaRPr lang="zh-CN" sz="1125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595" name="R595"/>
          <p:cNvSpPr/>
          <p:nvPr/>
        </p:nvSpPr>
        <p:spPr>
          <a:xfrm>
            <a:off x="3229570" y="5663505"/>
            <a:ext cx="304800" cy="285750"/>
          </a:xfrm>
          <a:prstGeom prst="roundRect">
            <a:avLst>
              <a:gd name="adj" fmla="val 10000"/>
            </a:avLst>
          </a:prstGeom>
          <a:solidFill>
            <a:srgbClr val="059669">
              <a:alpha val="85000"/>
            </a:srgbClr>
          </a:solidFill>
        </p:spPr>
      </p:sp>
      <p:sp>
        <p:nvSpPr>
          <p:cNvPr id="596" name="T596"/>
          <p:cNvSpPr txBox="1"/>
          <p:nvPr/>
        </p:nvSpPr>
        <p:spPr>
          <a:xfrm>
            <a:off x="2850951" y="5949255"/>
            <a:ext cx="38159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dirty="0">
                <a:solidFill>
                  <a:srgbClr val="6B7280"/>
                </a:solidFill>
                <a:latin typeface="Noto Sans SC"/>
                <a:ea typeface="Noto Sans SC"/>
              </a:rPr>
              <a:t>h=144</a:t>
            </a:r>
            <a:endParaRPr lang="zh-CN" sz="10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97" name="T597"/>
          <p:cNvSpPr txBox="1"/>
          <p:nvPr/>
        </p:nvSpPr>
        <p:spPr>
          <a:xfrm>
            <a:off x="4156174" y="554444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97706"/>
                </a:solidFill>
                <a:latin typeface="Noto Sans SC"/>
                <a:ea typeface="Noto Sans SC"/>
              </a:rPr>
              <a:t>2</a:t>
            </a:r>
            <a:endParaRPr lang="zh-CN" sz="1125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598" name="R598"/>
          <p:cNvSpPr/>
          <p:nvPr/>
        </p:nvSpPr>
        <p:spPr>
          <a:xfrm>
            <a:off x="4043511" y="5758755"/>
            <a:ext cx="304800" cy="190500"/>
          </a:xfrm>
          <a:prstGeom prst="roundRect">
            <a:avLst>
              <a:gd name="adj" fmla="val 15000"/>
            </a:avLst>
          </a:prstGeom>
          <a:solidFill>
            <a:srgbClr val="D97706">
              <a:alpha val="85000"/>
            </a:srgbClr>
          </a:solidFill>
        </p:spPr>
      </p:sp>
      <p:sp>
        <p:nvSpPr>
          <p:cNvPr id="599" name="T599"/>
          <p:cNvSpPr txBox="1"/>
          <p:nvPr/>
        </p:nvSpPr>
        <p:spPr>
          <a:xfrm>
            <a:off x="4836616" y="525869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059669"/>
                </a:solidFill>
                <a:latin typeface="Noto Sans SC"/>
                <a:ea typeface="Noto Sans SC"/>
              </a:rPr>
              <a:t>5</a:t>
            </a:r>
            <a:endParaRPr lang="zh-CN" sz="1125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00" name="R600"/>
          <p:cNvSpPr/>
          <p:nvPr/>
        </p:nvSpPr>
        <p:spPr>
          <a:xfrm>
            <a:off x="4723953" y="5473005"/>
            <a:ext cx="304800" cy="476250"/>
          </a:xfrm>
          <a:prstGeom prst="roundRect">
            <a:avLst>
              <a:gd name="adj" fmla="val 9375"/>
            </a:avLst>
          </a:prstGeom>
          <a:solidFill>
            <a:srgbClr val="059669">
              <a:alpha val="85000"/>
            </a:srgbClr>
          </a:solidFill>
        </p:spPr>
      </p:sp>
      <p:sp>
        <p:nvSpPr>
          <p:cNvPr id="601" name="T601"/>
          <p:cNvSpPr txBox="1"/>
          <p:nvPr/>
        </p:nvSpPr>
        <p:spPr>
          <a:xfrm>
            <a:off x="4345334" y="5949255"/>
            <a:ext cx="381595" cy="2000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dirty="0">
                <a:solidFill>
                  <a:srgbClr val="6B7280"/>
                </a:solidFill>
                <a:latin typeface="Noto Sans SC"/>
                <a:ea typeface="Noto Sans SC"/>
              </a:rPr>
              <a:t>h=576</a:t>
            </a:r>
            <a:endParaRPr lang="zh-CN" sz="105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02" name="L602"/>
          <p:cNvSpPr/>
          <p:nvPr/>
        </p:nvSpPr>
        <p:spPr>
          <a:xfrm>
            <a:off x="723900" y="6215955"/>
            <a:ext cx="4635698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603" name="T603"/>
          <p:cNvSpPr txBox="1"/>
          <p:nvPr/>
        </p:nvSpPr>
        <p:spPr>
          <a:xfrm>
            <a:off x="723900" y="6292155"/>
            <a:ext cx="44084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059669"/>
                </a:solidFill>
                <a:latin typeface="Noto Sans SC"/>
                <a:ea typeface="Noto Sans SC"/>
              </a:rPr>
              <a:t>结论：GHI 有内在可辨识性，但在 both 设置的中长 horizon 下被</a:t>
            </a:r>
            <a:endParaRPr lang="zh-CN" sz="12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04" name="T604"/>
          <p:cNvSpPr txBox="1"/>
          <p:nvPr/>
        </p:nvSpPr>
        <p:spPr>
          <a:xfrm>
            <a:off x="723900" y="6520755"/>
            <a:ext cx="20361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059669"/>
                </a:solidFill>
                <a:latin typeface="Noto Sans SC"/>
                <a:ea typeface="Noto Sans SC"/>
              </a:rPr>
              <a:t>lag 竞争压制（h=144 归零）。</a:t>
            </a:r>
            <a:endParaRPr lang="zh-CN" sz="12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06" name="R606"/>
          <p:cNvSpPr/>
          <p:nvPr/>
        </p:nvSpPr>
        <p:spPr>
          <a:xfrm>
            <a:off x="5654675" y="3314700"/>
            <a:ext cx="5955665" cy="3152140"/>
          </a:xfrm>
          <a:prstGeom prst="roundRect">
            <a:avLst>
              <a:gd name="adj" fmla="val 1600"/>
            </a:avLst>
          </a:prstGeom>
          <a:solidFill>
            <a:srgbClr val="000000">
              <a:alpha val="0"/>
            </a:srgbClr>
          </a:solidFill>
          <a:ln w="12700">
            <a:solidFill>
              <a:srgbClr val="DEE2E6"/>
            </a:solidFill>
          </a:ln>
        </p:spPr>
      </p:sp>
      <p:sp>
        <p:nvSpPr>
          <p:cNvPr id="607" name="R607"/>
          <p:cNvSpPr/>
          <p:nvPr/>
        </p:nvSpPr>
        <p:spPr>
          <a:xfrm>
            <a:off x="5835848" y="3481387"/>
            <a:ext cx="693836" cy="219075"/>
          </a:xfrm>
          <a:prstGeom prst="roundRect">
            <a:avLst>
              <a:gd name="adj" fmla="val 13043"/>
            </a:avLst>
          </a:prstGeom>
          <a:solidFill>
            <a:srgbClr val="D97706"/>
          </a:solidFill>
        </p:spPr>
      </p:sp>
      <p:sp>
        <p:nvSpPr>
          <p:cNvPr id="608" name="T608"/>
          <p:cNvSpPr txBox="1"/>
          <p:nvPr/>
        </p:nvSpPr>
        <p:spPr>
          <a:xfrm>
            <a:off x="5892998" y="3452812"/>
            <a:ext cx="5795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FFFFFF"/>
                </a:solidFill>
                <a:latin typeface="Noto Sans SC"/>
                <a:ea typeface="Noto Sans SC"/>
              </a:rPr>
              <a:t>FOCUS</a:t>
            </a:r>
            <a:endParaRPr lang="zh-CN" sz="12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609" name="T609"/>
          <p:cNvSpPr txBox="1"/>
          <p:nvPr/>
        </p:nvSpPr>
        <p:spPr>
          <a:xfrm>
            <a:off x="6605885" y="3443288"/>
            <a:ext cx="1133475" cy="2428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75" b="1" dirty="0">
                <a:solidFill>
                  <a:srgbClr val="212529"/>
                </a:solidFill>
                <a:latin typeface="Noto Sans SC"/>
                <a:ea typeface="Noto Sans SC"/>
              </a:rPr>
              <a:t>风速非单调模式</a:t>
            </a:r>
            <a:endParaRPr lang="zh-CN" sz="1275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10" name="T610"/>
          <p:cNvSpPr txBox="1"/>
          <p:nvPr/>
        </p:nvSpPr>
        <p:spPr>
          <a:xfrm>
            <a:off x="5835848" y="3771900"/>
            <a:ext cx="4882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非单调不是口头判断，而是 wind_speed_edges 跨 horizon 的真实变化：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11" name="T611"/>
          <p:cNvSpPr txBox="1"/>
          <p:nvPr/>
        </p:nvSpPr>
        <p:spPr>
          <a:xfrm>
            <a:off x="10718303" y="3771900"/>
            <a:ext cx="68624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97706"/>
                </a:solidFill>
                <a:latin typeface="Noto Sans SC"/>
                <a:ea typeface="Noto Sans SC"/>
              </a:rPr>
              <a:t>11 → 0 →</a:t>
            </a:r>
            <a:endParaRPr lang="zh-CN" sz="1200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612" name="T612"/>
          <p:cNvSpPr txBox="1"/>
          <p:nvPr/>
        </p:nvSpPr>
        <p:spPr>
          <a:xfrm>
            <a:off x="5835848" y="4008090"/>
            <a:ext cx="40674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D97706"/>
                </a:solidFill>
                <a:latin typeface="Noto Sans SC"/>
                <a:ea typeface="Noto Sans SC"/>
              </a:rPr>
              <a:t>9 → 0</a:t>
            </a:r>
            <a:endParaRPr lang="zh-CN" sz="1200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613" name="T613"/>
          <p:cNvSpPr txBox="1"/>
          <p:nvPr/>
        </p:nvSpPr>
        <p:spPr>
          <a:xfrm>
            <a:off x="6320065" y="4008090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。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14" name="R614"/>
          <p:cNvSpPr/>
          <p:nvPr/>
        </p:nvSpPr>
        <p:spPr>
          <a:xfrm>
            <a:off x="5835848" y="4368105"/>
            <a:ext cx="5594002" cy="1504950"/>
          </a:xfrm>
          <a:prstGeom prst="roundRect">
            <a:avLst>
              <a:gd name="adj" fmla="val 3797"/>
            </a:avLst>
          </a:prstGeom>
          <a:solidFill>
            <a:srgbClr val="FFFFFF">
              <a:alpha val="72000"/>
            </a:srgbClr>
          </a:solidFill>
          <a:ln w="12700">
            <a:solidFill>
              <a:srgbClr val="2563EB">
                <a:alpha val="8000"/>
              </a:srgbClr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2" name="T615"/>
          <p:cNvSpPr txBox="1"/>
          <p:nvPr/>
        </p:nvSpPr>
        <p:spPr>
          <a:xfrm>
            <a:off x="5835848" y="5920680"/>
            <a:ext cx="5921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abs skill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16" name="T616"/>
          <p:cNvSpPr txBox="1"/>
          <p:nvPr/>
        </p:nvSpPr>
        <p:spPr>
          <a:xfrm>
            <a:off x="6428035" y="5920680"/>
            <a:ext cx="5420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同期为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17" name="T617"/>
          <p:cNvSpPr txBox="1"/>
          <p:nvPr/>
        </p:nvSpPr>
        <p:spPr>
          <a:xfrm>
            <a:off x="7246620" y="5920740"/>
            <a:ext cx="1671955" cy="2425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0.128 / 0.588 / 0.354 / 0.203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18" name="T618"/>
          <p:cNvSpPr txBox="1"/>
          <p:nvPr/>
        </p:nvSpPr>
        <p:spPr>
          <a:xfrm>
            <a:off x="5835560" y="6215955"/>
            <a:ext cx="248081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说明“有预测力”并不等于“会显式入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19" name="T619"/>
          <p:cNvSpPr txBox="1"/>
          <p:nvPr/>
        </p:nvSpPr>
        <p:spPr>
          <a:xfrm>
            <a:off x="8205033" y="6215836"/>
            <a:ext cx="36983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式”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20" name="L620"/>
          <p:cNvSpPr/>
          <p:nvPr/>
        </p:nvSpPr>
        <p:spPr>
          <a:xfrm>
            <a:off x="5835848" y="6457652"/>
            <a:ext cx="5594002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5" name="T615"/>
          <p:cNvSpPr txBox="1"/>
          <p:nvPr/>
        </p:nvSpPr>
        <p:spPr>
          <a:xfrm>
            <a:off x="6519862" y="4449068"/>
            <a:ext cx="158948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97706"/>
                </a:solidFill>
                <a:latin typeface="Noto Sans SC"/>
                <a:ea typeface="Noto Sans SC"/>
              </a:rPr>
              <a:t>11</a:t>
            </a:r>
            <a:endParaRPr lang="zh-CN" sz="1125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6" name="R616"/>
          <p:cNvSpPr/>
          <p:nvPr/>
        </p:nvSpPr>
        <p:spPr>
          <a:xfrm>
            <a:off x="6427886" y="4691955"/>
            <a:ext cx="342900" cy="838200"/>
          </a:xfrm>
          <a:prstGeom prst="roundRect">
            <a:avLst>
              <a:gd name="adj" fmla="val 8333"/>
            </a:avLst>
          </a:prstGeom>
          <a:solidFill>
            <a:srgbClr val="D97706">
              <a:alpha val="85000"/>
            </a:srgbClr>
          </a:solidFill>
        </p:spPr>
      </p:sp>
      <p:sp>
        <p:nvSpPr>
          <p:cNvPr id="7" name="T617"/>
          <p:cNvSpPr txBox="1"/>
          <p:nvPr/>
        </p:nvSpPr>
        <p:spPr>
          <a:xfrm>
            <a:off x="6490989" y="5525393"/>
            <a:ext cx="216693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75" dirty="0">
                <a:solidFill>
                  <a:srgbClr val="6B7280"/>
                </a:solidFill>
                <a:latin typeface="Noto Sans SC"/>
                <a:ea typeface="Noto Sans SC"/>
              </a:rPr>
              <a:t>h=6</a:t>
            </a:r>
            <a:endParaRPr lang="zh-CN" sz="975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8" name="T618"/>
          <p:cNvSpPr txBox="1"/>
          <p:nvPr/>
        </p:nvSpPr>
        <p:spPr>
          <a:xfrm>
            <a:off x="7915126" y="525869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C2626"/>
                </a:solidFill>
                <a:latin typeface="Noto Sans SC"/>
                <a:ea typeface="Noto Sans SC"/>
              </a:rPr>
              <a:t>0</a:t>
            </a:r>
            <a:endParaRPr lang="zh-CN" sz="1125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9" name="T620"/>
          <p:cNvSpPr txBox="1"/>
          <p:nvPr/>
        </p:nvSpPr>
        <p:spPr>
          <a:xfrm>
            <a:off x="7812137" y="5525393"/>
            <a:ext cx="285452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75" dirty="0">
                <a:solidFill>
                  <a:srgbClr val="6B7280"/>
                </a:solidFill>
                <a:latin typeface="Noto Sans SC"/>
                <a:ea typeface="Noto Sans SC"/>
              </a:rPr>
              <a:t>h=72</a:t>
            </a:r>
            <a:endParaRPr lang="zh-CN" sz="975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21" name="T621"/>
          <p:cNvSpPr txBox="1"/>
          <p:nvPr/>
        </p:nvSpPr>
        <p:spPr>
          <a:xfrm>
            <a:off x="9270801" y="4601468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97706"/>
                </a:solidFill>
                <a:latin typeface="Noto Sans SC"/>
                <a:ea typeface="Noto Sans SC"/>
              </a:rPr>
              <a:t>9</a:t>
            </a:r>
            <a:endParaRPr lang="zh-CN" sz="1125" b="1" dirty="0">
              <a:solidFill>
                <a:srgbClr val="D97706"/>
              </a:solidFill>
              <a:latin typeface="Noto Sans SC"/>
              <a:ea typeface="Noto Sans SC"/>
            </a:endParaRPr>
          </a:p>
        </p:txBody>
      </p:sp>
      <p:sp>
        <p:nvSpPr>
          <p:cNvPr id="622" name="R622"/>
          <p:cNvSpPr/>
          <p:nvPr/>
        </p:nvSpPr>
        <p:spPr>
          <a:xfrm>
            <a:off x="9139088" y="4844355"/>
            <a:ext cx="342900" cy="685800"/>
          </a:xfrm>
          <a:prstGeom prst="roundRect">
            <a:avLst>
              <a:gd name="adj" fmla="val 8333"/>
            </a:avLst>
          </a:prstGeom>
          <a:solidFill>
            <a:srgbClr val="D97706">
              <a:alpha val="85000"/>
            </a:srgbClr>
          </a:solidFill>
        </p:spPr>
      </p:sp>
      <p:sp>
        <p:nvSpPr>
          <p:cNvPr id="623" name="T623"/>
          <p:cNvSpPr txBox="1"/>
          <p:nvPr/>
        </p:nvSpPr>
        <p:spPr>
          <a:xfrm>
            <a:off x="9133433" y="5525393"/>
            <a:ext cx="35435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75" dirty="0">
                <a:solidFill>
                  <a:srgbClr val="6B7280"/>
                </a:solidFill>
                <a:latin typeface="Noto Sans SC"/>
                <a:ea typeface="Noto Sans SC"/>
              </a:rPr>
              <a:t>h=144</a:t>
            </a:r>
            <a:endParaRPr lang="zh-CN" sz="975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24" name="T624"/>
          <p:cNvSpPr txBox="1"/>
          <p:nvPr/>
        </p:nvSpPr>
        <p:spPr>
          <a:xfrm>
            <a:off x="10626476" y="5258693"/>
            <a:ext cx="79474" cy="2143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25" b="1" dirty="0">
                <a:solidFill>
                  <a:srgbClr val="DC2626"/>
                </a:solidFill>
                <a:latin typeface="Noto Sans SC"/>
                <a:ea typeface="Noto Sans SC"/>
              </a:rPr>
              <a:t>0</a:t>
            </a:r>
            <a:endParaRPr lang="zh-CN" sz="1125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626" name="T626"/>
          <p:cNvSpPr txBox="1"/>
          <p:nvPr/>
        </p:nvSpPr>
        <p:spPr>
          <a:xfrm>
            <a:off x="10489108" y="5525393"/>
            <a:ext cx="354359" cy="1857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75" dirty="0">
                <a:solidFill>
                  <a:srgbClr val="6B7280"/>
                </a:solidFill>
                <a:latin typeface="Noto Sans SC"/>
                <a:ea typeface="Noto Sans SC"/>
              </a:rPr>
              <a:t>h=576</a:t>
            </a:r>
            <a:endParaRPr lang="zh-CN" sz="975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22" name="R622"/>
          <p:cNvSpPr/>
          <p:nvPr/>
        </p:nvSpPr>
        <p:spPr>
          <a:xfrm>
            <a:off x="495300" y="5223867"/>
            <a:ext cx="11201400" cy="1138832"/>
          </a:xfrm>
          <a:prstGeom prst="roundRect">
            <a:avLst>
              <a:gd name="adj" fmla="val 5018"/>
            </a:avLst>
          </a:prstGeom>
          <a:solidFill>
            <a:srgbClr val="F1F3F5"/>
          </a:solidFill>
          <a:ln w="12700">
            <a:solidFill>
              <a:srgbClr val="DEE2E6"/>
            </a:solidFill>
          </a:ln>
        </p:spPr>
      </p:sp>
      <p:sp>
        <p:nvSpPr>
          <p:cNvPr id="623" name="L623"/>
          <p:cNvSpPr/>
          <p:nvPr/>
        </p:nvSpPr>
        <p:spPr>
          <a:xfrm>
            <a:off x="676275" y="5450383"/>
            <a:ext cx="9525" cy="68580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624" name="T624"/>
          <p:cNvSpPr txBox="1"/>
          <p:nvPr/>
        </p:nvSpPr>
        <p:spPr>
          <a:xfrm>
            <a:off x="819150" y="5450383"/>
            <a:ext cx="10996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迁移间隙比 TGR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25" name="T625"/>
          <p:cNvSpPr txBox="1"/>
          <p:nvPr/>
        </p:nvSpPr>
        <p:spPr>
          <a:xfrm>
            <a:off x="819150" y="5678983"/>
            <a:ext cx="184576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均&gt;1，符号公式具有泛化价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26" name="T626"/>
          <p:cNvSpPr txBox="1"/>
          <p:nvPr/>
        </p:nvSpPr>
        <p:spPr>
          <a:xfrm>
            <a:off x="819150" y="5907583"/>
            <a:ext cx="152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值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27" name="R627"/>
          <p:cNvSpPr/>
          <p:nvPr/>
        </p:nvSpPr>
        <p:spPr>
          <a:xfrm>
            <a:off x="2924175" y="5465564"/>
            <a:ext cx="920650" cy="655290"/>
          </a:xfrm>
          <a:prstGeom prst="roundRect">
            <a:avLst>
              <a:gd name="adj" fmla="val 5814"/>
            </a:avLst>
          </a:prstGeom>
          <a:solidFill>
            <a:srgbClr val="2563EB">
              <a:alpha val="4000"/>
            </a:srgbClr>
          </a:solidFill>
        </p:spPr>
      </p:sp>
      <p:sp>
        <p:nvSpPr>
          <p:cNvPr id="628" name="T628"/>
          <p:cNvSpPr txBox="1"/>
          <p:nvPr/>
        </p:nvSpPr>
        <p:spPr>
          <a:xfrm>
            <a:off x="3123902" y="5522714"/>
            <a:ext cx="52104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2.569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629" name="T629"/>
          <p:cNvSpPr txBox="1"/>
          <p:nvPr/>
        </p:nvSpPr>
        <p:spPr>
          <a:xfrm>
            <a:off x="3232100" y="5808464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负荷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30" name="R630"/>
          <p:cNvSpPr/>
          <p:nvPr/>
        </p:nvSpPr>
        <p:spPr>
          <a:xfrm>
            <a:off x="3940075" y="5465564"/>
            <a:ext cx="920799" cy="655290"/>
          </a:xfrm>
          <a:prstGeom prst="roundRect">
            <a:avLst>
              <a:gd name="adj" fmla="val 5814"/>
            </a:avLst>
          </a:prstGeom>
          <a:solidFill>
            <a:srgbClr val="2563EB">
              <a:alpha val="4000"/>
            </a:srgbClr>
          </a:solidFill>
        </p:spPr>
      </p:sp>
      <p:sp>
        <p:nvSpPr>
          <p:cNvPr id="631" name="T631"/>
          <p:cNvSpPr txBox="1"/>
          <p:nvPr/>
        </p:nvSpPr>
        <p:spPr>
          <a:xfrm>
            <a:off x="4139951" y="5522714"/>
            <a:ext cx="52104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1.401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632" name="T632"/>
          <p:cNvSpPr txBox="1"/>
          <p:nvPr/>
        </p:nvSpPr>
        <p:spPr>
          <a:xfrm>
            <a:off x="4248001" y="5808464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风电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33" name="R633"/>
          <p:cNvSpPr/>
          <p:nvPr/>
        </p:nvSpPr>
        <p:spPr>
          <a:xfrm>
            <a:off x="4956125" y="5465564"/>
            <a:ext cx="920799" cy="655290"/>
          </a:xfrm>
          <a:prstGeom prst="roundRect">
            <a:avLst>
              <a:gd name="adj" fmla="val 5814"/>
            </a:avLst>
          </a:prstGeom>
          <a:solidFill>
            <a:srgbClr val="2563EB">
              <a:alpha val="4000"/>
            </a:srgbClr>
          </a:solidFill>
        </p:spPr>
      </p:sp>
      <p:sp>
        <p:nvSpPr>
          <p:cNvPr id="634" name="T634"/>
          <p:cNvSpPr txBox="1"/>
          <p:nvPr/>
        </p:nvSpPr>
        <p:spPr>
          <a:xfrm>
            <a:off x="5156001" y="5522714"/>
            <a:ext cx="52104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563EB"/>
                </a:solidFill>
                <a:latin typeface="Noto Sans SC"/>
                <a:ea typeface="Noto Sans SC"/>
              </a:rPr>
              <a:t>2.302</a:t>
            </a:r>
            <a:endParaRPr lang="zh-CN" sz="150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635" name="T635"/>
          <p:cNvSpPr txBox="1"/>
          <p:nvPr/>
        </p:nvSpPr>
        <p:spPr>
          <a:xfrm>
            <a:off x="5264050" y="5808464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光伏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36" name="L636"/>
          <p:cNvSpPr/>
          <p:nvPr/>
        </p:nvSpPr>
        <p:spPr>
          <a:xfrm>
            <a:off x="6029325" y="5328642"/>
            <a:ext cx="9525" cy="929282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647" name="T647"/>
          <p:cNvSpPr txBox="1"/>
          <p:nvPr/>
        </p:nvSpPr>
        <p:spPr>
          <a:xfrm>
            <a:off x="457200" y="190500"/>
            <a:ext cx="15820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2563EB"/>
                </a:solidFill>
                <a:latin typeface="Noto Sans SC"/>
                <a:ea typeface="Noto Sans SC"/>
              </a:rPr>
              <a:t>步骤6 / 六步实验探索</a:t>
            </a:r>
            <a:endParaRPr lang="zh-CN" sz="12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648" name="T648"/>
          <p:cNvSpPr txBox="1"/>
          <p:nvPr/>
        </p:nvSpPr>
        <p:spPr>
          <a:xfrm>
            <a:off x="457200" y="419100"/>
            <a:ext cx="5391001" cy="400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100" b="1" dirty="0">
                <a:solidFill>
                  <a:srgbClr val="212529"/>
                </a:solidFill>
                <a:latin typeface="Noto Sans SC"/>
                <a:ea typeface="Noto Sans SC"/>
              </a:rPr>
              <a:t>S3结构化分解——精度零代价下恢复可解释性</a:t>
            </a:r>
            <a:endParaRPr lang="zh-CN" sz="21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49" name="T649"/>
          <p:cNvSpPr txBox="1"/>
          <p:nvPr/>
        </p:nvSpPr>
        <p:spPr>
          <a:xfrm>
            <a:off x="457200" y="6457950"/>
            <a:ext cx="23047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50" name="T650"/>
          <p:cNvSpPr txBox="1"/>
          <p:nvPr/>
        </p:nvSpPr>
        <p:spPr>
          <a:xfrm>
            <a:off x="11257657" y="6457950"/>
            <a:ext cx="4771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10 / 12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51" name="R651"/>
          <p:cNvSpPr/>
          <p:nvPr/>
        </p:nvSpPr>
        <p:spPr>
          <a:xfrm>
            <a:off x="419100" y="723900"/>
            <a:ext cx="28575" cy="1143000"/>
          </a:xfrm>
          <a:prstGeom prst="roundRect">
            <a:avLst>
              <a:gd name="adj" fmla="val 49998"/>
            </a:avLst>
          </a:prstGeom>
          <a:solidFill>
            <a:srgbClr val="2563EB"/>
          </a:solidFill>
        </p:spPr>
      </p:sp>
      <p:sp>
        <p:nvSpPr>
          <p:cNvPr id="653" name="R653"/>
          <p:cNvSpPr/>
          <p:nvPr/>
        </p:nvSpPr>
        <p:spPr>
          <a:xfrm>
            <a:off x="523875" y="828675"/>
            <a:ext cx="11144250" cy="1219200"/>
          </a:xfrm>
          <a:prstGeom prst="roundRect">
            <a:avLst>
              <a:gd name="adj" fmla="val 4687"/>
            </a:avLst>
          </a:prstGeom>
          <a:gradFill>
            <a:gsLst>
              <a:gs pos="0">
                <a:srgbClr val="2563EB"/>
              </a:gs>
              <a:gs pos="100000">
                <a:srgbClr val="1D4ED8"/>
              </a:gs>
            </a:gsLst>
            <a:lin ang="2700000" scaled="0"/>
          </a:gradFill>
        </p:spPr>
      </p:sp>
      <p:sp>
        <p:nvSpPr>
          <p:cNvPr id="654" name="T654"/>
          <p:cNvSpPr txBox="1"/>
          <p:nvPr/>
        </p:nvSpPr>
        <p:spPr>
          <a:xfrm>
            <a:off x="771525" y="990600"/>
            <a:ext cx="571500" cy="8572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500" b="1" dirty="0">
                <a:solidFill>
                  <a:srgbClr val="FFFFFF">
                    <a:alpha val="15000"/>
                  </a:srgbClr>
                </a:solidFill>
                <a:latin typeface="Noto Sans SC"/>
                <a:ea typeface="Noto Sans SC"/>
              </a:rPr>
              <a:t>“</a:t>
            </a:r>
            <a:endParaRPr lang="zh-CN" sz="4500" b="1" dirty="0">
              <a:solidFill>
                <a:srgbClr val="FFFFFF">
                  <a:alpha val="15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655" name="L655"/>
          <p:cNvSpPr/>
          <p:nvPr/>
        </p:nvSpPr>
        <p:spPr>
          <a:xfrm>
            <a:off x="1495425" y="1122015"/>
            <a:ext cx="9525" cy="632370"/>
          </a:xfrm>
          <a:prstGeom prst="line">
            <a:avLst/>
          </a:prstGeom>
          <a:noFill/>
          <a:ln w="38100">
            <a:solidFill>
              <a:srgbClr val="FFFFFF">
                <a:alpha val="50000"/>
              </a:srgbClr>
            </a:solidFill>
          </a:ln>
        </p:spPr>
      </p:sp>
      <p:sp>
        <p:nvSpPr>
          <p:cNvPr id="656" name="T656"/>
          <p:cNvSpPr txBox="1"/>
          <p:nvPr/>
        </p:nvSpPr>
        <p:spPr>
          <a:xfrm>
            <a:off x="1638300" y="1102965"/>
            <a:ext cx="116591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FFFFFF"/>
                </a:solidFill>
                <a:latin typeface="Noto Sans SC"/>
                <a:ea typeface="Noto Sans SC"/>
              </a:rPr>
              <a:t>分解即解决</a:t>
            </a:r>
            <a:endParaRPr lang="zh-CN" sz="1800" b="1" dirty="0">
              <a:solidFill>
                <a:srgbClr val="FFFFFF"/>
              </a:solidFill>
              <a:latin typeface="Noto Sans SC"/>
              <a:ea typeface="Noto Sans SC"/>
            </a:endParaRPr>
          </a:p>
        </p:txBody>
      </p:sp>
      <p:sp>
        <p:nvSpPr>
          <p:cNvPr id="657" name="T657"/>
          <p:cNvSpPr txBox="1"/>
          <p:nvPr/>
        </p:nvSpPr>
        <p:spPr>
          <a:xfrm>
            <a:off x="1638300" y="1518195"/>
            <a:ext cx="789190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FFFFFF">
                    <a:alpha val="88000"/>
                  </a:srgbClr>
                </a:solidFill>
                <a:latin typeface="Noto Sans SC"/>
                <a:ea typeface="Noto Sans SC"/>
              </a:rPr>
              <a:t>将净负荷分解为负荷/风电/光伏三子任务，物理变量在各自主场不再被滞后项压制——精度零代价，可解释性全面恢复</a:t>
            </a:r>
            <a:endParaRPr lang="zh-CN" sz="1200" dirty="0">
              <a:solidFill>
                <a:srgbClr val="FFFFFF">
                  <a:alpha val="88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658" name="R658"/>
          <p:cNvSpPr/>
          <p:nvPr/>
        </p:nvSpPr>
        <p:spPr>
          <a:xfrm>
            <a:off x="523875" y="2200275"/>
            <a:ext cx="5530215" cy="2995295"/>
          </a:xfrm>
          <a:prstGeom prst="roundRect">
            <a:avLst>
              <a:gd name="adj" fmla="val 1692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</p:sp>
      <p:sp>
        <p:nvSpPr>
          <p:cNvPr id="659" name="R659"/>
          <p:cNvSpPr/>
          <p:nvPr/>
        </p:nvSpPr>
        <p:spPr>
          <a:xfrm>
            <a:off x="723900" y="2381250"/>
            <a:ext cx="881062" cy="285750"/>
          </a:xfrm>
          <a:prstGeom prst="roundRect">
            <a:avLst>
              <a:gd name="adj" fmla="val 10000"/>
            </a:avLst>
          </a:prstGeom>
          <a:solidFill>
            <a:srgbClr val="F1F3F5"/>
          </a:solidFill>
        </p:spPr>
      </p:sp>
      <p:sp>
        <p:nvSpPr>
          <p:cNvPr id="660" name="T660"/>
          <p:cNvSpPr txBox="1"/>
          <p:nvPr/>
        </p:nvSpPr>
        <p:spPr>
          <a:xfrm>
            <a:off x="819150" y="2409825"/>
            <a:ext cx="69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6B7280"/>
                </a:solidFill>
                <a:latin typeface="Noto Sans SC"/>
                <a:ea typeface="Noto Sans SC"/>
              </a:rPr>
              <a:t>BEFORE</a:t>
            </a:r>
            <a:endParaRPr lang="zh-CN" sz="1200" b="1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1" name="T661"/>
          <p:cNvSpPr txBox="1"/>
          <p:nvPr/>
        </p:nvSpPr>
        <p:spPr>
          <a:xfrm>
            <a:off x="1677144" y="2409825"/>
            <a:ext cx="90874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直接KAN建模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2" name="L662"/>
          <p:cNvSpPr/>
          <p:nvPr/>
        </p:nvSpPr>
        <p:spPr>
          <a:xfrm>
            <a:off x="723900" y="2838450"/>
            <a:ext cx="9525" cy="27801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663" name="T663"/>
          <p:cNvSpPr txBox="1"/>
          <p:nvPr/>
        </p:nvSpPr>
        <p:spPr>
          <a:xfrm>
            <a:off x="866775" y="2819400"/>
            <a:ext cx="6858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精度对比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64" name="T664"/>
          <p:cNvSpPr txBox="1"/>
          <p:nvPr/>
        </p:nvSpPr>
        <p:spPr>
          <a:xfrm>
            <a:off x="1510010" y="3164085"/>
            <a:ext cx="89936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6B7280"/>
                </a:solidFill>
                <a:latin typeface="Noto Sans SC"/>
                <a:ea typeface="Noto Sans SC"/>
              </a:rPr>
              <a:t>1413.51</a:t>
            </a:r>
            <a:endParaRPr lang="zh-CN" sz="1800" b="1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5" name="T665"/>
          <p:cNvSpPr txBox="1"/>
          <p:nvPr/>
        </p:nvSpPr>
        <p:spPr>
          <a:xfrm>
            <a:off x="1561802" y="3505051"/>
            <a:ext cx="7959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RMSE (MW)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6" name="T666"/>
          <p:cNvSpPr txBox="1"/>
          <p:nvPr/>
        </p:nvSpPr>
        <p:spPr>
          <a:xfrm>
            <a:off x="4271218" y="3164085"/>
            <a:ext cx="625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6B7280"/>
                </a:solidFill>
                <a:latin typeface="Noto Sans SC"/>
                <a:ea typeface="Noto Sans SC"/>
              </a:rPr>
              <a:t>0.453</a:t>
            </a:r>
            <a:endParaRPr lang="zh-CN" sz="1800" b="1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7" name="T667"/>
          <p:cNvSpPr txBox="1"/>
          <p:nvPr/>
        </p:nvSpPr>
        <p:spPr>
          <a:xfrm>
            <a:off x="4432101" y="3505051"/>
            <a:ext cx="3036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68" name="L668"/>
          <p:cNvSpPr/>
          <p:nvPr/>
        </p:nvSpPr>
        <p:spPr>
          <a:xfrm>
            <a:off x="723900" y="3809851"/>
            <a:ext cx="5095875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669" name="T669"/>
          <p:cNvSpPr txBox="1"/>
          <p:nvPr/>
        </p:nvSpPr>
        <p:spPr>
          <a:xfrm>
            <a:off x="2738437" y="3876526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DC2626"/>
                </a:solidFill>
                <a:latin typeface="Noto Sans SC"/>
                <a:ea typeface="Noto Sans SC"/>
              </a:rPr>
              <a:t>物理量全部消失</a:t>
            </a:r>
            <a:endParaRPr lang="zh-CN" sz="1200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670" name="R670"/>
          <p:cNvSpPr/>
          <p:nvPr/>
        </p:nvSpPr>
        <p:spPr>
          <a:xfrm>
            <a:off x="723900" y="4238476"/>
            <a:ext cx="5095875" cy="678060"/>
          </a:xfrm>
          <a:prstGeom prst="roundRect">
            <a:avLst>
              <a:gd name="adj" fmla="val 5618"/>
            </a:avLst>
          </a:prstGeom>
          <a:solidFill>
            <a:srgbClr val="DC2626">
              <a:alpha val="6000"/>
            </a:srgbClr>
          </a:solidFill>
        </p:spPr>
      </p:sp>
      <p:sp>
        <p:nvSpPr>
          <p:cNvPr id="671" name="T671"/>
          <p:cNvSpPr txBox="1"/>
          <p:nvPr/>
        </p:nvSpPr>
        <p:spPr>
          <a:xfrm>
            <a:off x="3105745" y="4295626"/>
            <a:ext cx="332184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DC2626"/>
                </a:solidFill>
                <a:latin typeface="Noto Sans SC"/>
                <a:ea typeface="Noto Sans SC"/>
              </a:rPr>
              <a:t>0/9</a:t>
            </a:r>
            <a:endParaRPr lang="zh-CN" sz="1650" b="1" dirty="0">
              <a:solidFill>
                <a:srgbClr val="DC2626"/>
              </a:solidFill>
              <a:latin typeface="Noto Sans SC"/>
              <a:ea typeface="Noto Sans SC"/>
            </a:endParaRPr>
          </a:p>
        </p:txBody>
      </p:sp>
      <p:sp>
        <p:nvSpPr>
          <p:cNvPr id="672" name="T672"/>
          <p:cNvSpPr txBox="1"/>
          <p:nvPr/>
        </p:nvSpPr>
        <p:spPr>
          <a:xfrm>
            <a:off x="2837408" y="4604146"/>
            <a:ext cx="8687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VER (物理量)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74" name="R674"/>
          <p:cNvSpPr/>
          <p:nvPr/>
        </p:nvSpPr>
        <p:spPr>
          <a:xfrm>
            <a:off x="6209030" y="2200275"/>
            <a:ext cx="5459095" cy="3023235"/>
          </a:xfrm>
          <a:prstGeom prst="roundRect">
            <a:avLst>
              <a:gd name="adj" fmla="val 1692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675" name="R675"/>
          <p:cNvSpPr/>
          <p:nvPr/>
        </p:nvSpPr>
        <p:spPr>
          <a:xfrm>
            <a:off x="6372225" y="2381250"/>
            <a:ext cx="746521" cy="285750"/>
          </a:xfrm>
          <a:prstGeom prst="roundRect">
            <a:avLst>
              <a:gd name="adj" fmla="val 10000"/>
            </a:avLst>
          </a:prstGeom>
          <a:solidFill>
            <a:srgbClr val="059669">
              <a:alpha val="10000"/>
            </a:srgbClr>
          </a:solidFill>
        </p:spPr>
      </p:sp>
      <p:sp>
        <p:nvSpPr>
          <p:cNvPr id="676" name="T676"/>
          <p:cNvSpPr txBox="1"/>
          <p:nvPr/>
        </p:nvSpPr>
        <p:spPr>
          <a:xfrm>
            <a:off x="6467475" y="2409825"/>
            <a:ext cx="5560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059669"/>
                </a:solidFill>
                <a:latin typeface="Noto Sans SC"/>
                <a:ea typeface="Noto Sans SC"/>
              </a:rPr>
              <a:t>AFTER</a:t>
            </a:r>
            <a:endParaRPr lang="zh-CN" sz="12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77" name="T677"/>
          <p:cNvSpPr txBox="1"/>
          <p:nvPr/>
        </p:nvSpPr>
        <p:spPr>
          <a:xfrm>
            <a:off x="7190928" y="2409825"/>
            <a:ext cx="9376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059669"/>
                </a:solidFill>
                <a:latin typeface="Noto Sans SC"/>
                <a:ea typeface="Noto Sans SC"/>
              </a:rPr>
              <a:t>S3结构化分解</a:t>
            </a:r>
            <a:endParaRPr lang="zh-CN" sz="12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78" name="L678"/>
          <p:cNvSpPr/>
          <p:nvPr/>
        </p:nvSpPr>
        <p:spPr>
          <a:xfrm>
            <a:off x="6372225" y="2838450"/>
            <a:ext cx="9525" cy="27801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679" name="T679"/>
          <p:cNvSpPr txBox="1"/>
          <p:nvPr/>
        </p:nvSpPr>
        <p:spPr>
          <a:xfrm>
            <a:off x="6515100" y="2819400"/>
            <a:ext cx="1028700" cy="2571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50" b="1" dirty="0">
                <a:solidFill>
                  <a:srgbClr val="212529"/>
                </a:solidFill>
                <a:latin typeface="Noto Sans SC"/>
                <a:ea typeface="Noto Sans SC"/>
              </a:rPr>
              <a:t>可辨识性逆转</a:t>
            </a:r>
            <a:endParaRPr lang="zh-CN" sz="13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80" name="T680"/>
          <p:cNvSpPr txBox="1"/>
          <p:nvPr/>
        </p:nvSpPr>
        <p:spPr>
          <a:xfrm>
            <a:off x="7158335" y="3164085"/>
            <a:ext cx="89936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059669"/>
                </a:solidFill>
                <a:latin typeface="Noto Sans SC"/>
                <a:ea typeface="Noto Sans SC"/>
              </a:rPr>
              <a:t>1407.35</a:t>
            </a:r>
            <a:endParaRPr lang="zh-CN" sz="18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81" name="T681"/>
          <p:cNvSpPr txBox="1"/>
          <p:nvPr/>
        </p:nvSpPr>
        <p:spPr>
          <a:xfrm>
            <a:off x="7210127" y="3505051"/>
            <a:ext cx="79593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RMSE (MW)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82" name="T682"/>
          <p:cNvSpPr txBox="1"/>
          <p:nvPr/>
        </p:nvSpPr>
        <p:spPr>
          <a:xfrm>
            <a:off x="9919543" y="3164085"/>
            <a:ext cx="625375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059669"/>
                </a:solidFill>
                <a:latin typeface="Noto Sans SC"/>
                <a:ea typeface="Noto Sans SC"/>
              </a:rPr>
              <a:t>0.456</a:t>
            </a:r>
            <a:endParaRPr lang="zh-CN" sz="18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83" name="T683"/>
          <p:cNvSpPr txBox="1"/>
          <p:nvPr/>
        </p:nvSpPr>
        <p:spPr>
          <a:xfrm>
            <a:off x="10080426" y="3505051"/>
            <a:ext cx="30360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Skill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84" name="L684"/>
          <p:cNvSpPr/>
          <p:nvPr/>
        </p:nvSpPr>
        <p:spPr>
          <a:xfrm>
            <a:off x="6372225" y="3809851"/>
            <a:ext cx="5095875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685" name="T685"/>
          <p:cNvSpPr txBox="1"/>
          <p:nvPr/>
        </p:nvSpPr>
        <p:spPr>
          <a:xfrm>
            <a:off x="8234362" y="387652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059669"/>
                </a:solidFill>
                <a:latin typeface="Noto Sans SC"/>
                <a:ea typeface="Noto Sans SC"/>
              </a:rPr>
              <a:t>物理量全面回归公式</a:t>
            </a:r>
            <a:endParaRPr lang="zh-CN" sz="12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86" name="R686"/>
          <p:cNvSpPr/>
          <p:nvPr/>
        </p:nvSpPr>
        <p:spPr>
          <a:xfrm>
            <a:off x="6372225" y="4238476"/>
            <a:ext cx="1647825" cy="853380"/>
          </a:xfrm>
          <a:prstGeom prst="roundRect">
            <a:avLst>
              <a:gd name="adj" fmla="val 4464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687" name="T687"/>
          <p:cNvSpPr txBox="1"/>
          <p:nvPr/>
        </p:nvSpPr>
        <p:spPr>
          <a:xfrm>
            <a:off x="7045076" y="4295626"/>
            <a:ext cx="3019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  <a:endParaRPr lang="zh-CN" sz="15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88" name="T688"/>
          <p:cNvSpPr txBox="1"/>
          <p:nvPr/>
        </p:nvSpPr>
        <p:spPr>
          <a:xfrm>
            <a:off x="6893272" y="4581376"/>
            <a:ext cx="6055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负荷 FAR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89" name="T689"/>
          <p:cNvSpPr txBox="1"/>
          <p:nvPr/>
        </p:nvSpPr>
        <p:spPr>
          <a:xfrm>
            <a:off x="6837759" y="4779466"/>
            <a:ext cx="7166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(hdd_18c)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90" name="R690"/>
          <p:cNvSpPr/>
          <p:nvPr/>
        </p:nvSpPr>
        <p:spPr>
          <a:xfrm>
            <a:off x="8096250" y="4238476"/>
            <a:ext cx="1647825" cy="853380"/>
          </a:xfrm>
          <a:prstGeom prst="roundRect">
            <a:avLst>
              <a:gd name="adj" fmla="val 4464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691" name="T691"/>
          <p:cNvSpPr txBox="1"/>
          <p:nvPr/>
        </p:nvSpPr>
        <p:spPr>
          <a:xfrm>
            <a:off x="8769101" y="4295626"/>
            <a:ext cx="3019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  <a:endParaRPr lang="zh-CN" sz="15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92" name="T692"/>
          <p:cNvSpPr txBox="1"/>
          <p:nvPr/>
        </p:nvSpPr>
        <p:spPr>
          <a:xfrm>
            <a:off x="8617297" y="4581376"/>
            <a:ext cx="6055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风电 FAR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93" name="T693"/>
          <p:cNvSpPr txBox="1"/>
          <p:nvPr/>
        </p:nvSpPr>
        <p:spPr>
          <a:xfrm>
            <a:off x="8435726" y="4779466"/>
            <a:ext cx="96887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(wind_speed)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94" name="R694"/>
          <p:cNvSpPr/>
          <p:nvPr/>
        </p:nvSpPr>
        <p:spPr>
          <a:xfrm>
            <a:off x="9820275" y="4238476"/>
            <a:ext cx="1647825" cy="853380"/>
          </a:xfrm>
          <a:prstGeom prst="roundRect">
            <a:avLst>
              <a:gd name="adj" fmla="val 4464"/>
            </a:avLst>
          </a:prstGeom>
          <a:solidFill>
            <a:srgbClr val="059669">
              <a:alpha val="6000"/>
            </a:srgbClr>
          </a:solidFill>
        </p:spPr>
      </p:sp>
      <p:sp>
        <p:nvSpPr>
          <p:cNvPr id="695" name="T695"/>
          <p:cNvSpPr txBox="1"/>
          <p:nvPr/>
        </p:nvSpPr>
        <p:spPr>
          <a:xfrm>
            <a:off x="10493126" y="4295626"/>
            <a:ext cx="301972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059669"/>
                </a:solidFill>
                <a:latin typeface="Noto Sans SC"/>
                <a:ea typeface="Noto Sans SC"/>
              </a:rPr>
              <a:t>3/3</a:t>
            </a:r>
            <a:endParaRPr lang="zh-CN" sz="1500" b="1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696" name="T696"/>
          <p:cNvSpPr txBox="1"/>
          <p:nvPr/>
        </p:nvSpPr>
        <p:spPr>
          <a:xfrm>
            <a:off x="10341322" y="4581376"/>
            <a:ext cx="6055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光伏 FAR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697" name="T697"/>
          <p:cNvSpPr txBox="1"/>
          <p:nvPr/>
        </p:nvSpPr>
        <p:spPr>
          <a:xfrm>
            <a:off x="10482411" y="4779466"/>
            <a:ext cx="3235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(ghi)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2" name="T650"/>
          <p:cNvSpPr txBox="1"/>
          <p:nvPr/>
        </p:nvSpPr>
        <p:spPr>
          <a:xfrm>
            <a:off x="6238240" y="5465802"/>
            <a:ext cx="3310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三条子公式已生成（过长不贴图）。负荷子式包含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3" name="T651"/>
          <p:cNvSpPr txBox="1"/>
          <p:nvPr/>
        </p:nvSpPr>
        <p:spPr>
          <a:xfrm>
            <a:off x="9636551" y="5465802"/>
            <a:ext cx="64040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hdd_18c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52" name="T652"/>
          <p:cNvSpPr txBox="1"/>
          <p:nvPr/>
        </p:nvSpPr>
        <p:spPr>
          <a:xfrm>
            <a:off x="10189329" y="546580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（温度代理）；光伏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4" name="T653"/>
          <p:cNvSpPr txBox="1"/>
          <p:nvPr/>
        </p:nvSpPr>
        <p:spPr>
          <a:xfrm>
            <a:off x="6203315" y="5694918"/>
            <a:ext cx="6436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子式包含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5" name="T654"/>
          <p:cNvSpPr txBox="1"/>
          <p:nvPr/>
        </p:nvSpPr>
        <p:spPr>
          <a:xfrm>
            <a:off x="6881921" y="5686663"/>
            <a:ext cx="19932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ghi_w_m2 + solar_altitude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6" name="T655"/>
          <p:cNvSpPr txBox="1"/>
          <p:nvPr/>
        </p:nvSpPr>
        <p:spPr>
          <a:xfrm>
            <a:off x="8875176" y="5686663"/>
            <a:ext cx="110088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；风电子式包含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7" name="T656"/>
          <p:cNvSpPr txBox="1"/>
          <p:nvPr/>
        </p:nvSpPr>
        <p:spPr>
          <a:xfrm>
            <a:off x="9976058" y="5686663"/>
            <a:ext cx="155317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wind_speed 及其物理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8" name="T657"/>
          <p:cNvSpPr txBox="1"/>
          <p:nvPr/>
        </p:nvSpPr>
        <p:spPr>
          <a:xfrm>
            <a:off x="6238240" y="5907524"/>
            <a:ext cx="3048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212529"/>
                </a:solidFill>
                <a:latin typeface="Noto Sans SC"/>
                <a:ea typeface="Noto Sans SC"/>
              </a:rPr>
              <a:t>变换</a:t>
            </a:r>
            <a:endParaRPr lang="zh-CN" sz="12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9" name="T658"/>
          <p:cNvSpPr txBox="1"/>
          <p:nvPr/>
        </p:nvSpPr>
        <p:spPr>
          <a:xfrm>
            <a:off x="6543040" y="5907524"/>
            <a:ext cx="349344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dirty="0">
                <a:solidFill>
                  <a:srgbClr val="6B7280"/>
                </a:solidFill>
                <a:latin typeface="Noto Sans SC"/>
                <a:ea typeface="Noto Sans SC"/>
              </a:rPr>
              <a:t>。三者目标物理量 FAR 均为 3/3，与物理预期一致。</a:t>
            </a:r>
            <a:endParaRPr lang="zh-CN" sz="12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5F8FD"/>
            </a:gs>
            <a:gs pos="100000">
              <a:srgbClr val="EEF4F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699" name="R699"/>
          <p:cNvSpPr/>
          <p:nvPr/>
        </p:nvSpPr>
        <p:spPr>
          <a:xfrm>
            <a:off x="9525" y="771525"/>
            <a:ext cx="28575" cy="5334000"/>
          </a:xfrm>
          <a:prstGeom prst="rect">
            <a:avLst/>
          </a:prstGeom>
          <a:solidFill>
            <a:srgbClr val="2563EB">
              <a:alpha val="60000"/>
            </a:srgbClr>
          </a:solidFill>
        </p:spPr>
      </p:sp>
      <p:sp>
        <p:nvSpPr>
          <p:cNvPr id="700" name="T700"/>
          <p:cNvSpPr txBox="1"/>
          <p:nvPr/>
        </p:nvSpPr>
        <p:spPr>
          <a:xfrm>
            <a:off x="542925" y="190500"/>
            <a:ext cx="217750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563EB">
                    <a:alpha val="80000"/>
                  </a:srgbClr>
                </a:solidFill>
                <a:latin typeface="Noto Sans SC"/>
                <a:ea typeface="Noto Sans SC"/>
              </a:rPr>
              <a:t>PART 4 · 总结与展望</a:t>
            </a:r>
            <a:endParaRPr lang="zh-CN" sz="1500" dirty="0">
              <a:solidFill>
                <a:srgbClr val="2563EB">
                  <a:alpha val="8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01" name="T701"/>
          <p:cNvSpPr txBox="1"/>
          <p:nvPr/>
        </p:nvSpPr>
        <p:spPr>
          <a:xfrm>
            <a:off x="542925" y="476250"/>
            <a:ext cx="2228850" cy="3714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50" b="1" dirty="0">
                <a:solidFill>
                  <a:srgbClr val="212529"/>
                </a:solidFill>
                <a:latin typeface="Noto Sans SC"/>
                <a:ea typeface="Noto Sans SC"/>
              </a:rPr>
              <a:t>当前进展与后续计划</a:t>
            </a:r>
            <a:endParaRPr lang="zh-CN" sz="19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02" name="R702"/>
          <p:cNvSpPr/>
          <p:nvPr/>
        </p:nvSpPr>
        <p:spPr>
          <a:xfrm>
            <a:off x="428625" y="828675"/>
            <a:ext cx="11334750" cy="5486400"/>
          </a:xfrm>
          <a:prstGeom prst="roundRect">
            <a:avLst>
              <a:gd name="adj" fmla="val 1736"/>
            </a:avLst>
          </a:prstGeom>
          <a:gradFill>
            <a:gsLst>
              <a:gs pos="0">
                <a:srgbClr val="FFFFFF">
                  <a:alpha val="72000"/>
                </a:srgbClr>
              </a:gs>
              <a:gs pos="100000">
                <a:srgbClr val="F6F8FB">
                  <a:alpha val="94000"/>
                </a:srgbClr>
              </a:gs>
            </a:gsLst>
            <a:lin ang="0" scaled="0"/>
          </a:gradFill>
          <a:ln w="12700">
            <a:solidFill>
              <a:srgbClr val="2563EB">
                <a:alpha val="8000"/>
              </a:srgbClr>
            </a:solidFill>
          </a:ln>
        </p:spPr>
      </p:sp>
      <p:sp>
        <p:nvSpPr>
          <p:cNvPr id="703" name="R703"/>
          <p:cNvSpPr/>
          <p:nvPr/>
        </p:nvSpPr>
        <p:spPr>
          <a:xfrm>
            <a:off x="609600" y="990600"/>
            <a:ext cx="10972800" cy="1752600"/>
          </a:xfrm>
          <a:prstGeom prst="roundRect">
            <a:avLst>
              <a:gd name="adj" fmla="val 3260"/>
            </a:avLst>
          </a:prstGeom>
          <a:gradFill>
            <a:gsLst>
              <a:gs pos="0">
                <a:srgbClr val="2563EB">
                  <a:alpha val="12000"/>
                </a:srgbClr>
              </a:gs>
              <a:gs pos="100000">
                <a:srgbClr val="2563EB">
                  <a:alpha val="5000"/>
                </a:srgbClr>
              </a:gs>
            </a:gsLst>
            <a:lin ang="2700000" scaled="0"/>
          </a:gradFill>
        </p:spPr>
      </p:sp>
      <p:sp>
        <p:nvSpPr>
          <p:cNvPr id="704" name="L704"/>
          <p:cNvSpPr/>
          <p:nvPr/>
        </p:nvSpPr>
        <p:spPr>
          <a:xfrm>
            <a:off x="609600" y="990600"/>
            <a:ext cx="10972800" cy="9525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705" name="L705"/>
          <p:cNvSpPr/>
          <p:nvPr/>
        </p:nvSpPr>
        <p:spPr>
          <a:xfrm>
            <a:off x="609600" y="2743200"/>
            <a:ext cx="10972800" cy="9525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706" name="L706"/>
          <p:cNvSpPr/>
          <p:nvPr/>
        </p:nvSpPr>
        <p:spPr>
          <a:xfrm>
            <a:off x="11582400" y="990600"/>
            <a:ext cx="9525" cy="1752600"/>
          </a:xfrm>
          <a:prstGeom prst="line">
            <a:avLst/>
          </a:prstGeom>
          <a:noFill/>
          <a:ln w="12700">
            <a:solidFill>
              <a:srgbClr val="2563EB">
                <a:alpha val="20000"/>
              </a:srgbClr>
            </a:solidFill>
          </a:ln>
        </p:spPr>
      </p:sp>
      <p:sp>
        <p:nvSpPr>
          <p:cNvPr id="707" name="L707"/>
          <p:cNvSpPr/>
          <p:nvPr/>
        </p:nvSpPr>
        <p:spPr>
          <a:xfrm>
            <a:off x="609600" y="990600"/>
            <a:ext cx="9525" cy="1752600"/>
          </a:xfrm>
          <a:prstGeom prst="line">
            <a:avLst/>
          </a:prstGeom>
          <a:noFill/>
          <a:ln w="38100">
            <a:solidFill>
              <a:srgbClr val="2563EB"/>
            </a:solidFill>
          </a:ln>
        </p:spPr>
      </p:sp>
      <p:sp>
        <p:nvSpPr>
          <p:cNvPr id="708" name="T708"/>
          <p:cNvSpPr txBox="1"/>
          <p:nvPr/>
        </p:nvSpPr>
        <p:spPr>
          <a:xfrm>
            <a:off x="904875" y="1181100"/>
            <a:ext cx="1282451" cy="3143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50" b="1" dirty="0">
                <a:solidFill>
                  <a:srgbClr val="2563EB"/>
                </a:solidFill>
                <a:latin typeface="Noto Sans SC"/>
                <a:ea typeface="Noto Sans SC"/>
              </a:rPr>
              <a:t>开题承诺兑现</a:t>
            </a:r>
            <a:endParaRPr lang="zh-CN" sz="1650" b="1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709" name="C709"/>
          <p:cNvSpPr/>
          <p:nvPr/>
        </p:nvSpPr>
        <p:spPr>
          <a:xfrm>
            <a:off x="914400" y="1647825"/>
            <a:ext cx="171450" cy="171450"/>
          </a:xfrm>
          <a:prstGeom prst="ellipse">
            <a:avLst/>
          </a:prstGeom>
          <a:solidFill>
            <a:srgbClr val="059669">
              <a:alpha val="8000"/>
            </a:srgbClr>
          </a:solidFill>
          <a:ln w="19050">
            <a:solidFill>
              <a:srgbClr val="059669"/>
            </a:solidFill>
          </a:ln>
        </p:spPr>
      </p:sp>
      <p:sp>
        <p:nvSpPr>
          <p:cNvPr id="710" name="P710"/>
          <p:cNvSpPr/>
          <p:nvPr/>
        </p:nvSpPr>
        <p:spPr>
          <a:xfrm>
            <a:off x="962025" y="1709737"/>
            <a:ext cx="76200" cy="523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4545"/>
                </a:moveTo>
                <a:lnTo>
                  <a:pt x="31250" y="100000"/>
                </a:lnTo>
                <a:lnTo>
                  <a:pt x="100000" y="0"/>
                </a:lnTo>
              </a:path>
            </a:pathLst>
          </a:custGeom>
          <a:noFill/>
          <a:ln w="22860">
            <a:solidFill>
              <a:srgbClr val="059669"/>
            </a:solidFill>
          </a:ln>
        </p:spPr>
      </p:sp>
      <p:sp>
        <p:nvSpPr>
          <p:cNvPr id="711" name="T711"/>
          <p:cNvSpPr txBox="1"/>
          <p:nvPr/>
        </p:nvSpPr>
        <p:spPr>
          <a:xfrm>
            <a:off x="1190625" y="1628775"/>
            <a:ext cx="153932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059669"/>
                </a:solidFill>
                <a:latin typeface="Noto Sans SC"/>
                <a:ea typeface="Noto Sans SC"/>
              </a:rPr>
              <a:t>可解释预测流水线</a:t>
            </a:r>
            <a:endParaRPr lang="zh-CN" sz="15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712" name="T712"/>
          <p:cNvSpPr txBox="1"/>
          <p:nvPr/>
        </p:nvSpPr>
        <p:spPr>
          <a:xfrm>
            <a:off x="1190625" y="1952625"/>
            <a:ext cx="295617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KAN教师+符号提取全链路已建成并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13" name="T713"/>
          <p:cNvSpPr txBox="1"/>
          <p:nvPr/>
        </p:nvSpPr>
        <p:spPr>
          <a:xfrm>
            <a:off x="1190625" y="2247900"/>
            <a:ext cx="381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验证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14" name="C714"/>
          <p:cNvSpPr/>
          <p:nvPr/>
        </p:nvSpPr>
        <p:spPr>
          <a:xfrm>
            <a:off x="4432249" y="1647825"/>
            <a:ext cx="171450" cy="171450"/>
          </a:xfrm>
          <a:prstGeom prst="ellipse">
            <a:avLst/>
          </a:prstGeom>
          <a:solidFill>
            <a:srgbClr val="059669">
              <a:alpha val="8000"/>
            </a:srgbClr>
          </a:solidFill>
          <a:ln w="19050">
            <a:solidFill>
              <a:srgbClr val="059669"/>
            </a:solidFill>
          </a:ln>
        </p:spPr>
      </p:sp>
      <p:sp>
        <p:nvSpPr>
          <p:cNvPr id="715" name="P715"/>
          <p:cNvSpPr/>
          <p:nvPr/>
        </p:nvSpPr>
        <p:spPr>
          <a:xfrm>
            <a:off x="4479874" y="1709737"/>
            <a:ext cx="76200" cy="523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4545"/>
                </a:moveTo>
                <a:lnTo>
                  <a:pt x="31250" y="100000"/>
                </a:lnTo>
                <a:lnTo>
                  <a:pt x="100000" y="0"/>
                </a:lnTo>
              </a:path>
            </a:pathLst>
          </a:custGeom>
          <a:noFill/>
          <a:ln w="22860">
            <a:solidFill>
              <a:srgbClr val="059669"/>
            </a:solidFill>
          </a:ln>
        </p:spPr>
      </p:sp>
      <p:sp>
        <p:nvSpPr>
          <p:cNvPr id="716" name="T716"/>
          <p:cNvSpPr txBox="1"/>
          <p:nvPr/>
        </p:nvSpPr>
        <p:spPr>
          <a:xfrm>
            <a:off x="4708475" y="1628775"/>
            <a:ext cx="153932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059669"/>
                </a:solidFill>
                <a:latin typeface="Noto Sans SC"/>
                <a:ea typeface="Noto Sans SC"/>
              </a:rPr>
              <a:t>可辨识性实证框架</a:t>
            </a:r>
            <a:endParaRPr lang="zh-CN" sz="15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717" name="T717"/>
          <p:cNvSpPr txBox="1"/>
          <p:nvPr/>
        </p:nvSpPr>
        <p:spPr>
          <a:xfrm>
            <a:off x="4708475" y="1952625"/>
            <a:ext cx="290080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VER/FAR/TGR指标体系与消融实验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18" name="T718"/>
          <p:cNvSpPr txBox="1"/>
          <p:nvPr/>
        </p:nvSpPr>
        <p:spPr>
          <a:xfrm>
            <a:off x="4708475" y="22479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已完成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19" name="C719"/>
          <p:cNvSpPr/>
          <p:nvPr/>
        </p:nvSpPr>
        <p:spPr>
          <a:xfrm>
            <a:off x="7950098" y="1647825"/>
            <a:ext cx="171450" cy="171450"/>
          </a:xfrm>
          <a:prstGeom prst="ellipse">
            <a:avLst/>
          </a:prstGeom>
          <a:solidFill>
            <a:srgbClr val="059669">
              <a:alpha val="8000"/>
            </a:srgbClr>
          </a:solidFill>
          <a:ln w="19050">
            <a:solidFill>
              <a:srgbClr val="059669"/>
            </a:solidFill>
          </a:ln>
        </p:spPr>
      </p:sp>
      <p:sp>
        <p:nvSpPr>
          <p:cNvPr id="720" name="P720"/>
          <p:cNvSpPr/>
          <p:nvPr/>
        </p:nvSpPr>
        <p:spPr>
          <a:xfrm>
            <a:off x="7997723" y="1709737"/>
            <a:ext cx="76200" cy="52387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4545"/>
                </a:moveTo>
                <a:lnTo>
                  <a:pt x="31250" y="100000"/>
                </a:lnTo>
                <a:lnTo>
                  <a:pt x="100000" y="0"/>
                </a:lnTo>
              </a:path>
            </a:pathLst>
          </a:custGeom>
          <a:noFill/>
          <a:ln w="22860">
            <a:solidFill>
              <a:srgbClr val="059669"/>
            </a:solidFill>
          </a:ln>
        </p:spPr>
      </p:sp>
      <p:sp>
        <p:nvSpPr>
          <p:cNvPr id="721" name="T721"/>
          <p:cNvSpPr txBox="1"/>
          <p:nvPr/>
        </p:nvSpPr>
        <p:spPr>
          <a:xfrm>
            <a:off x="8226325" y="1628775"/>
            <a:ext cx="1731764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059669"/>
                </a:solidFill>
                <a:latin typeface="Noto Sans SC"/>
                <a:ea typeface="Noto Sans SC"/>
              </a:rPr>
              <a:t>适用边界与权衡结论</a:t>
            </a:r>
            <a:endParaRPr lang="zh-CN" sz="15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722" name="T722"/>
          <p:cNvSpPr txBox="1"/>
          <p:nvPr/>
        </p:nvSpPr>
        <p:spPr>
          <a:xfrm>
            <a:off x="8226325" y="1952625"/>
            <a:ext cx="2992189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自回归竞争机制发现+S3分解方案验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23" name="T723"/>
          <p:cNvSpPr txBox="1"/>
          <p:nvPr/>
        </p:nvSpPr>
        <p:spPr>
          <a:xfrm>
            <a:off x="8226325" y="22479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证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24" name="R724"/>
          <p:cNvSpPr/>
          <p:nvPr/>
        </p:nvSpPr>
        <p:spPr>
          <a:xfrm>
            <a:off x="609600" y="2895600"/>
            <a:ext cx="5391150" cy="3171825"/>
          </a:xfrm>
          <a:prstGeom prst="roundRect">
            <a:avLst>
              <a:gd name="adj" fmla="val 1801"/>
            </a:avLst>
          </a:prstGeom>
          <a:gradFill>
            <a:gsLst>
              <a:gs pos="0">
                <a:srgbClr val="FFFFFF"/>
              </a:gs>
              <a:gs pos="100000">
                <a:srgbClr val="F8F9FA"/>
              </a:gs>
            </a:gsLst>
            <a:lin ang="0" scaled="0"/>
          </a:gradFill>
          <a:ln w="12700">
            <a:solidFill>
              <a:srgbClr val="DEE2E6"/>
            </a:solidFill>
          </a:ln>
        </p:spPr>
      </p:sp>
      <p:sp>
        <p:nvSpPr>
          <p:cNvPr id="725" name="R725"/>
          <p:cNvSpPr/>
          <p:nvPr/>
        </p:nvSpPr>
        <p:spPr>
          <a:xfrm>
            <a:off x="847725" y="3214687"/>
            <a:ext cx="76200" cy="76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726" name="T726"/>
          <p:cNvSpPr txBox="1"/>
          <p:nvPr/>
        </p:nvSpPr>
        <p:spPr>
          <a:xfrm>
            <a:off x="1000125" y="3105150"/>
            <a:ext cx="952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12529"/>
                </a:solidFill>
                <a:latin typeface="Noto Sans SC"/>
                <a:ea typeface="Noto Sans SC"/>
              </a:rPr>
              <a:t>已完成工作</a:t>
            </a:r>
            <a:endParaRPr lang="zh-CN" sz="15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27" name="R727"/>
          <p:cNvSpPr/>
          <p:nvPr/>
        </p:nvSpPr>
        <p:spPr>
          <a:xfrm>
            <a:off x="857250" y="35718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59669">
              <a:alpha val="6000"/>
            </a:srgbClr>
          </a:solidFill>
          <a:ln w="15240">
            <a:solidFill>
              <a:srgbClr val="059669"/>
            </a:solidFill>
          </a:ln>
        </p:spPr>
      </p:sp>
      <p:sp>
        <p:nvSpPr>
          <p:cNvPr id="728" name="P728"/>
          <p:cNvSpPr/>
          <p:nvPr/>
        </p:nvSpPr>
        <p:spPr>
          <a:xfrm>
            <a:off x="890587" y="3614737"/>
            <a:ext cx="66675" cy="47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3999"/>
                </a:moveTo>
                <a:lnTo>
                  <a:pt x="32857" y="100000"/>
                </a:lnTo>
                <a:lnTo>
                  <a:pt x="100000" y="0"/>
                </a:lnTo>
              </a:path>
            </a:pathLst>
          </a:custGeom>
          <a:noFill/>
          <a:ln w="17780">
            <a:solidFill>
              <a:srgbClr val="059669"/>
            </a:solidFill>
          </a:ln>
        </p:spPr>
      </p:sp>
      <p:sp>
        <p:nvSpPr>
          <p:cNvPr id="729" name="T729"/>
          <p:cNvSpPr txBox="1"/>
          <p:nvPr/>
        </p:nvSpPr>
        <p:spPr>
          <a:xfrm>
            <a:off x="1095375" y="3533775"/>
            <a:ext cx="249763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数据管线搭建与26维特征工程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30" name="R730"/>
          <p:cNvSpPr/>
          <p:nvPr/>
        </p:nvSpPr>
        <p:spPr>
          <a:xfrm>
            <a:off x="857250" y="393382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59669">
              <a:alpha val="6000"/>
            </a:srgbClr>
          </a:solidFill>
          <a:ln w="15240">
            <a:solidFill>
              <a:srgbClr val="059669"/>
            </a:solidFill>
          </a:ln>
        </p:spPr>
      </p:sp>
      <p:sp>
        <p:nvSpPr>
          <p:cNvPr id="731" name="P731"/>
          <p:cNvSpPr/>
          <p:nvPr/>
        </p:nvSpPr>
        <p:spPr>
          <a:xfrm>
            <a:off x="890587" y="3976687"/>
            <a:ext cx="66675" cy="47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3999"/>
                </a:moveTo>
                <a:lnTo>
                  <a:pt x="32857" y="100000"/>
                </a:lnTo>
                <a:lnTo>
                  <a:pt x="100000" y="0"/>
                </a:lnTo>
              </a:path>
            </a:pathLst>
          </a:custGeom>
          <a:noFill/>
          <a:ln w="17780">
            <a:solidFill>
              <a:srgbClr val="059669"/>
            </a:solidFill>
          </a:ln>
        </p:spPr>
      </p:sp>
      <p:sp>
        <p:nvSpPr>
          <p:cNvPr id="732" name="T732"/>
          <p:cNvSpPr txBox="1"/>
          <p:nvPr/>
        </p:nvSpPr>
        <p:spPr>
          <a:xfrm>
            <a:off x="1095375" y="3895725"/>
            <a:ext cx="285035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KAN教师训练与符号提取管线开发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33" name="R733"/>
          <p:cNvSpPr/>
          <p:nvPr/>
        </p:nvSpPr>
        <p:spPr>
          <a:xfrm>
            <a:off x="857250" y="42957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59669">
              <a:alpha val="6000"/>
            </a:srgbClr>
          </a:solidFill>
          <a:ln w="15240">
            <a:solidFill>
              <a:srgbClr val="059669"/>
            </a:solidFill>
          </a:ln>
        </p:spPr>
      </p:sp>
      <p:sp>
        <p:nvSpPr>
          <p:cNvPr id="734" name="P734"/>
          <p:cNvSpPr/>
          <p:nvPr/>
        </p:nvSpPr>
        <p:spPr>
          <a:xfrm>
            <a:off x="890587" y="4338637"/>
            <a:ext cx="66675" cy="47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3999"/>
                </a:moveTo>
                <a:lnTo>
                  <a:pt x="32857" y="100000"/>
                </a:lnTo>
                <a:lnTo>
                  <a:pt x="100000" y="0"/>
                </a:lnTo>
              </a:path>
            </a:pathLst>
          </a:custGeom>
          <a:noFill/>
          <a:ln w="17780">
            <a:solidFill>
              <a:srgbClr val="059669"/>
            </a:solidFill>
          </a:ln>
        </p:spPr>
      </p:sp>
      <p:sp>
        <p:nvSpPr>
          <p:cNvPr id="735" name="T735"/>
          <p:cNvSpPr txBox="1"/>
          <p:nvPr/>
        </p:nvSpPr>
        <p:spPr>
          <a:xfrm>
            <a:off x="1095375" y="4257675"/>
            <a:ext cx="1947713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公式坍缩现象系统记录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36" name="T736"/>
          <p:cNvSpPr txBox="1"/>
          <p:nvPr/>
        </p:nvSpPr>
        <p:spPr>
          <a:xfrm>
            <a:off x="3043088" y="4257675"/>
            <a:ext cx="88805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(VER=0/9)</a:t>
            </a:r>
            <a:endParaRPr lang="zh-CN" sz="1500" dirty="0">
              <a:solidFill>
                <a:srgbClr val="6B7280">
                  <a:alpha val="7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37" name="R737"/>
          <p:cNvSpPr/>
          <p:nvPr/>
        </p:nvSpPr>
        <p:spPr>
          <a:xfrm>
            <a:off x="857250" y="465772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59669">
              <a:alpha val="6000"/>
            </a:srgbClr>
          </a:solidFill>
          <a:ln w="15240">
            <a:solidFill>
              <a:srgbClr val="059669"/>
            </a:solidFill>
          </a:ln>
        </p:spPr>
      </p:sp>
      <p:sp>
        <p:nvSpPr>
          <p:cNvPr id="738" name="P738"/>
          <p:cNvSpPr/>
          <p:nvPr/>
        </p:nvSpPr>
        <p:spPr>
          <a:xfrm>
            <a:off x="890587" y="4700587"/>
            <a:ext cx="66675" cy="47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3999"/>
                </a:moveTo>
                <a:lnTo>
                  <a:pt x="32857" y="100000"/>
                </a:lnTo>
                <a:lnTo>
                  <a:pt x="100000" y="0"/>
                </a:lnTo>
              </a:path>
            </a:pathLst>
          </a:custGeom>
          <a:noFill/>
          <a:ln w="17780">
            <a:solidFill>
              <a:srgbClr val="059669"/>
            </a:solidFill>
          </a:ln>
        </p:spPr>
      </p:sp>
      <p:sp>
        <p:nvSpPr>
          <p:cNvPr id="739" name="T739"/>
          <p:cNvSpPr txBox="1"/>
          <p:nvPr/>
        </p:nvSpPr>
        <p:spPr>
          <a:xfrm>
            <a:off x="1095375" y="4619625"/>
            <a:ext cx="2696021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S2阻断实验完成，因果机制确认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40" name="R740"/>
          <p:cNvSpPr/>
          <p:nvPr/>
        </p:nvSpPr>
        <p:spPr>
          <a:xfrm>
            <a:off x="857250" y="50196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059669">
              <a:alpha val="6000"/>
            </a:srgbClr>
          </a:solidFill>
          <a:ln w="15240">
            <a:solidFill>
              <a:srgbClr val="059669"/>
            </a:solidFill>
          </a:ln>
        </p:spPr>
      </p:sp>
      <p:sp>
        <p:nvSpPr>
          <p:cNvPr id="741" name="P741"/>
          <p:cNvSpPr/>
          <p:nvPr/>
        </p:nvSpPr>
        <p:spPr>
          <a:xfrm>
            <a:off x="890587" y="5062537"/>
            <a:ext cx="66675" cy="47625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53999"/>
                </a:moveTo>
                <a:lnTo>
                  <a:pt x="32857" y="100000"/>
                </a:lnTo>
                <a:lnTo>
                  <a:pt x="100000" y="0"/>
                </a:lnTo>
              </a:path>
            </a:pathLst>
          </a:custGeom>
          <a:noFill/>
          <a:ln w="17780">
            <a:solidFill>
              <a:srgbClr val="059669"/>
            </a:solidFill>
          </a:ln>
        </p:spPr>
      </p:sp>
      <p:sp>
        <p:nvSpPr>
          <p:cNvPr id="742" name="T742"/>
          <p:cNvSpPr txBox="1"/>
          <p:nvPr/>
        </p:nvSpPr>
        <p:spPr>
          <a:xfrm>
            <a:off x="1095375" y="4981575"/>
            <a:ext cx="140508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S3分解方案验证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43" name="T743"/>
          <p:cNvSpPr txBox="1"/>
          <p:nvPr/>
        </p:nvSpPr>
        <p:spPr>
          <a:xfrm>
            <a:off x="2500461" y="4981575"/>
            <a:ext cx="197122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>
                    <a:alpha val="70000"/>
                  </a:srgbClr>
                </a:solidFill>
                <a:latin typeface="Noto Sans SC"/>
                <a:ea typeface="Noto Sans SC"/>
              </a:rPr>
              <a:t>(Skill=0.456, FAR=3/3)</a:t>
            </a:r>
            <a:endParaRPr lang="zh-CN" sz="1500" dirty="0">
              <a:solidFill>
                <a:srgbClr val="6B7280">
                  <a:alpha val="7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44" name="L744"/>
          <p:cNvSpPr/>
          <p:nvPr/>
        </p:nvSpPr>
        <p:spPr>
          <a:xfrm>
            <a:off x="847725" y="5429250"/>
            <a:ext cx="491490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745" name="R745"/>
          <p:cNvSpPr/>
          <p:nvPr/>
        </p:nvSpPr>
        <p:spPr>
          <a:xfrm>
            <a:off x="847725" y="5681662"/>
            <a:ext cx="4100512" cy="57150"/>
          </a:xfrm>
          <a:prstGeom prst="roundRect">
            <a:avLst>
              <a:gd name="adj" fmla="val 50000"/>
            </a:avLst>
          </a:prstGeom>
          <a:solidFill>
            <a:srgbClr val="F1F3F5"/>
          </a:solidFill>
        </p:spPr>
      </p:sp>
      <p:sp>
        <p:nvSpPr>
          <p:cNvPr id="746" name="R746"/>
          <p:cNvSpPr/>
          <p:nvPr/>
        </p:nvSpPr>
        <p:spPr>
          <a:xfrm>
            <a:off x="847725" y="5681662"/>
            <a:ext cx="4100512" cy="57150"/>
          </a:xfrm>
          <a:prstGeom prst="roundRect">
            <a:avLst>
              <a:gd name="adj" fmla="val 50000"/>
            </a:avLst>
          </a:prstGeom>
          <a:solidFill>
            <a:srgbClr val="059669"/>
          </a:solidFill>
        </p:spPr>
      </p:sp>
      <p:sp>
        <p:nvSpPr>
          <p:cNvPr id="747" name="T747"/>
          <p:cNvSpPr txBox="1"/>
          <p:nvPr/>
        </p:nvSpPr>
        <p:spPr>
          <a:xfrm>
            <a:off x="5043487" y="5562600"/>
            <a:ext cx="719137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059669"/>
                </a:solidFill>
                <a:latin typeface="Noto Sans SC"/>
                <a:ea typeface="Noto Sans SC"/>
              </a:rPr>
              <a:t>5/5 完成</a:t>
            </a:r>
            <a:endParaRPr lang="zh-CN" sz="1500" dirty="0">
              <a:solidFill>
                <a:srgbClr val="059669"/>
              </a:solidFill>
              <a:latin typeface="Noto Sans SC"/>
              <a:ea typeface="Noto Sans SC"/>
            </a:endParaRPr>
          </a:p>
        </p:txBody>
      </p:sp>
      <p:sp>
        <p:nvSpPr>
          <p:cNvPr id="748" name="R748"/>
          <p:cNvSpPr/>
          <p:nvPr/>
        </p:nvSpPr>
        <p:spPr>
          <a:xfrm>
            <a:off x="6191250" y="2895600"/>
            <a:ext cx="5391150" cy="2447925"/>
          </a:xfrm>
          <a:prstGeom prst="roundRect">
            <a:avLst>
              <a:gd name="adj" fmla="val 2334"/>
            </a:avLst>
          </a:prstGeom>
          <a:solidFill>
            <a:srgbClr val="FFFFFF"/>
          </a:solidFill>
          <a:ln w="12700">
            <a:solidFill>
              <a:srgbClr val="DEE2E6"/>
            </a:solidFill>
          </a:ln>
        </p:spPr>
      </p:sp>
      <p:sp>
        <p:nvSpPr>
          <p:cNvPr id="749" name="R749"/>
          <p:cNvSpPr/>
          <p:nvPr/>
        </p:nvSpPr>
        <p:spPr>
          <a:xfrm>
            <a:off x="6429375" y="3214687"/>
            <a:ext cx="76200" cy="76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</p:spPr>
      </p:sp>
      <p:sp>
        <p:nvSpPr>
          <p:cNvPr id="750" name="T750"/>
          <p:cNvSpPr txBox="1"/>
          <p:nvPr/>
        </p:nvSpPr>
        <p:spPr>
          <a:xfrm>
            <a:off x="6581775" y="3105150"/>
            <a:ext cx="762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212529"/>
                </a:solidFill>
                <a:latin typeface="Noto Sans SC"/>
                <a:ea typeface="Noto Sans SC"/>
              </a:rPr>
              <a:t>后续计划</a:t>
            </a:r>
            <a:endParaRPr lang="zh-CN" sz="150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51" name="R751"/>
          <p:cNvSpPr/>
          <p:nvPr/>
        </p:nvSpPr>
        <p:spPr>
          <a:xfrm>
            <a:off x="6438900" y="35718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563EB">
              <a:alpha val="6000"/>
            </a:srgbClr>
          </a:solidFill>
          <a:ln w="15240">
            <a:solidFill>
              <a:srgbClr val="2563EB"/>
            </a:solidFill>
          </a:ln>
        </p:spPr>
      </p:sp>
      <p:sp>
        <p:nvSpPr>
          <p:cNvPr id="752" name="T752"/>
          <p:cNvSpPr txBox="1"/>
          <p:nvPr/>
        </p:nvSpPr>
        <p:spPr>
          <a:xfrm>
            <a:off x="6677025" y="3533775"/>
            <a:ext cx="1714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论文撰写与排版定稿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53" name="R753"/>
          <p:cNvSpPr/>
          <p:nvPr/>
        </p:nvSpPr>
        <p:spPr>
          <a:xfrm>
            <a:off x="6438900" y="393382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563EB">
              <a:alpha val="6000"/>
            </a:srgbClr>
          </a:solidFill>
          <a:ln w="15240">
            <a:solidFill>
              <a:srgbClr val="2563EB"/>
            </a:solidFill>
          </a:ln>
        </p:spPr>
      </p:sp>
      <p:sp>
        <p:nvSpPr>
          <p:cNvPr id="754" name="T754"/>
          <p:cNvSpPr txBox="1"/>
          <p:nvPr/>
        </p:nvSpPr>
        <p:spPr>
          <a:xfrm>
            <a:off x="6677025" y="3895725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补充实验图表与可视化材料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55" name="R755"/>
          <p:cNvSpPr/>
          <p:nvPr/>
        </p:nvSpPr>
        <p:spPr>
          <a:xfrm>
            <a:off x="6438900" y="4295775"/>
            <a:ext cx="133350" cy="133350"/>
          </a:xfrm>
          <a:prstGeom prst="roundRect">
            <a:avLst>
              <a:gd name="adj" fmla="val 21428"/>
            </a:avLst>
          </a:prstGeom>
          <a:solidFill>
            <a:srgbClr val="2563EB">
              <a:alpha val="6000"/>
            </a:srgbClr>
          </a:solidFill>
          <a:ln w="15240">
            <a:solidFill>
              <a:srgbClr val="2563EB"/>
            </a:solidFill>
          </a:ln>
        </p:spPr>
      </p:sp>
      <p:sp>
        <p:nvSpPr>
          <p:cNvPr id="756" name="T756"/>
          <p:cNvSpPr txBox="1"/>
          <p:nvPr/>
        </p:nvSpPr>
        <p:spPr>
          <a:xfrm>
            <a:off x="6677025" y="4257675"/>
            <a:ext cx="15240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12529"/>
                </a:solidFill>
                <a:latin typeface="Noto Sans SC"/>
                <a:ea typeface="Noto Sans SC"/>
              </a:rPr>
              <a:t>准备最终答辩材料</a:t>
            </a:r>
            <a:endParaRPr lang="zh-CN" sz="1500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57" name="L757"/>
          <p:cNvSpPr/>
          <p:nvPr/>
        </p:nvSpPr>
        <p:spPr>
          <a:xfrm>
            <a:off x="6429375" y="4705350"/>
            <a:ext cx="4914900" cy="9525"/>
          </a:xfrm>
          <a:prstGeom prst="line">
            <a:avLst/>
          </a:prstGeom>
          <a:noFill/>
          <a:ln w="12700">
            <a:solidFill>
              <a:srgbClr val="DEE2E6"/>
            </a:solidFill>
          </a:ln>
        </p:spPr>
      </p:sp>
      <p:sp>
        <p:nvSpPr>
          <p:cNvPr id="758" name="R758"/>
          <p:cNvSpPr/>
          <p:nvPr/>
        </p:nvSpPr>
        <p:spPr>
          <a:xfrm>
            <a:off x="6429375" y="4957762"/>
            <a:ext cx="4248150" cy="57150"/>
          </a:xfrm>
          <a:prstGeom prst="roundRect">
            <a:avLst>
              <a:gd name="adj" fmla="val 50000"/>
            </a:avLst>
          </a:prstGeom>
          <a:solidFill>
            <a:srgbClr val="F1F3F5"/>
          </a:solidFill>
        </p:spPr>
      </p:sp>
      <p:sp>
        <p:nvSpPr>
          <p:cNvPr id="759" name="T759"/>
          <p:cNvSpPr txBox="1"/>
          <p:nvPr/>
        </p:nvSpPr>
        <p:spPr>
          <a:xfrm>
            <a:off x="10772775" y="4838700"/>
            <a:ext cx="571500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2563EB"/>
                </a:solidFill>
                <a:latin typeface="Noto Sans SC"/>
                <a:ea typeface="Noto Sans SC"/>
              </a:rPr>
              <a:t>待启动</a:t>
            </a:r>
            <a:endParaRPr lang="zh-CN" sz="15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760" name="T760"/>
          <p:cNvSpPr txBox="1"/>
          <p:nvPr/>
        </p:nvSpPr>
        <p:spPr>
          <a:xfrm>
            <a:off x="542925" y="6448425"/>
            <a:ext cx="2850356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>
                    <a:alpha val="60000"/>
                  </a:srgbClr>
                </a:solidFill>
                <a:latin typeface="Noto Sans SC"/>
                <a:ea typeface="Noto Sans SC"/>
              </a:rPr>
              <a:t>基于KAN的可解释净负荷预测研究</a:t>
            </a:r>
            <a:endParaRPr lang="zh-CN" sz="1500" dirty="0">
              <a:solidFill>
                <a:srgbClr val="6B7280">
                  <a:alpha val="60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61" name="T761"/>
          <p:cNvSpPr txBox="1"/>
          <p:nvPr/>
        </p:nvSpPr>
        <p:spPr>
          <a:xfrm>
            <a:off x="11046916" y="6448425"/>
            <a:ext cx="602158" cy="285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dirty="0">
                <a:solidFill>
                  <a:srgbClr val="6B7280">
                    <a:alpha val="60000"/>
                  </a:srgbClr>
                </a:solidFill>
                <a:latin typeface="Noto Sans SC"/>
                <a:ea typeface="Noto Sans SC"/>
              </a:rPr>
              <a:t>11 / 12</a:t>
            </a:r>
            <a:endParaRPr lang="zh-CN" sz="1500" dirty="0">
              <a:solidFill>
                <a:srgbClr val="6B7280">
                  <a:alpha val="60000"/>
                </a:srgbClr>
              </a:solidFill>
              <a:latin typeface="Noto Sans SC"/>
              <a:ea typeface="Noto Sans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AFBFC"/>
            </a:gs>
            <a:gs pos="100000">
              <a:srgbClr val="F1F3F5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762" name="R762"/>
          <p:cNvSpPr/>
          <p:nvPr/>
        </p:nvSpPr>
        <p:spPr>
          <a:xfrm>
            <a:off x="2857500" y="6086475"/>
            <a:ext cx="6477000" cy="9525"/>
          </a:xfrm>
          <a:prstGeom prst="rect">
            <a:avLst/>
          </a:prstGeom>
          <a:solidFill>
            <a:srgbClr val="2563EB">
              <a:alpha val="20000"/>
            </a:srgbClr>
          </a:solidFill>
        </p:spPr>
      </p:sp>
      <p:sp>
        <p:nvSpPr>
          <p:cNvPr id="763" name="T763"/>
          <p:cNvSpPr txBox="1"/>
          <p:nvPr/>
        </p:nvSpPr>
        <p:spPr>
          <a:xfrm>
            <a:off x="3821385" y="2116335"/>
            <a:ext cx="4549229" cy="2857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0" b="1" dirty="0">
                <a:solidFill>
                  <a:srgbClr val="111827">
                    <a:alpha val="4000"/>
                  </a:srgbClr>
                </a:solidFill>
                <a:latin typeface="Noto Sans SC"/>
                <a:ea typeface="Noto Sans SC"/>
              </a:rPr>
              <a:t>Q&amp;A</a:t>
            </a:r>
            <a:endParaRPr lang="zh-CN" sz="15000" b="1" dirty="0">
              <a:solidFill>
                <a:srgbClr val="111827">
                  <a:alpha val="4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64" name="T764"/>
          <p:cNvSpPr txBox="1"/>
          <p:nvPr/>
        </p:nvSpPr>
        <p:spPr>
          <a:xfrm>
            <a:off x="2948136" y="2254597"/>
            <a:ext cx="6295727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/>
                </a:solidFill>
                <a:latin typeface="Noto Sans SC"/>
                <a:ea typeface="Noto Sans SC"/>
              </a:rPr>
              <a:t>消解自回归捷径竞争，即可同时实现预测精度与物理可解释性</a:t>
            </a:r>
            <a:endParaRPr lang="zh-CN" sz="1800" dirty="0">
              <a:solidFill>
                <a:srgbClr val="6B7280"/>
              </a:solidFill>
              <a:latin typeface="Noto Sans SC"/>
              <a:ea typeface="Noto Sans SC"/>
            </a:endParaRPr>
          </a:p>
        </p:txBody>
      </p:sp>
      <p:sp>
        <p:nvSpPr>
          <p:cNvPr id="765" name="T765"/>
          <p:cNvSpPr txBox="1"/>
          <p:nvPr/>
        </p:nvSpPr>
        <p:spPr>
          <a:xfrm>
            <a:off x="5231755" y="2949922"/>
            <a:ext cx="1728341" cy="6000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150" b="1" dirty="0">
                <a:solidFill>
                  <a:srgbClr val="212529"/>
                </a:solidFill>
                <a:latin typeface="Noto Sans SC"/>
                <a:ea typeface="Noto Sans SC"/>
              </a:rPr>
              <a:t>谢谢聆听</a:t>
            </a:r>
            <a:endParaRPr lang="zh-CN" sz="3150" b="1" dirty="0">
              <a:solidFill>
                <a:srgbClr val="212529"/>
              </a:solidFill>
              <a:latin typeface="Noto Sans SC"/>
              <a:ea typeface="Noto Sans SC"/>
            </a:endParaRPr>
          </a:p>
        </p:txBody>
      </p:sp>
      <p:sp>
        <p:nvSpPr>
          <p:cNvPr id="766" name="T766"/>
          <p:cNvSpPr txBox="1"/>
          <p:nvPr/>
        </p:nvSpPr>
        <p:spPr>
          <a:xfrm>
            <a:off x="4907160" y="5010150"/>
            <a:ext cx="2377529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2563EB"/>
                </a:solidFill>
                <a:latin typeface="Noto Sans SC"/>
                <a:ea typeface="Noto Sans SC"/>
              </a:rPr>
              <a:t>欢迎各位老师批评指正</a:t>
            </a:r>
            <a:endParaRPr lang="zh-CN" sz="1800" dirty="0">
              <a:solidFill>
                <a:srgbClr val="2563EB"/>
              </a:solidFill>
              <a:latin typeface="Noto Sans SC"/>
              <a:ea typeface="Noto Sans SC"/>
            </a:endParaRPr>
          </a:p>
        </p:txBody>
      </p:sp>
      <p:sp>
        <p:nvSpPr>
          <p:cNvPr id="767" name="T767"/>
          <p:cNvSpPr txBox="1"/>
          <p:nvPr/>
        </p:nvSpPr>
        <p:spPr>
          <a:xfrm>
            <a:off x="11067305" y="6315075"/>
            <a:ext cx="743694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b"/>
          <a:lstStyle/>
          <a:p>
            <a: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dirty="0">
                <a:solidFill>
                  <a:srgbClr val="6B7280">
                    <a:alpha val="35000"/>
                  </a:srgbClr>
                </a:solidFill>
                <a:latin typeface="Noto Sans SC"/>
                <a:ea typeface="Noto Sans SC"/>
              </a:rPr>
              <a:t>12 / 12</a:t>
            </a:r>
            <a:endParaRPr lang="zh-CN" sz="1800" dirty="0">
              <a:solidFill>
                <a:srgbClr val="6B7280">
                  <a:alpha val="35000"/>
                </a:srgbClr>
              </a:solidFill>
              <a:latin typeface="Noto Sans SC"/>
              <a:ea typeface="Noto Sans SC"/>
            </a:endParaRPr>
          </a:p>
        </p:txBody>
      </p:sp>
      <p:sp>
        <p:nvSpPr>
          <p:cNvPr id="768" name="R7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0"/>
            </a:srgbClr>
          </a:solidFill>
          <a:ln w="50800">
            <a:solidFill>
              <a:srgbClr val="374151"/>
            </a:solidFill>
          </a:ln>
        </p:spPr>
      </p:sp>
      <p:pic>
        <p:nvPicPr>
          <p:cNvPr id="2" name="图片 1" descr="PixPin_2026-04-13_07-14-4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915" y="2116455"/>
            <a:ext cx="9715500" cy="723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3399</Words>
  <Application>WPS 演示</Application>
  <PresentationFormat>On-screen Show (4:3)</PresentationFormat>
  <Paragraphs>792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宋体</vt:lpstr>
      <vt:lpstr>Wingdings</vt:lpstr>
      <vt:lpstr>Arial</vt:lpstr>
      <vt:lpstr>Noto Sans SC</vt:lpstr>
      <vt:lpstr>Thonburi</vt:lpstr>
      <vt:lpstr>Inter</vt:lpstr>
      <vt:lpstr>宋体</vt:lpstr>
      <vt:lpstr>宋体-简</vt:lpstr>
      <vt:lpstr>微软雅黑</vt:lpstr>
      <vt:lpstr>汉仪旗黑</vt:lpstr>
      <vt:lpstr>Arial Unicode MS</vt:lpstr>
      <vt:lpstr>Calibri</vt:lpstr>
      <vt:lpstr>Helvetica Neue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WPS_1775834091</cp:lastModifiedBy>
  <cp:revision>16</cp:revision>
  <dcterms:created xsi:type="dcterms:W3CDTF">2026-04-13T02:25:11Z</dcterms:created>
  <dcterms:modified xsi:type="dcterms:W3CDTF">2026-04-13T02:25:11Z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57A59BB06947EBB8BE22DC69681E16C8_42</vt:lpwstr>
  </property>
  <property fmtid="{D5CDD505-2E9C-101B-9397-08002B2CF9AE}" pid="3" name="KSOProductBuildVer">
    <vt:lpwstr>2052-12.1.23155.23155</vt:lpwstr>
  </property>
</Properties>
</file>