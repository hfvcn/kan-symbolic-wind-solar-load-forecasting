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Skill Score</c:v>
                </c:pt>
              </c:strCache>
            </c:strRef>
          </c:tx>
          <c:spPr>
            <a:solidFill>
              <a:srgbClr val="123A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KAN</c:v>
                  </c:pt>
                  <c:pt idx="1">
                    <c:v>MLP</c:v>
                  </c:pt>
                  <c:pt idx="2">
                    <c:v>PySR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0.453</c:v>
                </c:pt>
                <c:pt idx="1">
                  <c:v>0.43</c:v>
                </c:pt>
                <c:pt idx="2">
                  <c:v>0.076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Skill score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3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" y="4526280"/>
            <a:ext cx="8119872" cy="6401"/>
          </a:xfrm>
          <a:prstGeom prst="rect">
            <a:avLst/>
          </a:prstGeom>
          <a:solidFill>
            <a:srgbClr val="C7D5E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" y="4754880"/>
            <a:ext cx="8119872" cy="6401"/>
          </a:xfrm>
          <a:prstGeom prst="rect">
            <a:avLst/>
          </a:prstGeom>
          <a:solidFill>
            <a:srgbClr val="C7D5E5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48463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毕业设计中期汇报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83296" y="4846320"/>
            <a:ext cx="5486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59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R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" y="4754880"/>
            <a:ext cx="8119872" cy="6401"/>
          </a:xfrm>
          <a:prstGeom prst="rect">
            <a:avLst/>
          </a:prstGeom>
          <a:solidFill>
            <a:srgbClr val="C7D5E5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48463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毕业设计中期汇报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83296" y="4846320"/>
            <a:ext cx="5486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59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1348740"/>
            <a:ext cx="8119872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基于KAN的可解释净负荷预测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12064" y="25374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1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自回归捷径竞争机制与结构化分解方案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2064" y="29489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毕业设计中期检查汇报 | 聚焦研究问题、阶段成果、关键证据与后续计划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4617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毕业设计中期汇报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2064" y="480060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graduation-design — 2026年4月11日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617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REVIEW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01752"/>
            <a:ext cx="8119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研究框架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438912"/>
            <a:ext cx="8119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本课题围绕“物理变量为何在公式中消失”搭建了从问题识别到修复验证的四步路径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119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问题定义 -&gt; 管线搭建 -&gt; 机制验证 -&gt; 解决方案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696212"/>
            <a:ext cx="18288" cy="1591056"/>
          </a:xfrm>
          <a:prstGeom prst="rect">
            <a:avLst/>
          </a:prstGeom>
          <a:solidFill>
            <a:srgbClr val="C7D5E5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549908"/>
            <a:ext cx="292608" cy="292608"/>
          </a:xfrm>
          <a:prstGeom prst="ellipse">
            <a:avLst/>
          </a:prstGeom>
          <a:solidFill>
            <a:srgbClr val="123A63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499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52144" y="15224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定义问题场景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52144" y="1723644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面向高比例可再生能源场景下的净负荷预测，研究目标不是只提高精度，而是同时输出具有物理含义的符号公式。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" y="2080260"/>
            <a:ext cx="292608" cy="292608"/>
          </a:xfrm>
          <a:prstGeom prst="ellipse">
            <a:avLst/>
          </a:prstGeom>
          <a:solidFill>
            <a:srgbClr val="123A63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0802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52144" y="20528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KAN 教师到符号提取管线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2144" y="2253996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ARPA-E PERFORM 数据集完成 26 维特征工程、60/20/20 时序划分，以及预热、稀疏化、剪枝、符号拟合四阶段训练流程。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2610612"/>
            <a:ext cx="292608" cy="292608"/>
          </a:xfrm>
          <a:prstGeom prst="ellipse">
            <a:avLst/>
          </a:prstGeom>
          <a:solidFill>
            <a:srgbClr val="123A63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6106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2144" y="25831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S2 阻断实验验证捷径竞争机制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" y="2784348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在保持模型结构和训练设置不变的条件下，仅阻断自回归滞后通路，观察气象物理变量的 VER 变化并用置信区间判断显著性。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" y="3140964"/>
            <a:ext cx="292608" cy="292608"/>
          </a:xfrm>
          <a:prstGeom prst="ellipse">
            <a:avLst/>
          </a:prstGeom>
          <a:solidFill>
            <a:srgbClr val="123A63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1409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52144" y="31135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S3 结构化分解恢复可解释性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2144" y="3314700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将净负荷拆分为负荷、风电、光伏三个子任务，各自提取局部公式，再按固定加法规则组合预测，兼顾精度与公式可读性。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" y="3662172"/>
            <a:ext cx="8119872" cy="329184"/>
          </a:xfrm>
          <a:prstGeom prst="rect">
            <a:avLst/>
          </a:prstGeom>
          <a:solidFill>
            <a:srgbClr val="E4EDF7"/>
          </a:solidFill>
          <a:ln/>
        </p:spPr>
      </p:sp>
      <p:sp>
        <p:nvSpPr>
          <p:cNvPr id="23" name="Shape 21"/>
          <p:cNvSpPr/>
          <p:nvPr/>
        </p:nvSpPr>
        <p:spPr>
          <a:xfrm>
            <a:off x="512064" y="3662172"/>
            <a:ext cx="36576" cy="329184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" y="3717036"/>
            <a:ext cx="7845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1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当前中期阶段的核心成果，是把“公式坍缩”从现象描述推进为可验证机制，并给出可操作的结构化修复路径。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484632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doc/论文_pandoc.docx, doc/中期报告_filled.docx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83296" y="4846320"/>
            <a:ext cx="5486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59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01752"/>
            <a:ext cx="8119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阶段成果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438912"/>
            <a:ext cx="8119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核心研究工作已基本完成，并同时拿到精度、机制与可解释性三类结果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119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中期检查时点的主要完成情况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110996"/>
            <a:ext cx="2560320" cy="1417320"/>
          </a:xfrm>
          <a:prstGeom prst="rect">
            <a:avLst>
              <a:gd name="adj" fmla="val 1290"/>
            </a:avLst>
          </a:prstGeom>
          <a:solidFill>
            <a:srgbClr val="E4EDF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220724"/>
            <a:ext cx="91440" cy="91440"/>
          </a:xfrm>
          <a:prstGeom prst="ellipse">
            <a:avLst/>
          </a:prstGeom>
          <a:solidFill>
            <a:srgbClr val="3A8F5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8414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1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数据管线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43103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26维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49808" y="184251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完成特征工程与时序划分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04368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数据集 | 5分钟采样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110996"/>
            <a:ext cx="2560320" cy="1417320"/>
          </a:xfrm>
          <a:prstGeom prst="rect">
            <a:avLst>
              <a:gd name="adj" fmla="val 1290"/>
            </a:avLst>
          </a:prstGeom>
          <a:solidFill>
            <a:srgbClr val="E4ED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401568" y="1220724"/>
            <a:ext cx="91440" cy="91440"/>
          </a:xfrm>
          <a:prstGeom prst="ellipse">
            <a:avLst/>
          </a:prstGeom>
          <a:solidFill>
            <a:srgbClr val="3A8F5C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18414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1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 精度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1568" y="143103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01568" y="184251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score 优于 MLP 0.430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01568" y="204368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0.0005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1110996"/>
            <a:ext cx="2560320" cy="1417320"/>
          </a:xfrm>
          <a:prstGeom prst="rect">
            <a:avLst>
              <a:gd name="adj" fmla="val 1290"/>
            </a:avLst>
          </a:prstGeom>
          <a:solidFill>
            <a:srgbClr val="E4ED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053328" y="1220724"/>
            <a:ext cx="91440" cy="914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18414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1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PySR 对比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53328" y="143103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0.076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053328" y="184251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直接符号回归精度明显偏低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53328" y="204368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验证“先训练后提取”必要性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2638044"/>
            <a:ext cx="2560320" cy="1417320"/>
          </a:xfrm>
          <a:prstGeom prst="rect">
            <a:avLst>
              <a:gd name="adj" fmla="val 1290"/>
            </a:avLst>
          </a:prstGeom>
          <a:solidFill>
            <a:srgbClr val="E4EDF7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" y="2747772"/>
            <a:ext cx="91440" cy="91440"/>
          </a:xfrm>
          <a:prstGeom prst="ellipse">
            <a:avLst/>
          </a:prstGeom>
          <a:solidFill>
            <a:srgbClr val="B66A5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271119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1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公式坍缩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295808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9/9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49808" y="336956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net load 配置全部坍缩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" y="357073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VER(any_physical)=0/9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2638044"/>
            <a:ext cx="2560320" cy="1417320"/>
          </a:xfrm>
          <a:prstGeom prst="rect">
            <a:avLst>
              <a:gd name="adj" fmla="val 1290"/>
            </a:avLst>
          </a:prstGeom>
          <a:solidFill>
            <a:srgbClr val="E4EDF7"/>
          </a:solidFill>
          <a:ln/>
        </p:spPr>
      </p:sp>
      <p:sp>
        <p:nvSpPr>
          <p:cNvPr id="30" name="Shape 28"/>
          <p:cNvSpPr/>
          <p:nvPr/>
        </p:nvSpPr>
        <p:spPr>
          <a:xfrm>
            <a:off x="3401568" y="2747772"/>
            <a:ext cx="91440" cy="91440"/>
          </a:xfrm>
          <a:prstGeom prst="ellipse">
            <a:avLst/>
          </a:prstGeom>
          <a:solidFill>
            <a:srgbClr val="3A8F5C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271119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1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阻断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01568" y="295808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+0.80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401568" y="336956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 ΔVER 显著提升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01568" y="357073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[0.40, 1.00]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2638044"/>
            <a:ext cx="2560320" cy="1417320"/>
          </a:xfrm>
          <a:prstGeom prst="rect">
            <a:avLst>
              <a:gd name="adj" fmla="val 1290"/>
            </a:avLst>
          </a:prstGeom>
          <a:solidFill>
            <a:srgbClr val="E4EDF7"/>
          </a:solidFill>
          <a:ln/>
        </p:spPr>
      </p:sp>
      <p:sp>
        <p:nvSpPr>
          <p:cNvPr id="36" name="Shape 34"/>
          <p:cNvSpPr/>
          <p:nvPr/>
        </p:nvSpPr>
        <p:spPr>
          <a:xfrm>
            <a:off x="6053328" y="2747772"/>
            <a:ext cx="91440" cy="91440"/>
          </a:xfrm>
          <a:prstGeom prst="ellipse">
            <a:avLst/>
          </a:prstGeom>
          <a:solidFill>
            <a:srgbClr val="3A8F5C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271119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1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分解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53328" y="295808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0.456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053328" y="336956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组合模型 skill 与直接模型持平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53328" y="357073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三个子任务 FAR=3/3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12064" y="4192524"/>
            <a:ext cx="8119872" cy="6401"/>
          </a:xfrm>
          <a:prstGeom prst="rect">
            <a:avLst/>
          </a:prstGeom>
          <a:solidFill>
            <a:srgbClr val="C7D5E5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" y="4265676"/>
            <a:ext cx="8119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1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截至中期，研究主体已完成：数据、训练、机制检验与解决方案均已有结果；剩余工作主要是论文定稿、图表打磨与答辩材料组织。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60320" y="484632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中期报告“当前工作的进展”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83296" y="4846320"/>
            <a:ext cx="5486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59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01752"/>
            <a:ext cx="8119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关键证据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438912"/>
            <a:ext cx="8119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 教师在精度上领先基线，但直接符号提取会坍缩为仅含滞后项的公式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12064" y="822960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48740"/>
            <a:ext cx="3108960" cy="1005840"/>
          </a:xfrm>
          <a:prstGeom prst="rect">
            <a:avLst/>
          </a:prstGeom>
          <a:solidFill>
            <a:srgbClr val="E4EDF7"/>
          </a:solidFill>
          <a:ln/>
        </p:spPr>
      </p:sp>
      <p:sp>
        <p:nvSpPr>
          <p:cNvPr id="6" name="Shape 3"/>
          <p:cNvSpPr/>
          <p:nvPr/>
        </p:nvSpPr>
        <p:spPr>
          <a:xfrm>
            <a:off x="5760720" y="1348740"/>
            <a:ext cx="45720" cy="1005840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0" y="139446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 1 | 预测有效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6047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1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 教师模型 skill=0.453，显著优于参数对齐 MLP 的 0.430 和 PySR 的 0.076，说明 KAN 适合作为符号提取起点。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464308"/>
            <a:ext cx="27432" cy="658368"/>
          </a:xfrm>
          <a:prstGeom prst="rect">
            <a:avLst/>
          </a:prstGeom>
          <a:solidFill>
            <a:srgbClr val="C7D5E5"/>
          </a:solidFill>
          <a:ln/>
        </p:spPr>
      </p:sp>
      <p:sp>
        <p:nvSpPr>
          <p:cNvPr id="10" name="Text 7"/>
          <p:cNvSpPr/>
          <p:nvPr/>
        </p:nvSpPr>
        <p:spPr>
          <a:xfrm>
            <a:off x="5897880" y="25100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 2 | 直接提取坍缩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7880" y="2720340"/>
            <a:ext cx="2880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在直接净负荷目标上，3×3 共 9 组符号配置全部退化为仅含负荷滞后项的极简公式，VER(any_physical)=0/9。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3232404"/>
            <a:ext cx="27432" cy="768096"/>
          </a:xfrm>
          <a:prstGeom prst="rect">
            <a:avLst/>
          </a:prstGeom>
          <a:solidFill>
            <a:srgbClr val="C7D5E5"/>
          </a:solidFill>
          <a:ln/>
        </p:spPr>
      </p:sp>
      <p:sp>
        <p:nvSpPr>
          <p:cNvPr id="13" name="Text 10"/>
          <p:cNvSpPr/>
          <p:nvPr/>
        </p:nvSpPr>
        <p:spPr>
          <a:xfrm>
            <a:off x="5897880" y="327812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 3 | 机制被验证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97880" y="3488436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阻断自回归后，Case 3 的 ΔVER=+0.60，Case 4 的 ΔVER=+0.80，置信区间均不含零，支持“自回归捷径竞争”而非“变量无关性”。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60320" y="484632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论文摘要与第五章实验结果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83296" y="4846320"/>
            <a:ext cx="5486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59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01752"/>
            <a:ext cx="8119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后续安排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438912"/>
            <a:ext cx="8119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后续工作将集中在论文定稿、图表完善与答辩准备三个收尾动作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9264" y="2857500"/>
            <a:ext cx="7205472" cy="22860"/>
          </a:xfrm>
          <a:prstGeom prst="rect">
            <a:avLst/>
          </a:prstGeom>
          <a:solidFill>
            <a:srgbClr val="C7D5E5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802636"/>
            <a:ext cx="146304" cy="146304"/>
          </a:xfrm>
          <a:prstGeom prst="ellipse">
            <a:avLst/>
          </a:prstGeom>
          <a:solidFill>
            <a:srgbClr val="123A63"/>
          </a:solidFill>
          <a:ln/>
        </p:spPr>
      </p:sp>
      <p:sp>
        <p:nvSpPr>
          <p:cNvPr id="6" name="Text 4"/>
          <p:cNvSpPr/>
          <p:nvPr/>
        </p:nvSpPr>
        <p:spPr>
          <a:xfrm>
            <a:off x="512064" y="24917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" y="30861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中期完成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" y="32964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主体实验、S2 阻断与 S3 分解结果均已跑通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7936" y="2802636"/>
            <a:ext cx="146304" cy="146304"/>
          </a:xfrm>
          <a:prstGeom prst="ellipse">
            <a:avLst/>
          </a:prstGeom>
          <a:solidFill>
            <a:srgbClr val="C7D5E5"/>
          </a:solidFill>
          <a:ln/>
        </p:spPr>
      </p:sp>
      <p:sp>
        <p:nvSpPr>
          <p:cNvPr id="10" name="Text 8"/>
          <p:cNvSpPr/>
          <p:nvPr/>
        </p:nvSpPr>
        <p:spPr>
          <a:xfrm>
            <a:off x="2913888" y="24917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31008" y="30861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论文定稿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31008" y="32964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Word 正文整理与学校模板排版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99760" y="2802636"/>
            <a:ext cx="146304" cy="146304"/>
          </a:xfrm>
          <a:prstGeom prst="ellipse">
            <a:avLst/>
          </a:prstGeom>
          <a:solidFill>
            <a:srgbClr val="C7D5E5"/>
          </a:solidFill>
          <a:ln/>
        </p:spPr>
      </p:sp>
      <p:sp>
        <p:nvSpPr>
          <p:cNvPr id="14" name="Text 12"/>
          <p:cNvSpPr/>
          <p:nvPr/>
        </p:nvSpPr>
        <p:spPr>
          <a:xfrm>
            <a:off x="5315712" y="24917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32832" y="30861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图表补强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32832" y="32964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补充关键图表与可视化，提升论文表达完整性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01584" y="2802636"/>
            <a:ext cx="146304" cy="146304"/>
          </a:xfrm>
          <a:prstGeom prst="ellipse">
            <a:avLst/>
          </a:prstGeom>
          <a:solidFill>
            <a:srgbClr val="C7D5E5"/>
          </a:solidFill>
          <a:ln/>
        </p:spPr>
      </p:sp>
      <p:sp>
        <p:nvSpPr>
          <p:cNvPr id="18" name="Text 16"/>
          <p:cNvSpPr/>
          <p:nvPr/>
        </p:nvSpPr>
        <p:spPr>
          <a:xfrm>
            <a:off x="7717536" y="24917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34656" y="30861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答辩准备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34656" y="32964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整理口头讲稿与最终演示材料，并回应单数据集与种子数局限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484632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中期报告“存在的问题”与“后期工作及计划”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83296" y="4846320"/>
            <a:ext cx="5486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59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1444752"/>
            <a:ext cx="8119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当前阶段已经完成机制验证，后续重心转向论文与答辩交付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202082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01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中期阶段的关键目标已经实现：不仅证明了 KAN 在净负荷预测上的有效性，也解释了物理变量在符号提取中消失的原因，并给出了结构化分解这一可落地修复路径。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2770632"/>
            <a:ext cx="731520" cy="36576"/>
          </a:xfrm>
          <a:prstGeom prst="rect">
            <a:avLst/>
          </a:prstGeom>
          <a:solidFill>
            <a:srgbClr val="C7D5E5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2935224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完成论文撰写、排版与图表整理，形成可提交版本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" y="322783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围绕种子数量和单一数据集局限补充说明，收紧论文论证边界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" y="35204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E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准备最终答辩 PPT 与讲稿，把“问题-证据-结论”表达再压缩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McKinsey Deck</dc:subject>
  <dc:creator>appcubic</dc:creator>
  <cp:lastModifiedBy>appcubic</cp:lastModifiedBy>
  <cp:revision>1</cp:revision>
  <dcterms:created xsi:type="dcterms:W3CDTF">2026-04-11T02:42:22Z</dcterms:created>
  <dcterms:modified xsi:type="dcterms:W3CDTF">2026-04-11T02:42:22Z</dcterms:modified>
</cp:coreProperties>
</file>