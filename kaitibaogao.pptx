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用户提供的开题报告：论文题目、研究主线与整体研究目标。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用户提供的开题报告：第1.1节“行业与技术背景”、第1.3节“选题意义”。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用户提供的开题报告：第1.2节“国内外研究现状”。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用户提供的开题报告：第2.2节“研究内容”、第3.1节“总体技术框架”。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用户提供的开题报告：第2.2节“研究内容”、第3.1.3节“多基线对比与可解释性评估”、第3.2.2节“创新点阐述”。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用户提供的开题报告：第3.3节“前期工作基础与初步观察”中的主目标预测性能结果。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用户提供的开题报告：第3.3节“负荷主导退化现象”“太阳能出力与风电出力的可辨识性差异”“风电出力的预测步长依赖性”。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用户提供的开题报告：第3.4节“后续验证重点与预期成果”、第6节“计划进度”。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用户提供的开题报告：整体研究主线、初步结果与后续计划总结。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94360"/>
            <a:ext cx="5440680" cy="4937760"/>
          </a:xfrm>
          <a:prstGeom prst="rect">
            <a:avLst/>
          </a:prstGeom>
          <a:solidFill>
            <a:srgbClr val="132C51">
              <a:alpha val="96000"/>
            </a:srgbClr>
          </a:solidFill>
          <a:ln w="12700">
            <a:solidFill>
              <a:srgbClr val="2D4A6B"/>
            </a:solidFill>
            <a:prstDash val="solid"/>
          </a:ln>
          <a:effectLst>
            <a:outerShdw sx="100000" sy="100000" kx="0" ky="0" algn="bl" rotWithShape="0" blurRad="38100" dist="25400" dir="2700000">
              <a:srgbClr val="091421">
                <a:alpha val="28000"/>
              </a:srgbClr>
            </a:outerShdw>
          </a:effectLst>
        </p:spPr>
      </p:sp>
      <p:pic>
        <p:nvPicPr>
          <p:cNvPr id="4" name="Image 0" descr="/mnt/data/ppt_work/hero_curve.png">    </p:cNvPr>
          <p:cNvPicPr>
            <a:picLocks noChangeAspect="1"/>
          </p:cNvPicPr>
          <p:nvPr/>
        </p:nvPicPr>
        <p:blipFill>
          <a:blip r:embed="rId1"/>
          <a:srcRect l="18842" r="18842" t="0" b="0"/>
          <a:stretch/>
        </p:blipFill>
        <p:spPr>
          <a:xfrm>
            <a:off x="6355080" y="731520"/>
            <a:ext cx="516636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713232"/>
            <a:ext cx="237744" cy="237744"/>
          </a:xfrm>
          <a:prstGeom prst="ellipse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658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8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毕业论文开题答辩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1143000"/>
            <a:ext cx="5166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97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基于符号回归的风光耦合负荷预测模型可解释研究</a:t>
            </a:r>
            <a:endParaRPr lang="en-US" sz="3097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BED0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以净负荷预测为场景，探索“高精度教师模型”向“可读数学公式”的转换路径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461772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794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8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净负荷预测  ×  Kolmogorov-Arnold 网络  ×  符号回归  ×  可解释性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822960" y="5532120"/>
            <a:ext cx="5303520" cy="658368"/>
          </a:xfrm>
          <a:prstGeom prst="roundRect">
            <a:avLst/>
          </a:prstGeom>
          <a:solidFill>
            <a:srgbClr val="17324D">
              <a:alpha val="92000"/>
            </a:srgbClr>
          </a:solidFill>
          <a:ln w="12700">
            <a:solidFill>
              <a:srgbClr val="3550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68756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8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学生：待填写      指导教师：待填写      日期：2026年3月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6355080" y="5687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" dirty="0">
                <a:solidFill>
                  <a:srgbClr val="DCE8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研究主线：从“预测精度比较”转向“物理量符号可辨识性”分析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研究背景：高比例新能源并网使“净负荷预测”成为关键问题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114300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pic>
        <p:nvPicPr>
          <p:cNvPr id="8" name="Image 0" descr="/mnt/data/ppt_work/netload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5871"/>
            <a:ext cx="5120640" cy="3026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5559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净负荷 = 总需求 − 风电出力 − 光伏出力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32688" y="582472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示意图：净负荷由用电规律与风光波动共同塑形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0" y="1517904"/>
            <a:ext cx="146304" cy="146304"/>
          </a:xfrm>
          <a:prstGeom prst="ellipse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1417320"/>
            <a:ext cx="4517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820" b="1" dirty="0">
                <a:solidFill>
                  <a:srgbClr val="33C2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风光高渗透：</a:t>
            </a:r>
            <a:pPr indent="0" marL="0">
              <a:lnSpc>
                <a:spcPct val="110000"/>
              </a:lnSpc>
              <a:buNone/>
            </a:pPr>
            <a:r>
              <a:rPr lang="en-US" sz="18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风电、光伏渗透率持续提升，净负荷直接影响机组组合、备用容量调度与市场出清。</a:t>
            </a:r>
            <a:endParaRPr lang="en-US" sz="1820" dirty="0"/>
          </a:p>
        </p:txBody>
      </p:sp>
      <p:sp>
        <p:nvSpPr>
          <p:cNvPr id="13" name="Shape 10"/>
          <p:cNvSpPr/>
          <p:nvPr/>
        </p:nvSpPr>
        <p:spPr>
          <a:xfrm>
            <a:off x="6400800" y="2587752"/>
            <a:ext cx="146304" cy="146304"/>
          </a:xfrm>
          <a:prstGeom prst="ellipse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2487168"/>
            <a:ext cx="45171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820" b="1" dirty="0">
                <a:solidFill>
                  <a:srgbClr val="5BC0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双重复杂性：</a:t>
            </a:r>
            <a:pPr indent="0" marL="0">
              <a:lnSpc>
                <a:spcPct val="110000"/>
              </a:lnSpc>
              <a:buNone/>
            </a:pPr>
            <a:r>
              <a:rPr lang="en-US" sz="18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净负荷同时继承用电周期性与天气驱动随机波动；光伏呈“鸭子曲线”，风电表现为跨日非平稳变化。</a:t>
            </a:r>
            <a:endParaRPr lang="en-US" sz="1820" dirty="0"/>
          </a:p>
        </p:txBody>
      </p:sp>
      <p:sp>
        <p:nvSpPr>
          <p:cNvPr id="15" name="Shape 12"/>
          <p:cNvSpPr/>
          <p:nvPr/>
        </p:nvSpPr>
        <p:spPr>
          <a:xfrm>
            <a:off x="6400800" y="3803904"/>
            <a:ext cx="146304" cy="146304"/>
          </a:xfrm>
          <a:prstGeom prst="ellipse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38544" y="3703320"/>
            <a:ext cx="4517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820" b="1" dirty="0">
                <a:solidFill>
                  <a:srgbClr val="F7B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工程痛点：</a:t>
            </a:r>
            <a:pPr indent="0" marL="0">
              <a:lnSpc>
                <a:spcPct val="110000"/>
              </a:lnSpc>
              <a:buNone/>
            </a:pPr>
            <a:r>
              <a:rPr lang="en-US" sz="18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现有深度学习模型预测精度高，但难以给出可审计的推理路径，工程侧仍需要可读、可验证的物理解释。</a:t>
            </a:r>
            <a:endParaRPr lang="en-US" sz="1820" dirty="0"/>
          </a:p>
        </p:txBody>
      </p:sp>
      <p:sp>
        <p:nvSpPr>
          <p:cNvPr id="17" name="Shape 14"/>
          <p:cNvSpPr/>
          <p:nvPr/>
        </p:nvSpPr>
        <p:spPr>
          <a:xfrm>
            <a:off x="6382512" y="5230368"/>
            <a:ext cx="4663440" cy="841248"/>
          </a:xfrm>
          <a:prstGeom prst="round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9050" dir="2700000">
              <a:srgbClr val="091421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65392" y="54315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核心矛盾：既要预测准确，也要让辐照度、风速、温度等物理量以可读公式进入模型。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相关工作：已有三条主线，但“物理量能否稳定保留”为研究空白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261872"/>
            <a:ext cx="3063240" cy="41605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261872"/>
            <a:ext cx="3063240" cy="109728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36192"/>
            <a:ext cx="420624" cy="420624"/>
          </a:xfrm>
          <a:prstGeom prst="ellipse">
            <a:avLst/>
          </a:prstGeom>
          <a:solidFill>
            <a:srgbClr val="33C27F">
              <a:alpha val="90000"/>
            </a:srgbClr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3677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463040" y="15453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风光耦合负荷预测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950976" y="2148840"/>
            <a:ext cx="26700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LSTM、Transformer、混合分解、XGBoost 等方法在预测精度上进展明显</a:t>
            </a:r>
            <a:endParaRPr lang="en-US" sz="15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主流解释多依赖 SHAP、注意力可视化，属于近似事后解释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041648" y="1261872"/>
            <a:ext cx="3063240" cy="41605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41648" y="1261872"/>
            <a:ext cx="3063240" cy="109728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536192"/>
            <a:ext cx="420624" cy="420624"/>
          </a:xfrm>
          <a:prstGeom prst="ellipse">
            <a:avLst/>
          </a:prstGeom>
          <a:solidFill>
            <a:srgbClr val="5BC0EB">
              <a:alpha val="90000"/>
            </a:srgbClr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63677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754880" y="15453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符号回归与可解释建模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4242816" y="2148840"/>
            <a:ext cx="26700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可直接生成闭式表达式，理论上解释性更强</a:t>
            </a:r>
            <a:endParaRPr lang="en-US" sz="15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但在 26 维高维时序场景下容易遭遇搜索空间爆炸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7333488" y="1261872"/>
            <a:ext cx="3063240" cy="41605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33488" y="1261872"/>
            <a:ext cx="3063240" cy="109728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536192"/>
            <a:ext cx="420624" cy="420624"/>
          </a:xfrm>
          <a:prstGeom prst="ellipse">
            <a:avLst/>
          </a:prstGeom>
          <a:solidFill>
            <a:srgbClr val="F7B538">
              <a:alpha val="90000"/>
            </a:srgbClr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63677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046720" y="15453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KAN 可解释神经网络</a:t>
            </a:r>
            <a:endParaRPr lang="en-US" sz="1720" dirty="0"/>
          </a:p>
        </p:txBody>
      </p:sp>
      <p:sp>
        <p:nvSpPr>
          <p:cNvPr id="24" name="Text 22"/>
          <p:cNvSpPr/>
          <p:nvPr/>
        </p:nvSpPr>
        <p:spPr>
          <a:xfrm>
            <a:off x="7534656" y="2148840"/>
            <a:ext cx="26700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用可学习 B 样条替代固定激活函数，具备“先训练、后提公式”的潜力</a:t>
            </a:r>
            <a:endParaRPr lang="en-US" sz="15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现有工作多关注性能，缺少对物理量保留差异的系统分析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2286000" y="5513832"/>
            <a:ext cx="754380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5532120"/>
            <a:ext cx="10058400" cy="804672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CFE7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574243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关键缺口：辐照度、风速、温度等物理量的“符号可辨识性”是否存在系统差异？哪些会被稳定保留，哪些会被替代或丢弃？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方法总体框架：采用“KAN 教师模型 + 后验符号提取”两阶段路线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2359152"/>
            <a:ext cx="201168" cy="512064"/>
          </a:xfrm>
          <a:prstGeom prst="chevron">
            <a:avLst/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2359152"/>
            <a:ext cx="201168" cy="512064"/>
          </a:xfrm>
          <a:prstGeom prst="chevron">
            <a:avLst/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2359152"/>
            <a:ext cx="201168" cy="512064"/>
          </a:xfrm>
          <a:prstGeom prst="chevron">
            <a:avLst/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2359152"/>
            <a:ext cx="201168" cy="512064"/>
          </a:xfrm>
          <a:prstGeom prst="chevron">
            <a:avLst/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1828800" cy="1645920"/>
          </a:xfrm>
          <a:prstGeom prst="roundRect">
            <a:avLst/>
          </a:prstGeom>
          <a:solidFill>
            <a:srgbClr val="F1F7F3"/>
          </a:solidFill>
          <a:ln w="12700">
            <a:solidFill>
              <a:srgbClr val="33C27F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83080"/>
            <a:ext cx="1828800" cy="109728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" y="1993392"/>
            <a:ext cx="310896" cy="310896"/>
          </a:xfrm>
          <a:prstGeom prst="ellipse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066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" y="1938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数据准备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与特征工程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667512" y="257860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PERFORM 数据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维输入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差值目标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1783080"/>
            <a:ext cx="1828800" cy="164592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5BC0EB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88920" y="1783080"/>
            <a:ext cx="1828800" cy="109728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6936" y="1993392"/>
            <a:ext cx="310896" cy="310896"/>
          </a:xfrm>
          <a:prstGeom prst="ellipse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2066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1938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KAN 教师模型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三阶段训练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2953512" y="257860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稀疏化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1783080"/>
            <a:ext cx="1828800" cy="164592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7B538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1783080"/>
            <a:ext cx="1828800" cy="109728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02936" y="1993392"/>
            <a:ext cx="310896" cy="310896"/>
          </a:xfrm>
          <a:prstGeom prst="ellipse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2936" y="2066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05272" y="1938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阈值搜索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结构剪枝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5239512" y="257860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保留关键边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压缩网络结构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60920" y="1783080"/>
            <a:ext cx="1828800" cy="1645920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8E69C9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60920" y="1783080"/>
            <a:ext cx="1828800" cy="109728"/>
          </a:xfrm>
          <a:prstGeom prst="rect">
            <a:avLst/>
          </a:prstGeom>
          <a:solidFill>
            <a:srgbClr val="8E69C9"/>
          </a:solidFill>
          <a:ln w="12700">
            <a:solidFill>
              <a:srgbClr val="8E69C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88936" y="1993392"/>
            <a:ext cx="310896" cy="310896"/>
          </a:xfrm>
          <a:prstGeom prst="ellipse">
            <a:avLst/>
          </a:prstGeom>
          <a:solidFill>
            <a:srgbClr val="8E69C9"/>
          </a:solidFill>
          <a:ln w="12700">
            <a:solidFill>
              <a:srgbClr val="8E69C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8936" y="2066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91272" y="1938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后验符号提取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与公式化简</a:t>
            </a:r>
            <a:endParaRPr lang="en-US" sz="1620" dirty="0"/>
          </a:p>
        </p:txBody>
      </p:sp>
      <p:sp>
        <p:nvSpPr>
          <p:cNvPr id="34" name="Text 32"/>
          <p:cNvSpPr/>
          <p:nvPr/>
        </p:nvSpPr>
        <p:spPr>
          <a:xfrm>
            <a:off x="7525512" y="257860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候选函数拟合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SymPy 化简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生成闭式公式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646920" y="1783080"/>
            <a:ext cx="1828800" cy="1645920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2DA36B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46920" y="1783080"/>
            <a:ext cx="1828800" cy="109728"/>
          </a:xfrm>
          <a:prstGeom prst="rect">
            <a:avLst/>
          </a:prstGeom>
          <a:solidFill>
            <a:srgbClr val="2DA36B"/>
          </a:solidFill>
          <a:ln w="12700">
            <a:solidFill>
              <a:srgbClr val="2DA36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74936" y="1993392"/>
            <a:ext cx="310896" cy="310896"/>
          </a:xfrm>
          <a:prstGeom prst="ellipse">
            <a:avLst/>
          </a:prstGeom>
          <a:solidFill>
            <a:srgbClr val="2DA36B"/>
          </a:solidFill>
          <a:ln w="12700">
            <a:solidFill>
              <a:srgbClr val="2DA36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74936" y="2066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77272" y="1938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统一评估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与基线对比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9811512" y="257860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MLP / PySR / 持续性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精度 + 可解释性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1520" y="4526280"/>
            <a:ext cx="5257800" cy="1078992"/>
          </a:xfrm>
          <a:prstGeom prst="round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9050" dir="2700000">
              <a:srgbClr val="091421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47731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不是传统蒸馏：最终符号公式的训练标签始终来自真实目标，而不是 KAN 输出。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4400" y="51480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5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因此，重点不在“模仿教师”，而在“把已经学到的关键关系提炼成公式”。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99632" y="4526280"/>
            <a:ext cx="5257800" cy="1078992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CFE7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475488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核心优势：先让模型在完整特征空间中“学会”，再通过剪枝与符号化降低搜索空间。</a:t>
            </a:r>
            <a:endParaRPr lang="en-US" sz="1520" dirty="0"/>
          </a:p>
        </p:txBody>
      </p:sp>
      <p:sp>
        <p:nvSpPr>
          <p:cNvPr id="46" name="Text 44"/>
          <p:cNvSpPr/>
          <p:nvPr/>
        </p:nvSpPr>
        <p:spPr>
          <a:xfrm>
            <a:off x="6382512" y="5148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目标是兼顾预测能力、物理可读性与结果可复算性。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方法关键点：用“聚焦分量教师模型”缓解直接建模退化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6492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为何需要目标分解？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2304288" y="2176272"/>
            <a:ext cx="219456" cy="384048"/>
          </a:xfrm>
          <a:prstGeom prst="chevron">
            <a:avLst/>
          </a:prstGeom>
          <a:solidFill>
            <a:srgbClr val="DDE7F0"/>
          </a:solidFill>
          <a:ln w="12700">
            <a:solidFill>
              <a:srgbClr val="DDE7F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93392"/>
            <a:ext cx="219456" cy="384048"/>
          </a:xfrm>
          <a:prstGeom prst="chevron">
            <a:avLst/>
          </a:prstGeom>
          <a:solidFill>
            <a:srgbClr val="F1D7DD"/>
          </a:solidFill>
          <a:ln w="12700">
            <a:solidFill>
              <a:srgbClr val="F1D7D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3959352"/>
            <a:ext cx="219456" cy="384048"/>
          </a:xfrm>
          <a:prstGeom prst="chevron">
            <a:avLst/>
          </a:prstGeom>
          <a:solidFill>
            <a:srgbClr val="CFE7DB"/>
          </a:solidFill>
          <a:ln w="12700">
            <a:solidFill>
              <a:srgbClr val="CFE7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3986784"/>
            <a:ext cx="0" cy="-411480"/>
          </a:xfrm>
          <a:prstGeom prst="line">
            <a:avLst/>
          </a:prstGeom>
          <a:noFill/>
          <a:ln w="12700">
            <a:solidFill>
              <a:srgbClr val="BBD7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3986784"/>
            <a:ext cx="0" cy="411480"/>
          </a:xfrm>
          <a:prstGeom prst="line">
            <a:avLst/>
          </a:prstGeom>
          <a:noFill/>
          <a:ln w="12700">
            <a:solidFill>
              <a:srgbClr val="BBD7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3575304"/>
            <a:ext cx="201168" cy="0"/>
          </a:xfrm>
          <a:prstGeom prst="line">
            <a:avLst/>
          </a:prstGeom>
          <a:noFill/>
          <a:ln w="12700">
            <a:solidFill>
              <a:srgbClr val="CFE7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4398264"/>
            <a:ext cx="201168" cy="0"/>
          </a:xfrm>
          <a:prstGeom prst="line">
            <a:avLst/>
          </a:prstGeom>
          <a:noFill/>
          <a:ln w="12700">
            <a:solidFill>
              <a:srgbClr val="CFE7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2084832"/>
            <a:ext cx="1261872" cy="71323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223113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26维输入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与气象协变量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1883664"/>
            <a:ext cx="1481328" cy="749808"/>
          </a:xfrm>
          <a:prstGeom prst="roundRect">
            <a:avLst/>
          </a:prstGeom>
          <a:solidFill>
            <a:srgbClr val="FFF2F4"/>
          </a:solidFill>
          <a:ln w="12700">
            <a:solidFill>
              <a:srgbClr val="D65A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204825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直接净负荷</a:t>
            </a:r>
            <a:endParaRPr lang="en-US" sz="1460" dirty="0"/>
          </a:p>
          <a:p>
            <a:pPr algn="ctr" indent="0" marL="0">
              <a:buNone/>
            </a:pPr>
            <a:r>
              <a:rPr lang="en-US" sz="146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建模</a:t>
            </a:r>
            <a:endParaRPr lang="en-US" sz="1460" dirty="0"/>
          </a:p>
        </p:txBody>
      </p:sp>
      <p:sp>
        <p:nvSpPr>
          <p:cNvPr id="20" name="Shape 18"/>
          <p:cNvSpPr/>
          <p:nvPr/>
        </p:nvSpPr>
        <p:spPr>
          <a:xfrm>
            <a:off x="4709160" y="1719072"/>
            <a:ext cx="1920240" cy="914400"/>
          </a:xfrm>
          <a:prstGeom prst="roundRect">
            <a:avLst/>
          </a:prstGeom>
          <a:solidFill>
            <a:srgbClr val="FFF2F4"/>
          </a:solidFill>
          <a:ln w="12700">
            <a:solidFill>
              <a:srgbClr val="F1D7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88366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D65A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常见结果：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D65A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公式被历史负荷项主导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D65A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物理量几乎被丢弃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2651760" y="3694176"/>
            <a:ext cx="1481328" cy="749808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33C2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38587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聚焦分量</a:t>
            </a:r>
            <a:endParaRPr lang="en-US" sz="1460" dirty="0"/>
          </a:p>
          <a:p>
            <a:pPr algn="ctr" indent="0" marL="0">
              <a:buNone/>
            </a:pPr>
            <a:r>
              <a:rPr lang="en-US" sz="146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教师模型</a:t>
            </a:r>
            <a:endParaRPr lang="en-US" sz="1460" dirty="0"/>
          </a:p>
        </p:txBody>
      </p:sp>
      <p:sp>
        <p:nvSpPr>
          <p:cNvPr id="24" name="Shape 22"/>
          <p:cNvSpPr/>
          <p:nvPr/>
        </p:nvSpPr>
        <p:spPr>
          <a:xfrm>
            <a:off x="4828032" y="3273552"/>
            <a:ext cx="1353312" cy="658368"/>
          </a:xfrm>
          <a:prstGeom prst="roundRect">
            <a:avLst/>
          </a:prstGeom>
          <a:solidFill>
            <a:srgbClr val="F9FBED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419856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太阳能分量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教师模型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828032" y="4096512"/>
            <a:ext cx="1353312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4242816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风电分量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教师模型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492240" y="3529584"/>
            <a:ext cx="603504" cy="1042416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CFE7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68503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提高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物理量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7452360" y="1188720"/>
            <a:ext cx="4005072" cy="516636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62672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统一评价维度</a:t>
            </a:r>
            <a:endParaRPr lang="en-US" sz="1680" dirty="0"/>
          </a:p>
        </p:txBody>
      </p:sp>
      <p:sp>
        <p:nvSpPr>
          <p:cNvPr id="32" name="Shape 30"/>
          <p:cNvSpPr/>
          <p:nvPr/>
        </p:nvSpPr>
        <p:spPr>
          <a:xfrm>
            <a:off x="7662672" y="1783080"/>
            <a:ext cx="1417320" cy="292608"/>
          </a:xfrm>
          <a:prstGeom prst="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18379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精度指标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18120" y="2240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均方根误差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决定系数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预测技能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372600" y="1783080"/>
            <a:ext cx="1783080" cy="292608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18379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可解释性指标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528048" y="2240280"/>
            <a:ext cx="14813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公式节点数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有效变量数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活跃边数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物理量进入频率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多随机种子稳定性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62672" y="4754880"/>
            <a:ext cx="3520440" cy="987552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CFE7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128" y="49560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核心研究问题：变量替代性、预测步长与符号简洁性偏置，如何共同影响物理量保留？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初步实验一：当前主线设置下，KAN 教师模型预测性能最优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626364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17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净负荷 6 步差值预测（当前主线标准对齐设置）</a:t>
            </a:r>
            <a:endParaRPr lang="en-US" sz="1640" dirty="0"/>
          </a:p>
        </p:txBody>
      </p:sp>
      <p:sp>
        <p:nvSpPr>
          <p:cNvPr id="9" name="Text 7"/>
          <p:cNvSpPr/>
          <p:nvPr/>
        </p:nvSpPr>
        <p:spPr>
          <a:xfrm>
            <a:off x="4892040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均方根误差越低越好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2651760" y="1828800"/>
            <a:ext cx="0" cy="384048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828800"/>
            <a:ext cx="0" cy="3840480"/>
          </a:xfrm>
          <a:prstGeom prst="line">
            <a:avLst/>
          </a:prstGeom>
          <a:noFill/>
          <a:ln w="12700">
            <a:solidFill>
              <a:srgbClr val="E9EF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5715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4820" y="1828800"/>
            <a:ext cx="0" cy="3840480"/>
          </a:xfrm>
          <a:prstGeom prst="line">
            <a:avLst/>
          </a:prstGeom>
          <a:noFill/>
          <a:ln w="12700">
            <a:solidFill>
              <a:srgbClr val="E9EF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0228" y="5715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828800"/>
            <a:ext cx="0" cy="3840480"/>
          </a:xfrm>
          <a:prstGeom prst="line">
            <a:avLst/>
          </a:prstGeom>
          <a:noFill/>
          <a:ln w="12700">
            <a:solidFill>
              <a:srgbClr val="E9EF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5715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0760" y="1755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预测技能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2020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KAN 教师模型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51760" y="1965960"/>
            <a:ext cx="1764778" cy="347472"/>
          </a:xfrm>
          <a:prstGeom prst="round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1402" y="20208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1414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419088" y="1938528"/>
            <a:ext cx="512064" cy="402336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CFE7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01168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0.453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953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参数匹配 MLP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651760" y="2898648"/>
            <a:ext cx="1840775" cy="347472"/>
          </a:xfrm>
          <a:prstGeom prst="roundRect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7399" y="29535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1474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19088" y="2871216"/>
            <a:ext cx="512064" cy="402336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94436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0.430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8862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对齐版 PySR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651760" y="3831336"/>
            <a:ext cx="2584411" cy="347472"/>
          </a:xfrm>
          <a:prstGeom prst="roundRect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1035" y="38862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≈2070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419088" y="3803904"/>
            <a:ext cx="512064" cy="402336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87705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≈0.20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8188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持续性基线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651760" y="4764024"/>
            <a:ext cx="3228216" cy="347472"/>
          </a:xfrm>
          <a:prstGeom prst="roundRect">
            <a:avLst/>
          </a:prstGeom>
          <a:solidFill>
            <a:srgbClr val="AEBBCD"/>
          </a:solidFill>
          <a:ln w="12700">
            <a:solidFill>
              <a:srgbClr val="AEBBC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818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2586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419088" y="4736592"/>
            <a:ext cx="512064" cy="402336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480974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0" y="1188720"/>
            <a:ext cx="3977640" cy="521208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43800" y="1463040"/>
            <a:ext cx="3520440" cy="1207008"/>
          </a:xfrm>
          <a:prstGeom prst="round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690104" y="1627632"/>
            <a:ext cx="54864" cy="877824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16276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当前最佳模型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845552" y="1901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KAN 教师模型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845552" y="22494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6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均方根误差 1413.51；预测技能 0.453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543800" y="3008376"/>
            <a:ext cx="146304" cy="146304"/>
          </a:xfrm>
          <a:prstGeom prst="ellipse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81544" y="2907792"/>
            <a:ext cx="3282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80" b="1" dirty="0">
                <a:solidFill>
                  <a:srgbClr val="33C2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当前结论：</a:t>
            </a:r>
            <a:pPr indent="0" marL="0">
              <a:lnSpc>
                <a:spcPct val="110000"/>
              </a:lnSpc>
              <a:buNone/>
            </a:pPr>
            <a:r>
              <a:rPr lang="en-US" sz="168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在净负荷 6 步差值预测上，KAN 目前优于参数匹配 MLP 与对齐版 PySR。</a:t>
            </a:r>
            <a:endParaRPr lang="en-US" sz="1680" dirty="0"/>
          </a:p>
        </p:txBody>
      </p:sp>
      <p:sp>
        <p:nvSpPr>
          <p:cNvPr id="46" name="Shape 44"/>
          <p:cNvSpPr/>
          <p:nvPr/>
        </p:nvSpPr>
        <p:spPr>
          <a:xfrm>
            <a:off x="7543800" y="4032504"/>
            <a:ext cx="146304" cy="146304"/>
          </a:xfrm>
          <a:prstGeom prst="ellipse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81544" y="3931920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80" b="1" dirty="0">
                <a:solidFill>
                  <a:srgbClr val="F7B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需要说明：</a:t>
            </a:r>
            <a:pPr indent="0" marL="0">
              <a:lnSpc>
                <a:spcPct val="110000"/>
              </a:lnSpc>
              <a:buNone/>
            </a:pPr>
            <a:r>
              <a:rPr lang="en-US" sz="168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“KAN vs PySR”目前仍只能视为部分公平比较，后续会继续补齐对照。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543800" y="5074920"/>
            <a:ext cx="146304" cy="146304"/>
          </a:xfrm>
          <a:prstGeom prst="ellipse">
            <a:avLst/>
          </a:prstGeom>
          <a:solidFill>
            <a:srgbClr val="D65A6F"/>
          </a:solidFill>
          <a:ln w="12700">
            <a:solidFill>
              <a:srgbClr val="D65A6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81544" y="49743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80" b="1" dirty="0">
                <a:solidFill>
                  <a:srgbClr val="D65A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结论边界：</a:t>
            </a:r>
            <a:pPr indent="0" marL="0">
              <a:lnSpc>
                <a:spcPct val="110000"/>
              </a:lnSpc>
              <a:buNone/>
            </a:pPr>
            <a:r>
              <a:rPr lang="en-US" sz="168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当前结果仍需多随机种子复现与滚动验证，尚不能直接下定论。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初步实验二：变量“符号可辨识性”出现明显分化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1207008"/>
            <a:ext cx="68122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不同目标设置下的当前观察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932688" y="1783080"/>
            <a:ext cx="1600200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目标设置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2532888" y="1783080"/>
            <a:ext cx="2057400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828800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物理量进入情况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590288" y="1783080"/>
            <a:ext cx="2816352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2880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当前观察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32688" y="2167128"/>
            <a:ext cx="1600200" cy="786384"/>
          </a:xfrm>
          <a:prstGeom prst="rect">
            <a:avLst/>
          </a:prstGeom>
          <a:solidFill>
            <a:srgbClr val="FFF2F4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212848"/>
            <a:ext cx="1453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直接净负荷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2532888" y="2167128"/>
            <a:ext cx="2057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212848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65A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几乎不进入公式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4590288" y="2167128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12848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反复出现“负荷主导退化”，符号提取容易坍缩为总负荷极简关系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932688" y="2953512"/>
            <a:ext cx="1600200" cy="786384"/>
          </a:xfrm>
          <a:prstGeom prst="rect">
            <a:avLst/>
          </a:prstGeom>
          <a:solidFill>
            <a:srgbClr val="FFF8ED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999232"/>
            <a:ext cx="1453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太阳能分量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2532888" y="2953512"/>
            <a:ext cx="2057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999232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B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辐照度相关变量较稳定进入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590288" y="2953512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999232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已完成实验中出现了更清晰的正例，物理可读性更强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932688" y="3739896"/>
            <a:ext cx="1600200" cy="786384"/>
          </a:xfrm>
          <a:prstGeom prst="rect">
            <a:avLst/>
          </a:prstGeom>
          <a:solidFill>
            <a:srgbClr val="EEF7FC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785616"/>
            <a:ext cx="1453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风电分量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2532888" y="3739896"/>
            <a:ext cx="2057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785616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BC0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风速保留不稳定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4590288" y="3739896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85616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“显式进入”与“泛化更好”并非简单对应，且与预测步长存在非单调关系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932688" y="4919472"/>
            <a:ext cx="6336792" cy="960120"/>
          </a:xfrm>
          <a:prstGeom prst="roundRect">
            <a:avLst/>
          </a:prstGeom>
          <a:solidFill>
            <a:srgbClr val="EFF6F3"/>
          </a:solidFill>
          <a:ln w="12700">
            <a:solidFill>
              <a:srgbClr val="CFE7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5166360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当前判断：中等预测步长可能更容易显现风电可用结构，但这一结论仍需多种子实验与更多工况验证。</a:t>
            </a:r>
            <a:endParaRPr lang="en-US" sz="1460" dirty="0"/>
          </a:p>
        </p:txBody>
      </p:sp>
      <p:sp>
        <p:nvSpPr>
          <p:cNvPr id="35" name="Shape 33"/>
          <p:cNvSpPr/>
          <p:nvPr/>
        </p:nvSpPr>
        <p:spPr>
          <a:xfrm>
            <a:off x="7726680" y="1207008"/>
            <a:ext cx="3547872" cy="516636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73568" y="14447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影响“保留差异”的三个因素</a:t>
            </a:r>
            <a:endParaRPr lang="en-US" sz="1640" dirty="0"/>
          </a:p>
        </p:txBody>
      </p:sp>
      <p:sp>
        <p:nvSpPr>
          <p:cNvPr id="37" name="Shape 35"/>
          <p:cNvSpPr/>
          <p:nvPr/>
        </p:nvSpPr>
        <p:spPr>
          <a:xfrm>
            <a:off x="9418320" y="3246120"/>
            <a:ext cx="-868680" cy="-658368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0" y="3246120"/>
            <a:ext cx="868680" cy="-658368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320" y="3246120"/>
            <a:ext cx="0" cy="9144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880360"/>
            <a:ext cx="1371600" cy="1371600"/>
          </a:xfrm>
          <a:prstGeom prst="ellipse">
            <a:avLst/>
          </a:prstGeom>
          <a:solidFill>
            <a:srgbClr val="EFF6F3"/>
          </a:solidFill>
          <a:ln w="12700">
            <a:solidFill>
              <a:srgbClr val="CFE7DB"/>
            </a:solidFill>
            <a:prstDash val="solid"/>
          </a:ln>
          <a:effectLst>
            <a:outerShdw sx="100000" sy="100000" kx="0" ky="0" algn="bl" rotWithShape="0" blurRad="19050" dist="12700" dir="2700000">
              <a:srgbClr val="12263A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732520" y="3227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</a:t>
            </a:r>
            <a:endParaRPr lang="en-US" sz="1620" dirty="0"/>
          </a:p>
        </p:txBody>
      </p:sp>
      <p:sp>
        <p:nvSpPr>
          <p:cNvPr id="42" name="Shape 40"/>
          <p:cNvSpPr/>
          <p:nvPr/>
        </p:nvSpPr>
        <p:spPr>
          <a:xfrm>
            <a:off x="7882128" y="1901952"/>
            <a:ext cx="1444752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206654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变量替代性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528048" y="1901952"/>
            <a:ext cx="1444752" cy="658368"/>
          </a:xfrm>
          <a:prstGeom prst="roundRect">
            <a:avLst/>
          </a:prstGeom>
          <a:solidFill>
            <a:srgbClr val="FFF8ED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206654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预测步长依赖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430768" y="4370832"/>
            <a:ext cx="1993392" cy="658368"/>
          </a:xfrm>
          <a:prstGeom prst="roundRect">
            <a:avLst/>
          </a:prstGeom>
          <a:solidFill>
            <a:srgbClr val="FFF2F4"/>
          </a:solidFill>
          <a:ln w="12700">
            <a:solidFill>
              <a:srgbClr val="D65A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453542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符号简洁性偏置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955280" y="5303520"/>
            <a:ext cx="3063240" cy="676656"/>
          </a:xfrm>
          <a:prstGeom prst="round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54864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显式进入公式 ≠ 一定泛化更好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10896"/>
            <a:ext cx="73152" cy="347472"/>
          </a:xfrm>
          <a:prstGeom prst="rect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后续规划：围绕复现、补线与边界诊断完善论文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841248"/>
            <a:ext cx="108356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01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9B7C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1417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时间安排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1517904" y="2606040"/>
            <a:ext cx="2048256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86784" y="2606040"/>
            <a:ext cx="2048256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2606040"/>
            <a:ext cx="2048256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395728"/>
            <a:ext cx="420624" cy="420624"/>
          </a:xfrm>
          <a:prstGeom prst="ellipse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1226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0299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3月下旬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2999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多随机种子复现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复验关键实验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检查公式稳定性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395728"/>
            <a:ext cx="420624" cy="420624"/>
          </a:xfrm>
          <a:prstGeom prst="ellipse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12263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20299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4月上旬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18688" y="2999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补充主流基线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3108960" y="33649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 XGBoost、LSTM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定位方法坐标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395728"/>
            <a:ext cx="420624" cy="420624"/>
          </a:xfrm>
          <a:prstGeom prst="ellipse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12263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20299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4月中旬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87568" y="2999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边界与稳健性诊断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577840" y="33649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评估插值泄漏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引入滚动验证与工况分析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2395728"/>
            <a:ext cx="420624" cy="420624"/>
          </a:xfrm>
          <a:prstGeom prst="ellipse">
            <a:avLst/>
          </a:prstGeom>
          <a:solidFill>
            <a:srgbClr val="D65A6F"/>
          </a:solidFill>
          <a:ln w="12700">
            <a:solidFill>
              <a:srgbClr val="D65A6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12263A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75320" y="20299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4月下旬—5月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56448" y="2999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论文修改与答辩准备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8046720" y="33649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完善证据链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完成论文与答辩材料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" y="4315968"/>
            <a:ext cx="105887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sx="100000" sy="100000" kx="0" ky="0" algn="bl" rotWithShape="0" blurRad="25400" dist="19050" dir="2700000">
              <a:srgbClr val="12263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4553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预期产出</a:t>
            </a:r>
            <a:endParaRPr lang="en-US" sz="1680" dirty="0"/>
          </a:p>
        </p:txBody>
      </p:sp>
      <p:sp>
        <p:nvSpPr>
          <p:cNvPr id="29" name="Shape 27"/>
          <p:cNvSpPr/>
          <p:nvPr/>
        </p:nvSpPr>
        <p:spPr>
          <a:xfrm>
            <a:off x="1005840" y="4956048"/>
            <a:ext cx="493776" cy="493776"/>
          </a:xfrm>
          <a:prstGeom prst="ellipse">
            <a:avLst/>
          </a:prstGeom>
          <a:solidFill>
            <a:srgbClr val="33C27F"/>
          </a:solidFill>
          <a:ln w="12700">
            <a:solidFill>
              <a:srgbClr val="33C27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07492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627632" y="49377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可解释预测流水线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1627632" y="5248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形成一条“KAN 教师模型 + 后验符号提取”的完整研究链路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4297680" y="4956048"/>
            <a:ext cx="493776" cy="493776"/>
          </a:xfrm>
          <a:prstGeom prst="ellipse">
            <a:avLst/>
          </a:prstGeom>
          <a:solidFill>
            <a:srgbClr val="5BC0EB"/>
          </a:solidFill>
          <a:ln w="12700">
            <a:solidFill>
              <a:srgbClr val="5BC0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507492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4919472" y="49377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可辨识性实证框架</a:t>
            </a:r>
            <a:endParaRPr lang="en-US" sz="1520" dirty="0"/>
          </a:p>
        </p:txBody>
      </p:sp>
      <p:sp>
        <p:nvSpPr>
          <p:cNvPr id="36" name="Text 34"/>
          <p:cNvSpPr/>
          <p:nvPr/>
        </p:nvSpPr>
        <p:spPr>
          <a:xfrm>
            <a:off x="4919472" y="5248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系统刻画太阳能与风电等物理量在符号提取中的保留差异</a:t>
            </a:r>
            <a:endParaRPr lang="en-US" sz="1240" dirty="0"/>
          </a:p>
        </p:txBody>
      </p:sp>
      <p:sp>
        <p:nvSpPr>
          <p:cNvPr id="37" name="Shape 35"/>
          <p:cNvSpPr/>
          <p:nvPr/>
        </p:nvSpPr>
        <p:spPr>
          <a:xfrm>
            <a:off x="7589520" y="4956048"/>
            <a:ext cx="493776" cy="493776"/>
          </a:xfrm>
          <a:prstGeom prst="ellipse">
            <a:avLst/>
          </a:prstGeom>
          <a:solidFill>
            <a:srgbClr val="F7B538"/>
          </a:solidFill>
          <a:ln w="12700">
            <a:solidFill>
              <a:srgbClr val="F7B53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507492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8211312" y="49377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适用边界与权衡结论</a:t>
            </a:r>
            <a:endParaRPr lang="en-US" sz="1520" dirty="0"/>
          </a:p>
        </p:txBody>
      </p:sp>
      <p:sp>
        <p:nvSpPr>
          <p:cNvPr id="40" name="Text 38"/>
          <p:cNvSpPr/>
          <p:nvPr/>
        </p:nvSpPr>
        <p:spPr>
          <a:xfrm>
            <a:off x="8211312" y="5248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F6F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明确精度—可解释性权衡及方法在不同设置下的经验边界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8823960" y="6291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2DA3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请各位老师批评指正</a:t>
            </a:r>
            <a:endParaRPr lang="en-US" sz="14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1"/>
          </a:solidFill>
          <a:ln w="12700">
            <a:solidFill>
              <a:srgbClr val="0E2241">
                <a:alpha val="0"/>
              </a:srgbClr>
            </a:solidFill>
            <a:prstDash val="solid"/>
          </a:ln>
        </p:spPr>
      </p:sp>
      <p:pic>
        <p:nvPicPr>
          <p:cNvPr id="3" name="Image 0" descr="/mnt/data/ppt_work/hero_curve.png">    </p:cNvPr>
          <p:cNvPicPr>
            <a:picLocks noChangeAspect="1"/>
          </p:cNvPicPr>
          <p:nvPr/>
        </p:nvPicPr>
        <p:blipFill>
          <a:blip r:embed="rId1"/>
          <a:srcRect l="21875" r="21875" t="0" b="0"/>
          <a:stretch/>
        </p:blipFill>
        <p:spPr>
          <a:xfrm>
            <a:off x="5623560" y="320040"/>
            <a:ext cx="6217920" cy="6217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汇报完毕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DCE8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本课题关注的不只是“能否预测”，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DCE8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更是“为什么这样预测”。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40" dirty="0">
                <a:solidFill>
                  <a:srgbClr val="BED0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当前已完成：主线流程跑通、主目标性能对比、太阳能/风电分量的初步可辨识性观察。</a:t>
            </a:r>
            <a:endParaRPr lang="en-US" sz="15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40" dirty="0">
                <a:solidFill>
                  <a:srgbClr val="BED0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下一步将重点完成：多随机种子复现、补充基线与适用边界诊断。</a:t>
            </a:r>
            <a:endParaRPr lang="en-US" sz="1540" dirty="0"/>
          </a:p>
        </p:txBody>
      </p:sp>
      <p:sp>
        <p:nvSpPr>
          <p:cNvPr id="7" name="Shape 4"/>
          <p:cNvSpPr/>
          <p:nvPr/>
        </p:nvSpPr>
        <p:spPr>
          <a:xfrm>
            <a:off x="914400" y="4800600"/>
            <a:ext cx="3520440" cy="0"/>
          </a:xfrm>
          <a:prstGeom prst="line">
            <a:avLst/>
          </a:prstGeom>
          <a:noFill/>
          <a:ln w="12700">
            <a:solidFill>
              <a:srgbClr val="33C2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029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请老师批评指正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5577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AFC0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（学生信息可在封面直接补充）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基于符号回归的风光耦合负荷预测模型可解释研究</dc:title>
  <dc:subject>毕业论文开题答辩</dc:subject>
  <dc:creator>OpenAI</dc:creator>
  <cp:lastModifiedBy>OpenAI</cp:lastModifiedBy>
  <cp:revision>1</cp:revision>
  <dcterms:created xsi:type="dcterms:W3CDTF">2026-03-14T19:32:33Z</dcterms:created>
  <dcterms:modified xsi:type="dcterms:W3CDTF">2026-03-14T19:32:33Z</dcterms:modified>
</cp:coreProperties>
</file>