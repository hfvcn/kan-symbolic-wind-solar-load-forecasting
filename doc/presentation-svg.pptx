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R101"/>
          <p:cNvSpPr/>
          <p:nvPr/>
        </p:nvSpPr>
        <p:spPr>
          <a:xfrm>
            <a:off x="838200" y="2286000"/>
            <a:ext cx="28575" cy="13335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102" name="T102"/>
          <p:cNvSpPr txBox="1"/>
          <p:nvPr/>
        </p:nvSpPr>
        <p:spPr>
          <a:xfrm>
            <a:off x="3634978" y="1857375"/>
            <a:ext cx="4922043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3000" b="1">
                <a:solidFill>
                  <a:srgbClr val="212529"/>
                </a:solidFill>
                <a:latin typeface="Noto Sans SC"/>
                <a:ea typeface="Noto Sans SC"/>
              </a:rPr>
              <a:t>基于KAN的可解释净负荷预测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4706540" y="2571750"/>
            <a:ext cx="2778769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>
                <a:solidFill>
                  <a:srgbClr val="6b7280"/>
                </a:solidFill>
                <a:latin typeface="Noto Sans SC"/>
                <a:ea typeface="Noto Sans SC"/>
              </a:rPr>
              <a:t>公式坍缩的发现、诊断与解决</a:t>
            </a:r>
          </a:p>
        </p:txBody>
      </p:sp>
      <p:sp>
        <p:nvSpPr>
          <p:cNvPr id="104" name="R104"/>
          <p:cNvSpPr/>
          <p:nvPr/>
        </p:nvSpPr>
        <p:spPr>
          <a:xfrm>
            <a:off x="5583435" y="3009900"/>
            <a:ext cx="1024979" cy="323850"/>
          </a:xfrm>
          <a:prstGeom prst="roundRect">
            <a:avLst>
              <a:gd name="adj" fmla="val 8823"/>
            </a:avLst>
          </a:prstGeom>
          <a:solidFill>
            <a:srgbClr val="000000">
              <a:alpha val="0"/>
            </a:srgbClr>
          </a:solidFill>
          <a:ln w="12700">
            <a:solidFill>
              <a:srgbClr val="2563eb"/>
            </a:solidFill>
          </a:ln>
        </p:spPr>
      </p:sp>
      <p:sp>
        <p:nvSpPr>
          <p:cNvPr id="105" name="T105"/>
          <p:cNvSpPr txBox="1"/>
          <p:nvPr/>
        </p:nvSpPr>
        <p:spPr>
          <a:xfrm>
            <a:off x="5745360" y="3057525"/>
            <a:ext cx="7011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2563eb">
                    <a:alpha val="85000"/>
                  </a:srgbClr>
                </a:solidFill>
                <a:latin typeface="Noto Sans SC"/>
                <a:ea typeface="Noto Sans SC"/>
              </a:rPr>
              <a:t>中期答辩</a:t>
            </a:r>
          </a:p>
        </p:txBody>
      </p:sp>
      <p:sp>
        <p:nvSpPr>
          <p:cNvPr id="106" name="R106"/>
          <p:cNvSpPr/>
          <p:nvPr/>
        </p:nvSpPr>
        <p:spPr>
          <a:xfrm>
            <a:off x="5791200" y="3714750"/>
            <a:ext cx="609600" cy="9525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07" name="T107"/>
          <p:cNvSpPr txBox="1"/>
          <p:nvPr/>
        </p:nvSpPr>
        <p:spPr>
          <a:xfrm>
            <a:off x="4919811" y="4062413"/>
            <a:ext cx="988367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6b7280"/>
                </a:solidFill>
                <a:latin typeface="Noto Sans SC"/>
                <a:ea typeface="Noto Sans SC"/>
              </a:rPr>
              <a:t>答辩人：[姓名]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5948808" y="4062413"/>
            <a:ext cx="147191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dee2e6"/>
                </a:solidFill>
                <a:latin typeface="Noto Sans SC"/>
                <a:ea typeface="Noto Sans SC"/>
              </a:rPr>
              <a:t>·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6136778" y="4062413"/>
            <a:ext cx="1135409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6b7280"/>
                </a:solidFill>
                <a:latin typeface="Noto Sans SC"/>
                <a:ea typeface="Noto Sans SC"/>
              </a:rPr>
              <a:t>导师：[导师姓名]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5287714" y="4367213"/>
            <a:ext cx="69398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6b7280"/>
                </a:solidFill>
                <a:latin typeface="Noto Sans SC"/>
                <a:ea typeface="Noto Sans SC"/>
              </a:rPr>
              <a:t>[学校名称]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6022330" y="4367213"/>
            <a:ext cx="147191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dee2e6"/>
                </a:solidFill>
                <a:latin typeface="Noto Sans SC"/>
                <a:ea typeface="Noto Sans SC"/>
              </a:rPr>
              <a:t>·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6210300" y="4367213"/>
            <a:ext cx="69398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6b7280"/>
                </a:solidFill>
                <a:latin typeface="Noto Sans SC"/>
                <a:ea typeface="Noto Sans SC"/>
              </a:rPr>
              <a:t>[学院名称]</a:t>
            </a:r>
          </a:p>
        </p:txBody>
      </p:sp>
      <p:sp>
        <p:nvSpPr>
          <p:cNvPr id="113" name="R113"/>
          <p:cNvSpPr/>
          <p:nvPr/>
        </p:nvSpPr>
        <p:spPr>
          <a:xfrm>
            <a:off x="5524500" y="6391275"/>
            <a:ext cx="1143000" cy="952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dee2e6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fafbfc"/>
            </a:gs>
            <a:gs pos="25000">
              <a:srgbClr val="f3f5f7"/>
            </a:gs>
            <a:gs pos="50000">
              <a:srgbClr val="ecf0f3"/>
            </a:gs>
            <a:gs pos="75000">
              <a:srgbClr val="e5e9ee"/>
            </a:gs>
            <a:gs pos="100000">
              <a:srgbClr val="e0e5eb"/>
            </a:gs>
          </a:gsLst>
          <a:lin ang="3589588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14" name="T114"/>
          <p:cNvSpPr txBox="1"/>
          <p:nvPr/>
        </p:nvSpPr>
        <p:spPr>
          <a:xfrm>
            <a:off x="609600" y="180975"/>
            <a:ext cx="64263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2563eb"/>
                </a:solidFill>
                <a:latin typeface="Noto Sans SC"/>
                <a:ea typeface="Noto Sans SC"/>
              </a:rPr>
              <a:t>OVERVIEW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352425"/>
            <a:ext cx="105623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212529"/>
                </a:solidFill>
                <a:latin typeface="Noto Sans SC"/>
                <a:ea typeface="Noto Sans SC"/>
              </a:rPr>
              <a:t>汇报提纲</a:t>
            </a:r>
          </a:p>
        </p:txBody>
      </p:sp>
      <p:sp>
        <p:nvSpPr>
          <p:cNvPr id="116" name="R116"/>
          <p:cNvSpPr/>
          <p:nvPr/>
        </p:nvSpPr>
        <p:spPr>
          <a:xfrm>
            <a:off x="609600" y="6515100"/>
            <a:ext cx="10972800" cy="9525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17" name="T117"/>
          <p:cNvSpPr txBox="1"/>
          <p:nvPr/>
        </p:nvSpPr>
        <p:spPr>
          <a:xfrm>
            <a:off x="609600" y="6586538"/>
            <a:ext cx="13582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1319867" y="6586538"/>
            <a:ext cx="262532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2 / 11</a:t>
            </a:r>
          </a:p>
        </p:txBody>
      </p:sp>
      <p:sp>
        <p:nvSpPr>
          <p:cNvPr id="119" name="R119"/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f1f3f5"/>
          </a:solidFill>
        </p:spPr>
      </p:sp>
      <p:sp>
        <p:nvSpPr>
          <p:cNvPr id="120" name="T120"/>
          <p:cNvSpPr txBox="1"/>
          <p:nvPr/>
        </p:nvSpPr>
        <p:spPr>
          <a:xfrm>
            <a:off x="8524428" y="1038225"/>
            <a:ext cx="3210371" cy="400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0" b="1">
                <a:solidFill>
                  <a:srgbClr val="2563eb">
                    <a:alpha val="4000"/>
                  </a:srgbClr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21" name="R121"/>
          <p:cNvSpPr/>
          <p:nvPr/>
        </p:nvSpPr>
        <p:spPr>
          <a:xfrm>
            <a:off x="609600" y="1333500"/>
            <a:ext cx="28575" cy="4000500"/>
          </a:xfrm>
          <a:prstGeom prst="roundRect">
            <a:avLst>
              <a:gd name="adj" fmla="val 49998"/>
            </a:avLst>
          </a:prstGeom>
          <a:solidFill>
            <a:srgbClr val="2563eb">
              <a:alpha val="18000"/>
            </a:srgbClr>
          </a:solidFill>
        </p:spPr>
      </p:sp>
      <p:sp>
        <p:nvSpPr>
          <p:cNvPr id="122" name="R122"/>
          <p:cNvSpPr/>
          <p:nvPr/>
        </p:nvSpPr>
        <p:spPr>
          <a:xfrm>
            <a:off x="838200" y="1762125"/>
            <a:ext cx="10401300" cy="3714750"/>
          </a:xfrm>
          <a:prstGeom prst="roundRect">
            <a:avLst>
              <a:gd name="adj" fmla="val 1538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123" name="R123"/>
          <p:cNvSpPr/>
          <p:nvPr/>
        </p:nvSpPr>
        <p:spPr>
          <a:xfrm>
            <a:off x="1228725" y="21145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</p:spPr>
      </p:sp>
      <p:sp>
        <p:nvSpPr>
          <p:cNvPr id="124" name="T124"/>
          <p:cNvSpPr txBox="1"/>
          <p:nvPr/>
        </p:nvSpPr>
        <p:spPr>
          <a:xfrm>
            <a:off x="1323677" y="2166937"/>
            <a:ext cx="152846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ffffff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62125" y="21145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研究背景与问题定义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62125" y="2438400"/>
            <a:ext cx="2766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6b7280"/>
                </a:solidFill>
                <a:latin typeface="Noto Sans SC"/>
                <a:ea typeface="Noto Sans SC"/>
              </a:rPr>
              <a:t>净负荷预测的可解释性困境与KAN的机遇</a:t>
            </a:r>
          </a:p>
        </p:txBody>
      </p:sp>
      <p:sp>
        <p:nvSpPr>
          <p:cNvPr id="127" name="R127"/>
          <p:cNvSpPr/>
          <p:nvPr/>
        </p:nvSpPr>
        <p:spPr>
          <a:xfrm>
            <a:off x="1390650" y="2476500"/>
            <a:ext cx="19050" cy="4572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2865eb">
                  <a:alpha val="15000"/>
                </a:srgbClr>
              </a:gs>
            </a:gsLst>
            <a:lin ang="0" scaled="0"/>
          </a:gradFill>
        </p:spPr>
      </p:sp>
      <p:sp>
        <p:nvSpPr>
          <p:cNvPr id="128" name="R128"/>
          <p:cNvSpPr/>
          <p:nvPr/>
        </p:nvSpPr>
        <p:spPr>
          <a:xfrm>
            <a:off x="1228725" y="29337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</p:spPr>
      </p:sp>
      <p:sp>
        <p:nvSpPr>
          <p:cNvPr id="129" name="T129"/>
          <p:cNvSpPr txBox="1"/>
          <p:nvPr/>
        </p:nvSpPr>
        <p:spPr>
          <a:xfrm>
            <a:off x="1310580" y="2986087"/>
            <a:ext cx="17918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ffffff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762125" y="293370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方法框架与实验设计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762125" y="3257550"/>
            <a:ext cx="26125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6b7280"/>
                </a:solidFill>
                <a:latin typeface="Noto Sans SC"/>
                <a:ea typeface="Noto Sans SC"/>
              </a:rPr>
              <a:t>四幕递进实验框架与KAN符号提取管线</a:t>
            </a:r>
          </a:p>
        </p:txBody>
      </p:sp>
      <p:sp>
        <p:nvSpPr>
          <p:cNvPr id="132" name="R132"/>
          <p:cNvSpPr/>
          <p:nvPr/>
        </p:nvSpPr>
        <p:spPr>
          <a:xfrm>
            <a:off x="1390650" y="3295650"/>
            <a:ext cx="19050" cy="4572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2865eb">
                  <a:alpha val="15000"/>
                </a:srgbClr>
              </a:gs>
            </a:gsLst>
            <a:lin ang="0" scaled="0"/>
          </a:gradFill>
        </p:spPr>
      </p:sp>
      <p:sp>
        <p:nvSpPr>
          <p:cNvPr id="133" name="R133"/>
          <p:cNvSpPr/>
          <p:nvPr/>
        </p:nvSpPr>
        <p:spPr>
          <a:xfrm>
            <a:off x="1228725" y="37528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</p:spPr>
      </p:sp>
      <p:sp>
        <p:nvSpPr>
          <p:cNvPr id="134" name="T134"/>
          <p:cNvSpPr txBox="1"/>
          <p:nvPr/>
        </p:nvSpPr>
        <p:spPr>
          <a:xfrm>
            <a:off x="1309389" y="3805237"/>
            <a:ext cx="181421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ffffff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762125" y="375285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核心实验结果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762125" y="4076700"/>
            <a:ext cx="29493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6b7280"/>
                </a:solidFill>
                <a:latin typeface="Noto Sans SC"/>
                <a:ea typeface="Noto Sans SC"/>
              </a:rPr>
              <a:t>公式坍缩发现、捷径竞争诊断与S3分解突破</a:t>
            </a:r>
          </a:p>
        </p:txBody>
      </p:sp>
      <p:sp>
        <p:nvSpPr>
          <p:cNvPr id="137" name="R137"/>
          <p:cNvSpPr/>
          <p:nvPr/>
        </p:nvSpPr>
        <p:spPr>
          <a:xfrm>
            <a:off x="1390650" y="4114800"/>
            <a:ext cx="19050" cy="4572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2865eb">
                  <a:alpha val="15000"/>
                </a:srgbClr>
              </a:gs>
            </a:gsLst>
            <a:lin ang="0" scaled="0"/>
          </a:gradFill>
        </p:spPr>
      </p:sp>
      <p:sp>
        <p:nvSpPr>
          <p:cNvPr id="138" name="R138"/>
          <p:cNvSpPr/>
          <p:nvPr/>
        </p:nvSpPr>
        <p:spPr>
          <a:xfrm>
            <a:off x="1228725" y="4572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</p:spPr>
      </p:sp>
      <p:sp>
        <p:nvSpPr>
          <p:cNvPr id="139" name="T139"/>
          <p:cNvSpPr txBox="1"/>
          <p:nvPr/>
        </p:nvSpPr>
        <p:spPr>
          <a:xfrm>
            <a:off x="1307455" y="4624387"/>
            <a:ext cx="18543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762125" y="457200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进展总结与后续计划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1762125" y="4895850"/>
            <a:ext cx="18471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6b7280"/>
                </a:solidFill>
                <a:latin typeface="Noto Sans SC"/>
                <a:ea typeface="Noto Sans SC"/>
              </a:rPr>
              <a:t>已完成工作梳理与后续安排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2" name="T142"/>
          <p:cNvSpPr txBox="1"/>
          <p:nvPr/>
        </p:nvSpPr>
        <p:spPr>
          <a:xfrm>
            <a:off x="10425707" y="419100"/>
            <a:ext cx="1194792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0" b="1">
                <a:solidFill>
                  <a:srgbClr val="2563eb">
                    <a:alpha val="2500"/>
                  </a:srgbClr>
                </a:solidFill>
                <a:latin typeface="Noto Sans SC"/>
                <a:ea typeface="Noto Sans SC"/>
              </a:rPr>
              <a:t>?!</a:t>
            </a:r>
          </a:p>
        </p:txBody>
      </p:sp>
      <p:sp>
        <p:nvSpPr>
          <p:cNvPr id="143" name="C143"/>
          <p:cNvSpPr/>
          <p:nvPr/>
        </p:nvSpPr>
        <p:spPr>
          <a:xfrm>
            <a:off x="11239500" y="5829300"/>
            <a:ext cx="1143000" cy="1143000"/>
          </a:xfrm>
          <a:prstGeom prst="ellipse">
            <a:avLst/>
          </a:prstGeom>
          <a:noFill/>
          <a:ln w="19050">
            <a:solidFill>
              <a:srgbClr val="2563eb">
                <a:alpha val="4000"/>
              </a:srgbClr>
            </a:solidFill>
            <a:round/>
          </a:ln>
        </p:spPr>
      </p:sp>
      <p:sp>
        <p:nvSpPr>
          <p:cNvPr id="144" name="C144"/>
          <p:cNvSpPr/>
          <p:nvPr/>
        </p:nvSpPr>
        <p:spPr>
          <a:xfrm>
            <a:off x="11468100" y="6057900"/>
            <a:ext cx="685800" cy="685800"/>
          </a:xfrm>
          <a:prstGeom prst="ellipse">
            <a:avLst/>
          </a:prstGeom>
          <a:noFill/>
          <a:ln w="12700">
            <a:solidFill>
              <a:srgbClr val="2563eb">
                <a:alpha val="4000"/>
              </a:srgbClr>
            </a:solidFill>
            <a:round/>
          </a:ln>
        </p:spPr>
      </p:sp>
      <p:sp>
        <p:nvSpPr>
          <p:cNvPr id="145" name="T145"/>
          <p:cNvSpPr txBox="1"/>
          <p:nvPr/>
        </p:nvSpPr>
        <p:spPr>
          <a:xfrm>
            <a:off x="571500" y="180975"/>
            <a:ext cx="111799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2563eb"/>
                </a:solidFill>
                <a:latin typeface="Noto Sans SC"/>
                <a:ea typeface="Noto Sans SC"/>
              </a:rPr>
              <a:t>PART 01 / 研究背景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571500" y="352425"/>
            <a:ext cx="2942183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950" b="1">
                <a:solidFill>
                  <a:srgbClr val="212529"/>
                </a:solidFill>
                <a:latin typeface="Noto Sans SC"/>
                <a:ea typeface="Noto Sans SC"/>
              </a:rPr>
              <a:t>净负荷预测的可解释性困境</a:t>
            </a:r>
          </a:p>
        </p:txBody>
      </p:sp>
      <p:sp>
        <p:nvSpPr>
          <p:cNvPr id="147" name="R147"/>
          <p:cNvSpPr/>
          <p:nvPr/>
        </p:nvSpPr>
        <p:spPr>
          <a:xfrm>
            <a:off x="571500" y="6681936"/>
            <a:ext cx="381000" cy="9525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48" name="T148"/>
          <p:cNvSpPr txBox="1"/>
          <p:nvPr/>
        </p:nvSpPr>
        <p:spPr>
          <a:xfrm>
            <a:off x="1047750" y="6586538"/>
            <a:ext cx="1405086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基于 KAN 的可解释净负荷预测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1289208" y="6586538"/>
            <a:ext cx="33129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2563eb"/>
                </a:solidFill>
                <a:latin typeface="Noto Sans SC"/>
                <a:ea typeface="Noto Sans SC"/>
              </a:rPr>
              <a:t>03 / 11</a:t>
            </a:r>
          </a:p>
        </p:txBody>
      </p:sp>
      <p:sp>
        <p:nvSpPr>
          <p:cNvPr id="150" name="R150"/>
          <p:cNvSpPr/>
          <p:nvPr/>
        </p:nvSpPr>
        <p:spPr>
          <a:xfrm>
            <a:off x="571500" y="762000"/>
            <a:ext cx="11049000" cy="2152650"/>
          </a:xfrm>
          <a:prstGeom prst="roundRect">
            <a:avLst>
              <a:gd name="adj" fmla="val 2654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</p:spPr>
      </p:sp>
      <p:sp>
        <p:nvSpPr>
          <p:cNvPr id="151" name="L151"/>
          <p:cNvSpPr/>
          <p:nvPr/>
        </p:nvSpPr>
        <p:spPr>
          <a:xfrm>
            <a:off x="571500" y="762000"/>
            <a:ext cx="9525" cy="215265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152" name="T152"/>
          <p:cNvSpPr txBox="1"/>
          <p:nvPr/>
        </p:nvSpPr>
        <p:spPr>
          <a:xfrm>
            <a:off x="942975" y="1019175"/>
            <a:ext cx="78417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2563eb"/>
                </a:solidFill>
                <a:latin typeface="Noto Sans SC"/>
                <a:ea typeface="Noto Sans SC"/>
              </a:rPr>
              <a:t>精度高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727150" y="1019175"/>
            <a:ext cx="26149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212529"/>
                </a:solidFill>
                <a:latin typeface="Noto Sans SC"/>
                <a:ea typeface="Noto Sans SC"/>
              </a:rPr>
              <a:t>但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988641" y="1019175"/>
            <a:ext cx="1045517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2563eb"/>
                </a:solidFill>
                <a:latin typeface="Noto Sans SC"/>
                <a:ea typeface="Noto Sans SC"/>
              </a:rPr>
              <a:t>不可解释</a:t>
            </a:r>
          </a:p>
        </p:txBody>
      </p:sp>
      <p:sp>
        <p:nvSpPr>
          <p:cNvPr id="155" name="R155"/>
          <p:cNvSpPr/>
          <p:nvPr/>
        </p:nvSpPr>
        <p:spPr>
          <a:xfrm>
            <a:off x="942975" y="1666875"/>
            <a:ext cx="47625" cy="47625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156" name="T156"/>
          <p:cNvSpPr txBox="1"/>
          <p:nvPr/>
        </p:nvSpPr>
        <p:spPr>
          <a:xfrm>
            <a:off x="1095375" y="1571625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高比例可再生能源并网背景下，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3762375" y="157162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净负荷预测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4714875" y="1571625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是电力调度的核心环节</a:t>
            </a:r>
          </a:p>
        </p:txBody>
      </p:sp>
      <p:sp>
        <p:nvSpPr>
          <p:cNvPr id="159" name="R159"/>
          <p:cNvSpPr/>
          <p:nvPr/>
        </p:nvSpPr>
        <p:spPr>
          <a:xfrm>
            <a:off x="942975" y="2057400"/>
            <a:ext cx="47625" cy="47625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160" name="T160"/>
          <p:cNvSpPr txBox="1"/>
          <p:nvPr/>
        </p:nvSpPr>
        <p:spPr>
          <a:xfrm>
            <a:off x="1095375" y="1962150"/>
            <a:ext cx="712529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深度学习方法（LSTM / Transformer / CNN-RNN）精度大幅超越统计模型，但本质是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8220670" y="19621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黑箱</a:t>
            </a:r>
          </a:p>
        </p:txBody>
      </p:sp>
      <p:sp>
        <p:nvSpPr>
          <p:cNvPr id="162" name="R162"/>
          <p:cNvSpPr/>
          <p:nvPr/>
        </p:nvSpPr>
        <p:spPr>
          <a:xfrm>
            <a:off x="942975" y="2447925"/>
            <a:ext cx="47625" cy="47625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163" name="T163"/>
          <p:cNvSpPr txBox="1"/>
          <p:nvPr/>
        </p:nvSpPr>
        <p:spPr>
          <a:xfrm>
            <a:off x="1095375" y="2352675"/>
            <a:ext cx="142413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运营者需要知道"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519511" y="2352675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为什么是这个数字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043511" y="2352675"/>
            <a:ext cx="409113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"——风速变化？温度下降？而非仅获得一个数字</a:t>
            </a:r>
          </a:p>
        </p:txBody>
      </p:sp>
      <p:sp>
        <p:nvSpPr>
          <p:cNvPr id="166" name="R166"/>
          <p:cNvSpPr/>
          <p:nvPr/>
        </p:nvSpPr>
        <p:spPr>
          <a:xfrm>
            <a:off x="571500" y="3105150"/>
            <a:ext cx="5429250" cy="3295650"/>
          </a:xfrm>
          <a:prstGeom prst="roundRect">
            <a:avLst>
              <a:gd name="adj" fmla="val 1734"/>
            </a:avLst>
          </a:prstGeom>
          <a:solidFill>
            <a:srgbClr val="f1f3f5"/>
          </a:solidFill>
        </p:spPr>
      </p:sp>
      <p:sp>
        <p:nvSpPr>
          <p:cNvPr id="167" name="T167"/>
          <p:cNvSpPr txBox="1"/>
          <p:nvPr/>
        </p:nvSpPr>
        <p:spPr>
          <a:xfrm>
            <a:off x="838200" y="3324225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350">
                <a:solidFill>
                  <a:srgbClr val="212529"/>
                </a:solidFill>
                <a:latin typeface="Noto Sans SC"/>
                <a:ea typeface="Noto Sans SC"/>
              </a:rPr>
              <a:t>三脉络交叉空白</a:t>
            </a:r>
          </a:p>
        </p:txBody>
      </p:sp>
      <p:sp>
        <p:nvSpPr>
          <p:cNvPr id="168" name="R168"/>
          <p:cNvSpPr/>
          <p:nvPr/>
        </p:nvSpPr>
        <p:spPr>
          <a:xfrm>
            <a:off x="838200" y="37565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69" name="T169"/>
          <p:cNvSpPr txBox="1"/>
          <p:nvPr/>
        </p:nvSpPr>
        <p:spPr>
          <a:xfrm>
            <a:off x="896838" y="3756571"/>
            <a:ext cx="7307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 b="1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104900" y="3718470"/>
            <a:ext cx="445948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现有 KAN 科学应用不含自回归特征——无捷径竞争问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1104900" y="400422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题</a:t>
            </a:r>
          </a:p>
        </p:txBody>
      </p:sp>
      <p:sp>
        <p:nvSpPr>
          <p:cNvPr id="172" name="R172"/>
          <p:cNvSpPr/>
          <p:nvPr/>
        </p:nvSpPr>
        <p:spPr>
          <a:xfrm>
            <a:off x="838200" y="44423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73" name="T173"/>
          <p:cNvSpPr txBox="1"/>
          <p:nvPr/>
        </p:nvSpPr>
        <p:spPr>
          <a:xfrm>
            <a:off x="896838" y="4442371"/>
            <a:ext cx="7307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 b="1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1104900" y="4404270"/>
            <a:ext cx="369748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现有 KAN 能源预测关注精度但不做符号提取</a:t>
            </a:r>
          </a:p>
        </p:txBody>
      </p:sp>
      <p:sp>
        <p:nvSpPr>
          <p:cNvPr id="175" name="R175"/>
          <p:cNvSpPr/>
          <p:nvPr/>
        </p:nvSpPr>
        <p:spPr>
          <a:xfrm>
            <a:off x="838200" y="48424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76" name="T176"/>
          <p:cNvSpPr txBox="1"/>
          <p:nvPr/>
        </p:nvSpPr>
        <p:spPr>
          <a:xfrm>
            <a:off x="896838" y="4842421"/>
            <a:ext cx="7307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 b="1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1104900" y="480432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现有符号回归面向静态问题，不处理时序自回归结构</a:t>
            </a:r>
          </a:p>
        </p:txBody>
      </p:sp>
      <p:sp>
        <p:nvSpPr>
          <p:cNvPr id="178" name="R178"/>
          <p:cNvSpPr/>
          <p:nvPr/>
        </p:nvSpPr>
        <p:spPr>
          <a:xfrm>
            <a:off x="6191250" y="3105150"/>
            <a:ext cx="5429250" cy="3295650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</p:sp>
      <p:sp>
        <p:nvSpPr>
          <p:cNvPr id="179" name="T179"/>
          <p:cNvSpPr txBox="1"/>
          <p:nvPr/>
        </p:nvSpPr>
        <p:spPr>
          <a:xfrm>
            <a:off x="6467475" y="3333750"/>
            <a:ext cx="124435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350">
                <a:solidFill>
                  <a:srgbClr val="212529"/>
                </a:solidFill>
                <a:latin typeface="Noto Sans SC"/>
                <a:ea typeface="Noto Sans SC"/>
              </a:rPr>
              <a:t>KAN 的独特路径</a:t>
            </a:r>
          </a:p>
        </p:txBody>
      </p:sp>
      <p:sp>
        <p:nvSpPr>
          <p:cNvPr id="180" name="R180"/>
          <p:cNvSpPr/>
          <p:nvPr/>
        </p:nvSpPr>
        <p:spPr>
          <a:xfrm>
            <a:off x="6467475" y="3737520"/>
            <a:ext cx="190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81" name="T181"/>
          <p:cNvSpPr txBox="1"/>
          <p:nvPr/>
        </p:nvSpPr>
        <p:spPr>
          <a:xfrm>
            <a:off x="6619875" y="3727995"/>
            <a:ext cx="38710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563eb"/>
                </a:solidFill>
                <a:latin typeface="Noto Sans SC"/>
                <a:ea typeface="Noto Sans SC"/>
              </a:rPr>
              <a:t>KAN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7006976" y="3727995"/>
            <a:ext cx="355446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（ICLR 2025）将 B 样条函数置于网络边上</a:t>
            </a:r>
          </a:p>
        </p:txBody>
      </p:sp>
      <p:sp>
        <p:nvSpPr>
          <p:cNvPr id="183" name="R183"/>
          <p:cNvSpPr/>
          <p:nvPr/>
        </p:nvSpPr>
        <p:spPr>
          <a:xfrm>
            <a:off x="6467475" y="4137570"/>
            <a:ext cx="190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84" name="T184"/>
          <p:cNvSpPr txBox="1"/>
          <p:nvPr/>
        </p:nvSpPr>
        <p:spPr>
          <a:xfrm>
            <a:off x="6619875" y="4128045"/>
            <a:ext cx="47163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实现"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091511" y="4128045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563eb"/>
                </a:solidFill>
                <a:latin typeface="Noto Sans SC"/>
                <a:ea typeface="Noto Sans SC"/>
              </a:rPr>
              <a:t>先学习、后提取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8425011" y="4128045"/>
            <a:ext cx="142413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"的符号回归路径</a:t>
            </a:r>
          </a:p>
        </p:txBody>
      </p:sp>
      <p:sp>
        <p:nvSpPr>
          <p:cNvPr id="187" name="R187"/>
          <p:cNvSpPr/>
          <p:nvPr/>
        </p:nvSpPr>
        <p:spPr>
          <a:xfrm>
            <a:off x="6467475" y="4537620"/>
            <a:ext cx="190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88" name="T188"/>
          <p:cNvSpPr txBox="1"/>
          <p:nvPr/>
        </p:nvSpPr>
        <p:spPr>
          <a:xfrm>
            <a:off x="6619875" y="4528095"/>
            <a:ext cx="232871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训练后可将数值映射转换为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8948588" y="4528095"/>
            <a:ext cx="144244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563eb"/>
                </a:solidFill>
                <a:latin typeface="Noto Sans SC"/>
                <a:ea typeface="Noto Sans SC"/>
              </a:rPr>
              <a:t>SymPy 闭式公式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6467475" y="5986463"/>
            <a:ext cx="2280642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>
                    <a:alpha val="70000"/>
                  </a:srgbClr>
                </a:solidFill>
                <a:latin typeface="Noto Sans SC"/>
                <a:ea typeface="Noto Sans SC"/>
              </a:rPr>
              <a:t>KAN: Kolmogorov-Arnold Networks, ICLR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fafbfc"/>
            </a:gs>
            <a:gs pos="100000">
              <a:srgbClr val="f1f3f5"/>
            </a:gs>
          </a:gsLst>
          <a:lin ang="420689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91" name="T191"/>
          <p:cNvSpPr txBox="1"/>
          <p:nvPr/>
        </p:nvSpPr>
        <p:spPr>
          <a:xfrm>
            <a:off x="9690348" y="3362325"/>
            <a:ext cx="2692151" cy="3143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0" b="1">
                <a:solidFill>
                  <a:srgbClr val="212529">
                    <a:alpha val="4000"/>
                  </a:srgbClr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92" name="R192"/>
          <p:cNvSpPr/>
          <p:nvPr/>
        </p:nvSpPr>
        <p:spPr>
          <a:xfrm>
            <a:off x="381000" y="6429375"/>
            <a:ext cx="11430000" cy="952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</p:spPr>
      </p:sp>
      <p:sp>
        <p:nvSpPr>
          <p:cNvPr id="193" name="R193"/>
          <p:cNvSpPr/>
          <p:nvPr/>
        </p:nvSpPr>
        <p:spPr>
          <a:xfrm>
            <a:off x="762000" y="2486025"/>
            <a:ext cx="28575" cy="17145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194" name="T194"/>
          <p:cNvSpPr txBox="1"/>
          <p:nvPr/>
        </p:nvSpPr>
        <p:spPr>
          <a:xfrm>
            <a:off x="990600" y="2229631"/>
            <a:ext cx="1383803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2563eb">
                    <a:alpha val="75000"/>
                  </a:srgbClr>
                </a:solidFill>
                <a:latin typeface="Noto Sans SC"/>
                <a:ea typeface="Noto Sans SC"/>
              </a:rPr>
              <a:t>PART 02 — 方法框架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990600" y="2482043"/>
            <a:ext cx="3557587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3150" b="1">
                <a:solidFill>
                  <a:srgbClr val="212529"/>
                </a:solidFill>
                <a:latin typeface="Noto Sans SC"/>
                <a:ea typeface="Noto Sans SC"/>
              </a:rPr>
              <a:t>方法框架与实验设计</a:t>
            </a:r>
          </a:p>
        </p:txBody>
      </p:sp>
      <p:sp>
        <p:nvSpPr>
          <p:cNvPr id="196" name="R196"/>
          <p:cNvSpPr/>
          <p:nvPr/>
        </p:nvSpPr>
        <p:spPr>
          <a:xfrm>
            <a:off x="990600" y="3304914"/>
            <a:ext cx="457200" cy="19050"/>
          </a:xfrm>
          <a:prstGeom prst="roundRect">
            <a:avLst>
              <a:gd name="adj" fmla="val 50000"/>
            </a:avLst>
          </a:prstGeom>
          <a:solidFill>
            <a:srgbClr val="2563eb">
              <a:alpha val="35000"/>
            </a:srgbClr>
          </a:solidFill>
        </p:spPr>
      </p:sp>
      <p:sp>
        <p:nvSpPr>
          <p:cNvPr id="197" name="T197"/>
          <p:cNvSpPr txBox="1"/>
          <p:nvPr/>
        </p:nvSpPr>
        <p:spPr>
          <a:xfrm>
            <a:off x="990600" y="3562089"/>
            <a:ext cx="257725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四幕递进实验：基线建立</a:t>
            </a:r>
          </a:p>
        </p:txBody>
      </p:sp>
      <p:sp>
        <p:nvSpPr>
          <p:cNvPr id="198" name="T198"/>
          <p:cNvSpPr txBox="1"/>
          <p:nvPr/>
        </p:nvSpPr>
        <p:spPr>
          <a:xfrm>
            <a:off x="3586906" y="3562089"/>
            <a:ext cx="22964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2563eb">
                    <a:alpha val="50000"/>
                  </a:srgbClr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199" name="T199"/>
          <p:cNvSpPr txBox="1"/>
          <p:nvPr/>
        </p:nvSpPr>
        <p:spPr>
          <a:xfrm>
            <a:off x="3835598" y="3562089"/>
            <a:ext cx="148143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公式坍缩发现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5336083" y="3562089"/>
            <a:ext cx="22964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2563eb">
                    <a:alpha val="50000"/>
                  </a:srgbClr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5584775" y="3562089"/>
            <a:ext cx="194056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捷径竞争机制验证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7544395" y="3562089"/>
            <a:ext cx="22964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2563eb">
                    <a:alpha val="50000"/>
                  </a:srgbClr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7793087" y="3562089"/>
            <a:ext cx="165898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结构化分解方案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990600" y="4015420"/>
            <a:ext cx="698301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贯穿原则：不修改 KAN 算法或架构，仅控制输入特征组成与任务结构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381000" y="6577012"/>
            <a:ext cx="90011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750">
                <a:solidFill>
                  <a:srgbClr val="6b7280">
                    <a:alpha val="50000"/>
                  </a:srgbClr>
                </a:solidFill>
                <a:latin typeface="Noto Sans SC"/>
                <a:ea typeface="Noto Sans SC"/>
              </a:rPr>
              <a:t>方法框架与实验设计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1533733" y="6577012"/>
            <a:ext cx="27726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750" b="1">
                <a:solidFill>
                  <a:srgbClr val="6b7280">
                    <a:alpha val="50000"/>
                  </a:srgbClr>
                </a:solidFill>
                <a:latin typeface="Noto Sans SC"/>
                <a:ea typeface="Noto Sans S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7" name="R2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</p:spPr>
      </p:sp>
      <p:sp>
        <p:nvSpPr>
          <p:cNvPr id="208" name="R208"/>
          <p:cNvSpPr/>
          <p:nvPr/>
        </p:nvSpPr>
        <p:spPr>
          <a:xfrm>
            <a:off x="533400" y="781050"/>
            <a:ext cx="11125200" cy="2350591"/>
          </a:xfrm>
          <a:prstGeom prst="roundRect">
            <a:avLst>
              <a:gd name="adj" fmla="val 2431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209" name="R209"/>
          <p:cNvSpPr/>
          <p:nvPr/>
        </p:nvSpPr>
        <p:spPr>
          <a:xfrm>
            <a:off x="809625" y="995362"/>
            <a:ext cx="28575" cy="1524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210" name="T210"/>
          <p:cNvSpPr txBox="1"/>
          <p:nvPr/>
        </p:nvSpPr>
        <p:spPr>
          <a:xfrm>
            <a:off x="914400" y="976313"/>
            <a:ext cx="86677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563eb"/>
                </a:solidFill>
                <a:latin typeface="Noto Sans SC"/>
                <a:ea typeface="Noto Sans SC"/>
              </a:rPr>
              <a:t>四阶段训练管线</a:t>
            </a:r>
          </a:p>
        </p:txBody>
      </p:sp>
      <p:sp>
        <p:nvSpPr>
          <p:cNvPr id="211" name="R211"/>
          <p:cNvSpPr/>
          <p:nvPr/>
        </p:nvSpPr>
        <p:spPr>
          <a:xfrm>
            <a:off x="2776537" y="1638300"/>
            <a:ext cx="457200" cy="95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2" name="L212"/>
          <p:cNvSpPr/>
          <p:nvPr/>
        </p:nvSpPr>
        <p:spPr>
          <a:xfrm>
            <a:off x="3157537" y="1428750"/>
            <a:ext cx="9525" cy="76200"/>
          </a:xfrm>
          <a:prstGeom prst="line">
            <a:avLst/>
          </a:prstGeom>
          <a:noFill/>
          <a:ln w="101600">
            <a:solidFill>
              <a:srgbClr val="2563eb"/>
            </a:solidFill>
          </a:ln>
        </p:spPr>
      </p:sp>
      <p:sp>
        <p:nvSpPr>
          <p:cNvPr id="213" name="R213"/>
          <p:cNvSpPr/>
          <p:nvPr/>
        </p:nvSpPr>
        <p:spPr>
          <a:xfrm>
            <a:off x="1754981" y="1314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14" name="T214"/>
          <p:cNvSpPr txBox="1"/>
          <p:nvPr/>
        </p:nvSpPr>
        <p:spPr>
          <a:xfrm>
            <a:off x="1865114" y="1352550"/>
            <a:ext cx="8438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15" name="R215"/>
          <p:cNvSpPr/>
          <p:nvPr/>
        </p:nvSpPr>
        <p:spPr>
          <a:xfrm>
            <a:off x="859631" y="1714500"/>
            <a:ext cx="2095500" cy="1236166"/>
          </a:xfrm>
          <a:prstGeom prst="roundRect">
            <a:avLst>
              <a:gd name="adj" fmla="val 4623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216" name="T216"/>
          <p:cNvSpPr txBox="1"/>
          <p:nvPr/>
        </p:nvSpPr>
        <p:spPr>
          <a:xfrm>
            <a:off x="1602581" y="18478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212529"/>
                </a:solidFill>
                <a:latin typeface="Noto Sans SC"/>
                <a:ea typeface="Noto Sans SC"/>
              </a:rPr>
              <a:t>预热训练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1617166" y="2089695"/>
            <a:ext cx="58028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2563eb"/>
                </a:solidFill>
                <a:latin typeface="Noto Sans SC"/>
                <a:ea typeface="Noto Sans SC"/>
              </a:rPr>
              <a:t>200步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1659731" y="2431554"/>
            <a:ext cx="49530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标准训练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1535906" y="2617291"/>
            <a:ext cx="74295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建立初始映射</a:t>
            </a:r>
          </a:p>
        </p:txBody>
      </p:sp>
      <p:sp>
        <p:nvSpPr>
          <p:cNvPr id="220" name="R220"/>
          <p:cNvSpPr/>
          <p:nvPr/>
        </p:nvSpPr>
        <p:spPr>
          <a:xfrm>
            <a:off x="4972050" y="1638300"/>
            <a:ext cx="457200" cy="95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1" name="L221"/>
          <p:cNvSpPr/>
          <p:nvPr/>
        </p:nvSpPr>
        <p:spPr>
          <a:xfrm>
            <a:off x="5353050" y="1428750"/>
            <a:ext cx="9525" cy="76200"/>
          </a:xfrm>
          <a:prstGeom prst="line">
            <a:avLst/>
          </a:prstGeom>
          <a:noFill/>
          <a:ln w="101600">
            <a:solidFill>
              <a:srgbClr val="2563eb"/>
            </a:solidFill>
          </a:ln>
        </p:spPr>
      </p:sp>
      <p:sp>
        <p:nvSpPr>
          <p:cNvPr id="222" name="R222"/>
          <p:cNvSpPr/>
          <p:nvPr/>
        </p:nvSpPr>
        <p:spPr>
          <a:xfrm>
            <a:off x="3950493" y="1314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23" name="T223"/>
          <p:cNvSpPr txBox="1"/>
          <p:nvPr/>
        </p:nvSpPr>
        <p:spPr>
          <a:xfrm>
            <a:off x="4060626" y="1352550"/>
            <a:ext cx="8438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24" name="R224"/>
          <p:cNvSpPr/>
          <p:nvPr/>
        </p:nvSpPr>
        <p:spPr>
          <a:xfrm>
            <a:off x="3055143" y="1714500"/>
            <a:ext cx="2095500" cy="1236166"/>
          </a:xfrm>
          <a:prstGeom prst="roundRect">
            <a:avLst>
              <a:gd name="adj" fmla="val 4623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225" name="T225"/>
          <p:cNvSpPr txBox="1"/>
          <p:nvPr/>
        </p:nvSpPr>
        <p:spPr>
          <a:xfrm>
            <a:off x="3874293" y="18478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212529"/>
                </a:solidFill>
                <a:latin typeface="Noto Sans SC"/>
                <a:ea typeface="Noto Sans SC"/>
              </a:rPr>
              <a:t>稀疏化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3812678" y="2089695"/>
            <a:ext cx="58028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2563eb"/>
                </a:solidFill>
                <a:latin typeface="Noto Sans SC"/>
                <a:ea typeface="Noto Sans SC"/>
              </a:rPr>
              <a:t>800步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3725167" y="2431554"/>
            <a:ext cx="75545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L1 + 熵正则化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3669506" y="2617291"/>
            <a:ext cx="86677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驱动边权重收缩</a:t>
            </a:r>
          </a:p>
        </p:txBody>
      </p:sp>
      <p:sp>
        <p:nvSpPr>
          <p:cNvPr id="229" name="R229"/>
          <p:cNvSpPr/>
          <p:nvPr/>
        </p:nvSpPr>
        <p:spPr>
          <a:xfrm>
            <a:off x="7167562" y="1638300"/>
            <a:ext cx="457200" cy="95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30" name="L230"/>
          <p:cNvSpPr/>
          <p:nvPr/>
        </p:nvSpPr>
        <p:spPr>
          <a:xfrm>
            <a:off x="7548562" y="1428750"/>
            <a:ext cx="9525" cy="76200"/>
          </a:xfrm>
          <a:prstGeom prst="line">
            <a:avLst/>
          </a:prstGeom>
          <a:noFill/>
          <a:ln w="101600">
            <a:solidFill>
              <a:srgbClr val="2563eb"/>
            </a:solidFill>
          </a:ln>
        </p:spPr>
      </p:sp>
      <p:sp>
        <p:nvSpPr>
          <p:cNvPr id="231" name="R231"/>
          <p:cNvSpPr/>
          <p:nvPr/>
        </p:nvSpPr>
        <p:spPr>
          <a:xfrm>
            <a:off x="6146006" y="1314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32" name="T232"/>
          <p:cNvSpPr txBox="1"/>
          <p:nvPr/>
        </p:nvSpPr>
        <p:spPr>
          <a:xfrm>
            <a:off x="6256139" y="1352550"/>
            <a:ext cx="8438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33" name="R233"/>
          <p:cNvSpPr/>
          <p:nvPr/>
        </p:nvSpPr>
        <p:spPr>
          <a:xfrm>
            <a:off x="5250656" y="1714500"/>
            <a:ext cx="2095500" cy="1236166"/>
          </a:xfrm>
          <a:prstGeom prst="roundRect">
            <a:avLst>
              <a:gd name="adj" fmla="val 4623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234" name="T234"/>
          <p:cNvSpPr txBox="1"/>
          <p:nvPr/>
        </p:nvSpPr>
        <p:spPr>
          <a:xfrm>
            <a:off x="5917406" y="184785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212529"/>
                </a:solidFill>
                <a:latin typeface="Noto Sans SC"/>
                <a:ea typeface="Noto Sans SC"/>
              </a:rPr>
              <a:t>结构化剪枝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6131718" y="2089695"/>
            <a:ext cx="333226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2563eb"/>
                </a:solidFill>
                <a:latin typeface="Noto Sans SC"/>
                <a:ea typeface="Noto Sans SC"/>
              </a:rPr>
              <a:t>9组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5803106" y="2431554"/>
            <a:ext cx="99060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候选阈值网格搜索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5988843" y="2617291"/>
            <a:ext cx="6191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移除冗余边</a:t>
            </a:r>
          </a:p>
        </p:txBody>
      </p:sp>
      <p:sp>
        <p:nvSpPr>
          <p:cNvPr id="238" name="R238"/>
          <p:cNvSpPr/>
          <p:nvPr/>
        </p:nvSpPr>
        <p:spPr>
          <a:xfrm>
            <a:off x="9363075" y="1638300"/>
            <a:ext cx="457200" cy="95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39" name="L239"/>
          <p:cNvSpPr/>
          <p:nvPr/>
        </p:nvSpPr>
        <p:spPr>
          <a:xfrm>
            <a:off x="9744075" y="1428750"/>
            <a:ext cx="9525" cy="76200"/>
          </a:xfrm>
          <a:prstGeom prst="line">
            <a:avLst/>
          </a:prstGeom>
          <a:noFill/>
          <a:ln w="101600">
            <a:solidFill>
              <a:srgbClr val="2563eb"/>
            </a:solidFill>
          </a:ln>
        </p:spPr>
      </p:sp>
      <p:sp>
        <p:nvSpPr>
          <p:cNvPr id="240" name="R240"/>
          <p:cNvSpPr/>
          <p:nvPr/>
        </p:nvSpPr>
        <p:spPr>
          <a:xfrm>
            <a:off x="8341518" y="1314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41" name="T241"/>
          <p:cNvSpPr txBox="1"/>
          <p:nvPr/>
        </p:nvSpPr>
        <p:spPr>
          <a:xfrm>
            <a:off x="8451651" y="1352550"/>
            <a:ext cx="8438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42" name="R242"/>
          <p:cNvSpPr/>
          <p:nvPr/>
        </p:nvSpPr>
        <p:spPr>
          <a:xfrm>
            <a:off x="7446168" y="1714500"/>
            <a:ext cx="2095500" cy="1236166"/>
          </a:xfrm>
          <a:prstGeom prst="roundRect">
            <a:avLst>
              <a:gd name="adj" fmla="val 4623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243" name="T243"/>
          <p:cNvSpPr txBox="1"/>
          <p:nvPr/>
        </p:nvSpPr>
        <p:spPr>
          <a:xfrm>
            <a:off x="8265318" y="18478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212529"/>
                </a:solidFill>
                <a:latin typeface="Noto Sans SC"/>
                <a:ea typeface="Noto Sans SC"/>
              </a:rPr>
              <a:t>精细化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8203703" y="2089695"/>
            <a:ext cx="58028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2563eb"/>
                </a:solidFill>
                <a:latin typeface="Noto Sans SC"/>
                <a:ea typeface="Noto Sans SC"/>
              </a:rPr>
              <a:t>200步</a:t>
            </a:r>
          </a:p>
        </p:txBody>
      </p:sp>
      <p:sp>
        <p:nvSpPr>
          <p:cNvPr id="245" name="T245"/>
          <p:cNvSpPr txBox="1"/>
          <p:nvPr/>
        </p:nvSpPr>
        <p:spPr>
          <a:xfrm>
            <a:off x="8184356" y="2431554"/>
            <a:ext cx="6191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存活边微调</a:t>
            </a:r>
          </a:p>
        </p:txBody>
      </p:sp>
      <p:sp>
        <p:nvSpPr>
          <p:cNvPr id="246" name="T246"/>
          <p:cNvSpPr txBox="1"/>
          <p:nvPr/>
        </p:nvSpPr>
        <p:spPr>
          <a:xfrm>
            <a:off x="8246268" y="2617291"/>
            <a:ext cx="49530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恢复精度</a:t>
            </a:r>
          </a:p>
        </p:txBody>
      </p:sp>
      <p:sp>
        <p:nvSpPr>
          <p:cNvPr id="247" name="R247"/>
          <p:cNvSpPr/>
          <p:nvPr/>
        </p:nvSpPr>
        <p:spPr>
          <a:xfrm>
            <a:off x="10372725" y="1314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248" name="T248"/>
          <p:cNvSpPr txBox="1"/>
          <p:nvPr/>
        </p:nvSpPr>
        <p:spPr>
          <a:xfrm>
            <a:off x="10473481" y="1352550"/>
            <a:ext cx="103286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✓</a:t>
            </a:r>
          </a:p>
        </p:txBody>
      </p:sp>
      <p:sp>
        <p:nvSpPr>
          <p:cNvPr id="249" name="R249"/>
          <p:cNvSpPr/>
          <p:nvPr/>
        </p:nvSpPr>
        <p:spPr>
          <a:xfrm>
            <a:off x="9667875" y="1714500"/>
            <a:ext cx="1714500" cy="1143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ecfdf5"/>
              </a:gs>
              <a:gs pos="100000">
                <a:srgbClr val="d1fae5"/>
              </a:gs>
            </a:gsLst>
            <a:lin ang="2700000" scaled="0"/>
          </a:gradFill>
          <a:ln w="12700">
            <a:solidFill>
              <a:srgbClr val="a7f3d0"/>
            </a:solidFill>
          </a:ln>
        </p:spPr>
      </p:sp>
      <p:sp>
        <p:nvSpPr>
          <p:cNvPr id="250" name="T250"/>
          <p:cNvSpPr txBox="1"/>
          <p:nvPr/>
        </p:nvSpPr>
        <p:spPr>
          <a:xfrm>
            <a:off x="10220325" y="18478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>
                <a:solidFill>
                  <a:srgbClr val="065f46"/>
                </a:solidFill>
                <a:latin typeface="Noto Sans SC"/>
                <a:ea typeface="Noto Sans SC"/>
              </a:rPr>
              <a:t>符号提取</a:t>
            </a:r>
          </a:p>
        </p:txBody>
      </p:sp>
      <p:sp>
        <p:nvSpPr>
          <p:cNvPr id="251" name="T251"/>
          <p:cNvSpPr txBox="1"/>
          <p:nvPr/>
        </p:nvSpPr>
        <p:spPr>
          <a:xfrm>
            <a:off x="9967763" y="2123033"/>
            <a:ext cx="11144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47857"/>
                </a:solidFill>
                <a:latin typeface="Noto Sans SC"/>
                <a:ea typeface="Noto Sans SC"/>
              </a:rPr>
              <a:t>逐边候选函数库拟合</a:t>
            </a:r>
          </a:p>
        </p:txBody>
      </p:sp>
      <p:sp>
        <p:nvSpPr>
          <p:cNvPr id="252" name="T252"/>
          <p:cNvSpPr txBox="1"/>
          <p:nvPr/>
        </p:nvSpPr>
        <p:spPr>
          <a:xfrm>
            <a:off x="9924305" y="2308771"/>
            <a:ext cx="120148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47857"/>
                </a:solidFill>
                <a:latin typeface="Noto Sans SC"/>
                <a:ea typeface="Noto Sans SC"/>
              </a:rPr>
              <a:t>选R²最高者替代B样条</a:t>
            </a:r>
          </a:p>
        </p:txBody>
      </p:sp>
      <p:sp>
        <p:nvSpPr>
          <p:cNvPr id="253" name="T253"/>
          <p:cNvSpPr txBox="1"/>
          <p:nvPr/>
        </p:nvSpPr>
        <p:spPr>
          <a:xfrm>
            <a:off x="9955559" y="2494508"/>
            <a:ext cx="113898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47857"/>
                </a:solidFill>
                <a:latin typeface="Noto Sans SC"/>
                <a:ea typeface="Noto Sans SC"/>
              </a:rPr>
              <a:t>输出SymPy闭式公式</a:t>
            </a:r>
          </a:p>
        </p:txBody>
      </p:sp>
      <p:sp>
        <p:nvSpPr>
          <p:cNvPr id="254" name="R254"/>
          <p:cNvSpPr/>
          <p:nvPr/>
        </p:nvSpPr>
        <p:spPr>
          <a:xfrm>
            <a:off x="533400" y="3264991"/>
            <a:ext cx="11125200" cy="342900"/>
          </a:xfrm>
          <a:prstGeom prst="roundRect">
            <a:avLst>
              <a:gd name="adj" fmla="val 16666"/>
            </a:avLst>
          </a:prstGeom>
          <a:solidFill>
            <a:srgbClr val="f1f3f5"/>
          </a:solidFill>
        </p:spPr>
      </p:sp>
      <p:sp>
        <p:nvSpPr>
          <p:cNvPr id="255" name="L255"/>
          <p:cNvSpPr/>
          <p:nvPr/>
        </p:nvSpPr>
        <p:spPr>
          <a:xfrm>
            <a:off x="533400" y="3264991"/>
            <a:ext cx="9525" cy="34290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256" name="R256"/>
          <p:cNvSpPr/>
          <p:nvPr/>
        </p:nvSpPr>
        <p:spPr>
          <a:xfrm>
            <a:off x="714375" y="3341191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</p:spPr>
      </p:sp>
      <p:sp>
        <p:nvSpPr>
          <p:cNvPr id="257" name="T257"/>
          <p:cNvSpPr txBox="1"/>
          <p:nvPr/>
        </p:nvSpPr>
        <p:spPr>
          <a:xfrm>
            <a:off x="790575" y="3355479"/>
            <a:ext cx="419100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ffffff"/>
                </a:solidFill>
                <a:latin typeface="Noto Sans SC"/>
                <a:ea typeface="Noto Sans SC"/>
              </a:rPr>
              <a:t>完整管线</a:t>
            </a:r>
          </a:p>
        </p:txBody>
      </p:sp>
      <p:sp>
        <p:nvSpPr>
          <p:cNvPr id="258" name="T258"/>
          <p:cNvSpPr txBox="1"/>
          <p:nvPr/>
        </p:nvSpPr>
        <p:spPr>
          <a:xfrm>
            <a:off x="1400175" y="3341191"/>
            <a:ext cx="2516237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12529"/>
                </a:solidFill>
                <a:latin typeface="Noto Sans SC"/>
                <a:ea typeface="Noto Sans SC"/>
              </a:rPr>
              <a:t>预热 → 稀疏化 → 剪枝 → 精细化 → 符号提取</a:t>
            </a:r>
          </a:p>
        </p:txBody>
      </p:sp>
      <p:sp>
        <p:nvSpPr>
          <p:cNvPr id="259" name="T259"/>
          <p:cNvSpPr txBox="1"/>
          <p:nvPr/>
        </p:nvSpPr>
        <p:spPr>
          <a:xfrm>
            <a:off x="10020300" y="3345953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6b7280"/>
                </a:solidFill>
                <a:latin typeface="Noto Sans SC"/>
                <a:ea typeface="Noto Sans SC"/>
              </a:rPr>
              <a:t>训练到闭式公式的端到端流程</a:t>
            </a:r>
          </a:p>
        </p:txBody>
      </p:sp>
      <p:sp>
        <p:nvSpPr>
          <p:cNvPr id="260" name="R260"/>
          <p:cNvSpPr/>
          <p:nvPr/>
        </p:nvSpPr>
        <p:spPr>
          <a:xfrm>
            <a:off x="533400" y="3741241"/>
            <a:ext cx="5486400" cy="1438275"/>
          </a:xfrm>
          <a:prstGeom prst="roundRect">
            <a:avLst>
              <a:gd name="adj" fmla="val 3973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261" name="R261"/>
          <p:cNvSpPr/>
          <p:nvPr/>
        </p:nvSpPr>
        <p:spPr>
          <a:xfrm>
            <a:off x="542925" y="3865066"/>
            <a:ext cx="28575" cy="11906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2" name="R262"/>
          <p:cNvSpPr/>
          <p:nvPr/>
        </p:nvSpPr>
        <p:spPr>
          <a:xfrm>
            <a:off x="828675" y="3922216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</p:spPr>
      </p:sp>
      <p:sp>
        <p:nvSpPr>
          <p:cNvPr id="263" name="T263"/>
          <p:cNvSpPr txBox="1"/>
          <p:nvPr/>
        </p:nvSpPr>
        <p:spPr>
          <a:xfrm>
            <a:off x="903684" y="3946028"/>
            <a:ext cx="7843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 b="1">
                <a:solidFill>
                  <a:srgbClr val="fffff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264" name="T264"/>
          <p:cNvSpPr txBox="1"/>
          <p:nvPr/>
        </p:nvSpPr>
        <p:spPr>
          <a:xfrm>
            <a:off x="1133475" y="3922216"/>
            <a:ext cx="86186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212529"/>
                </a:solidFill>
                <a:latin typeface="Noto Sans SC"/>
                <a:ea typeface="Noto Sans SC"/>
              </a:rPr>
              <a:t>KAN网络架构</a:t>
            </a:r>
          </a:p>
        </p:txBody>
      </p:sp>
      <p:sp>
        <p:nvSpPr>
          <p:cNvPr id="265" name="T265"/>
          <p:cNvSpPr txBox="1"/>
          <p:nvPr/>
        </p:nvSpPr>
        <p:spPr>
          <a:xfrm>
            <a:off x="828675" y="4255591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网络结构</a:t>
            </a:r>
          </a:p>
        </p:txBody>
      </p:sp>
      <p:sp>
        <p:nvSpPr>
          <p:cNvPr id="266" name="T266"/>
          <p:cNvSpPr txBox="1"/>
          <p:nvPr/>
        </p:nvSpPr>
        <p:spPr>
          <a:xfrm>
            <a:off x="1666875" y="4255591"/>
            <a:ext cx="111591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单隐藏层 [26, k, 1]</a:t>
            </a:r>
          </a:p>
        </p:txBody>
      </p:sp>
      <p:sp>
        <p:nvSpPr>
          <p:cNvPr id="267" name="T267"/>
          <p:cNvSpPr txBox="1"/>
          <p:nvPr/>
        </p:nvSpPr>
        <p:spPr>
          <a:xfrm>
            <a:off x="828675" y="4531816"/>
            <a:ext cx="62105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B样条参数</a:t>
            </a:r>
          </a:p>
        </p:txBody>
      </p:sp>
      <p:sp>
        <p:nvSpPr>
          <p:cNvPr id="268" name="T268"/>
          <p:cNvSpPr txBox="1"/>
          <p:nvPr/>
        </p:nvSpPr>
        <p:spPr>
          <a:xfrm>
            <a:off x="1666875" y="4531816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网格数 G=5，阶数 k=3</a:t>
            </a:r>
          </a:p>
        </p:txBody>
      </p:sp>
      <p:sp>
        <p:nvSpPr>
          <p:cNvPr id="269" name="T269"/>
          <p:cNvSpPr txBox="1"/>
          <p:nvPr/>
        </p:nvSpPr>
        <p:spPr>
          <a:xfrm>
            <a:off x="828675" y="4808041"/>
            <a:ext cx="58563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输入/输出</a:t>
            </a:r>
          </a:p>
        </p:txBody>
      </p:sp>
      <p:sp>
        <p:nvSpPr>
          <p:cNvPr id="270" name="T270"/>
          <p:cNvSpPr txBox="1"/>
          <p:nvPr/>
        </p:nvSpPr>
        <p:spPr>
          <a:xfrm>
            <a:off x="1666875" y="4808041"/>
            <a:ext cx="122574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26维特征 → 1维预测</a:t>
            </a:r>
          </a:p>
        </p:txBody>
      </p:sp>
      <p:sp>
        <p:nvSpPr>
          <p:cNvPr id="271" name="R271"/>
          <p:cNvSpPr/>
          <p:nvPr/>
        </p:nvSpPr>
        <p:spPr>
          <a:xfrm>
            <a:off x="6172200" y="3741241"/>
            <a:ext cx="5486400" cy="1438275"/>
          </a:xfrm>
          <a:prstGeom prst="roundRect">
            <a:avLst>
              <a:gd name="adj" fmla="val 3973"/>
            </a:avLst>
          </a:prstGeom>
          <a:solidFill>
            <a:srgbClr val="000000">
              <a:alpha val="0"/>
            </a:srgbClr>
          </a:solidFill>
          <a:ln w="12700">
            <a:solidFill>
              <a:srgbClr val="dee2e6"/>
            </a:solidFill>
          </a:ln>
        </p:spPr>
      </p:sp>
      <p:sp>
        <p:nvSpPr>
          <p:cNvPr id="272" name="R272"/>
          <p:cNvSpPr/>
          <p:nvPr/>
        </p:nvSpPr>
        <p:spPr>
          <a:xfrm>
            <a:off x="6181725" y="3865066"/>
            <a:ext cx="28575" cy="119062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3" name="R273"/>
          <p:cNvSpPr/>
          <p:nvPr/>
        </p:nvSpPr>
        <p:spPr>
          <a:xfrm>
            <a:off x="6467475" y="3922216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d97706"/>
          </a:solidFill>
        </p:spPr>
      </p:sp>
      <p:sp>
        <p:nvSpPr>
          <p:cNvPr id="274" name="T274"/>
          <p:cNvSpPr txBox="1"/>
          <p:nvPr/>
        </p:nvSpPr>
        <p:spPr>
          <a:xfrm>
            <a:off x="6540847" y="3946028"/>
            <a:ext cx="8170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 b="1">
                <a:solidFill>
                  <a:srgbClr val="fffff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75" name="T275"/>
          <p:cNvSpPr txBox="1"/>
          <p:nvPr/>
        </p:nvSpPr>
        <p:spPr>
          <a:xfrm>
            <a:off x="6772275" y="3922216"/>
            <a:ext cx="71437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212529"/>
                </a:solidFill>
                <a:latin typeface="Noto Sans SC"/>
                <a:ea typeface="Noto Sans SC"/>
              </a:rPr>
              <a:t>数据与特征</a:t>
            </a:r>
          </a:p>
        </p:txBody>
      </p:sp>
      <p:sp>
        <p:nvSpPr>
          <p:cNvPr id="276" name="T276"/>
          <p:cNvSpPr txBox="1"/>
          <p:nvPr/>
        </p:nvSpPr>
        <p:spPr>
          <a:xfrm>
            <a:off x="6467475" y="4255591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数据集</a:t>
            </a:r>
          </a:p>
        </p:txBody>
      </p:sp>
      <p:sp>
        <p:nvSpPr>
          <p:cNvPr id="277" name="T277"/>
          <p:cNvSpPr txBox="1"/>
          <p:nvPr/>
        </p:nvSpPr>
        <p:spPr>
          <a:xfrm>
            <a:off x="7305675" y="4255591"/>
            <a:ext cx="187657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ARPA-E PERFORM，5分钟采样</a:t>
            </a:r>
          </a:p>
        </p:txBody>
      </p:sp>
      <p:sp>
        <p:nvSpPr>
          <p:cNvPr id="278" name="T278"/>
          <p:cNvSpPr txBox="1"/>
          <p:nvPr/>
        </p:nvSpPr>
        <p:spPr>
          <a:xfrm>
            <a:off x="6467475" y="4531816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输入特征</a:t>
            </a:r>
          </a:p>
        </p:txBody>
      </p:sp>
      <p:sp>
        <p:nvSpPr>
          <p:cNvPr id="279" name="T279"/>
          <p:cNvSpPr txBox="1"/>
          <p:nvPr/>
        </p:nvSpPr>
        <p:spPr>
          <a:xfrm>
            <a:off x="7305675" y="4531816"/>
            <a:ext cx="1987004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26维：周期编码+天文+气象+滞后</a:t>
            </a:r>
          </a:p>
        </p:txBody>
      </p:sp>
      <p:sp>
        <p:nvSpPr>
          <p:cNvPr id="280" name="T280"/>
          <p:cNvSpPr txBox="1"/>
          <p:nvPr/>
        </p:nvSpPr>
        <p:spPr>
          <a:xfrm>
            <a:off x="6467475" y="4808041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划分比例</a:t>
            </a:r>
          </a:p>
        </p:txBody>
      </p:sp>
      <p:sp>
        <p:nvSpPr>
          <p:cNvPr id="281" name="T281"/>
          <p:cNvSpPr txBox="1"/>
          <p:nvPr/>
        </p:nvSpPr>
        <p:spPr>
          <a:xfrm>
            <a:off x="7305675" y="4808041"/>
            <a:ext cx="56777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60/20/20</a:t>
            </a:r>
          </a:p>
        </p:txBody>
      </p:sp>
      <p:sp>
        <p:nvSpPr>
          <p:cNvPr id="282" name="T282"/>
          <p:cNvSpPr txBox="1"/>
          <p:nvPr/>
        </p:nvSpPr>
        <p:spPr>
          <a:xfrm>
            <a:off x="7968704" y="4827091"/>
            <a:ext cx="100399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6b7280"/>
                </a:solidFill>
                <a:latin typeface="Noto Sans SC"/>
                <a:ea typeface="Noto Sans SC"/>
              </a:rPr>
              <a:t>（训练/验证/测试）</a:t>
            </a:r>
          </a:p>
        </p:txBody>
      </p:sp>
      <p:sp>
        <p:nvSpPr>
          <p:cNvPr id="283" name="T283"/>
          <p:cNvSpPr txBox="1"/>
          <p:nvPr/>
        </p:nvSpPr>
        <p:spPr>
          <a:xfrm>
            <a:off x="533400" y="180975"/>
            <a:ext cx="107066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2563eb"/>
                </a:solidFill>
                <a:latin typeface="Noto Sans SC"/>
                <a:ea typeface="Noto Sans SC"/>
              </a:rPr>
              <a:t>方法论 / PIPELINE</a:t>
            </a:r>
          </a:p>
        </p:txBody>
      </p:sp>
      <p:sp>
        <p:nvSpPr>
          <p:cNvPr id="284" name="T284"/>
          <p:cNvSpPr txBox="1"/>
          <p:nvPr/>
        </p:nvSpPr>
        <p:spPr>
          <a:xfrm>
            <a:off x="533400" y="352425"/>
            <a:ext cx="368022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212529"/>
                </a:solidFill>
                <a:latin typeface="Noto Sans SC"/>
                <a:ea typeface="Noto Sans SC"/>
              </a:rPr>
              <a:t>KAN训练-稀疏化-符号提取管线</a:t>
            </a:r>
          </a:p>
        </p:txBody>
      </p:sp>
      <p:sp>
        <p:nvSpPr>
          <p:cNvPr id="285" name="L285"/>
          <p:cNvSpPr/>
          <p:nvPr/>
        </p:nvSpPr>
        <p:spPr>
          <a:xfrm>
            <a:off x="533400" y="6524625"/>
            <a:ext cx="1112520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286" name="T286"/>
          <p:cNvSpPr txBox="1"/>
          <p:nvPr/>
        </p:nvSpPr>
        <p:spPr>
          <a:xfrm>
            <a:off x="533400" y="6586538"/>
            <a:ext cx="192896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基于KAN的可解释太阳能预测 — 中期报告</a:t>
            </a:r>
          </a:p>
        </p:txBody>
      </p:sp>
      <p:sp>
        <p:nvSpPr>
          <p:cNvPr id="287" name="T287"/>
          <p:cNvSpPr txBox="1"/>
          <p:nvPr/>
        </p:nvSpPr>
        <p:spPr>
          <a:xfrm>
            <a:off x="11396067" y="6586538"/>
            <a:ext cx="262532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f1f3f5"/>
            </a:gs>
            <a:gs pos="100000">
              <a:srgbClr val="fafbf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88" name="T288"/>
          <p:cNvSpPr txBox="1"/>
          <p:nvPr/>
        </p:nvSpPr>
        <p:spPr>
          <a:xfrm>
            <a:off x="8835628" y="1038225"/>
            <a:ext cx="3451621" cy="400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0" b="1">
                <a:solidFill>
                  <a:srgbClr val="212529">
                    <a:alpha val="2000"/>
                  </a:srgbClr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289" name="R289"/>
          <p:cNvSpPr/>
          <p:nvPr/>
        </p:nvSpPr>
        <p:spPr>
          <a:xfrm>
            <a:off x="762000" y="2487810"/>
            <a:ext cx="28575" cy="1333500"/>
          </a:xfrm>
          <a:prstGeom prst="roundRect">
            <a:avLst>
              <a:gd name="adj" fmla="val 49998"/>
            </a:avLst>
          </a:prstGeom>
          <a:solidFill>
            <a:srgbClr val="2563eb">
              <a:alpha val="85000"/>
            </a:srgbClr>
          </a:solidFill>
        </p:spPr>
      </p:sp>
      <p:sp>
        <p:nvSpPr>
          <p:cNvPr id="290" name="T290"/>
          <p:cNvSpPr txBox="1"/>
          <p:nvPr/>
        </p:nvSpPr>
        <p:spPr>
          <a:xfrm>
            <a:off x="990600" y="2256458"/>
            <a:ext cx="1650503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2563eb">
                    <a:alpha val="70000"/>
                  </a:srgbClr>
                </a:solidFill>
                <a:latin typeface="Noto Sans SC"/>
                <a:ea typeface="Noto Sans SC"/>
              </a:rPr>
              <a:t>PART 03 — 核心实验结果</a:t>
            </a:r>
          </a:p>
        </p:txBody>
      </p:sp>
      <p:sp>
        <p:nvSpPr>
          <p:cNvPr id="291" name="T291"/>
          <p:cNvSpPr txBox="1"/>
          <p:nvPr/>
        </p:nvSpPr>
        <p:spPr>
          <a:xfrm>
            <a:off x="990600" y="2546970"/>
            <a:ext cx="23717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3150" b="1">
                <a:solidFill>
                  <a:srgbClr val="212529"/>
                </a:solidFill>
                <a:latin typeface="Noto Sans SC"/>
                <a:ea typeface="Noto Sans SC"/>
              </a:rPr>
              <a:t>核心实验结果</a:t>
            </a:r>
          </a:p>
        </p:txBody>
      </p:sp>
      <p:sp>
        <p:nvSpPr>
          <p:cNvPr id="292" name="R292"/>
          <p:cNvSpPr/>
          <p:nvPr/>
        </p:nvSpPr>
        <p:spPr>
          <a:xfrm>
            <a:off x="990600" y="3407940"/>
            <a:ext cx="533400" cy="19050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</p:spPr>
      </p:sp>
      <p:sp>
        <p:nvSpPr>
          <p:cNvPr id="293" name="T293"/>
          <p:cNvSpPr txBox="1"/>
          <p:nvPr/>
        </p:nvSpPr>
        <p:spPr>
          <a:xfrm>
            <a:off x="990600" y="3707978"/>
            <a:ext cx="2035671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425" b="1">
                <a:solidFill>
                  <a:srgbClr val="212529"/>
                </a:solidFill>
                <a:latin typeface="Noto Sans SC"/>
                <a:ea typeface="Noto Sans SC"/>
              </a:rPr>
              <a:t>KAN能预测，但不能解释</a:t>
            </a:r>
          </a:p>
        </p:txBody>
      </p:sp>
      <p:sp>
        <p:nvSpPr>
          <p:cNvPr id="294" name="T294"/>
          <p:cNvSpPr txBox="1"/>
          <p:nvPr/>
        </p:nvSpPr>
        <p:spPr>
          <a:xfrm>
            <a:off x="3064371" y="3707978"/>
            <a:ext cx="364926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425">
                <a:solidFill>
                  <a:srgbClr val="2563eb">
                    <a:alpha val="60000"/>
                  </a:srgbClr>
                </a:solidFill>
                <a:latin typeface="Noto Sans SC"/>
                <a:ea typeface="Noto Sans SC"/>
              </a:rPr>
              <a:t>——</a:t>
            </a:r>
          </a:p>
        </p:txBody>
      </p:sp>
      <p:sp>
        <p:nvSpPr>
          <p:cNvPr id="295" name="T295"/>
          <p:cNvSpPr txBox="1"/>
          <p:nvPr/>
        </p:nvSpPr>
        <p:spPr>
          <a:xfrm>
            <a:off x="3467397" y="3707978"/>
            <a:ext cx="2573684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425">
                <a:solidFill>
                  <a:srgbClr val="6b7280"/>
                </a:solidFill>
                <a:latin typeface="Noto Sans SC"/>
                <a:ea typeface="Noto Sans SC"/>
              </a:rPr>
              <a:t>这不是它笨，而是有人在抄近路</a:t>
            </a:r>
          </a:p>
        </p:txBody>
      </p:sp>
      <p:sp>
        <p:nvSpPr>
          <p:cNvPr id="296" name="T296"/>
          <p:cNvSpPr txBox="1"/>
          <p:nvPr/>
        </p:nvSpPr>
        <p:spPr>
          <a:xfrm>
            <a:off x="381000" y="6577012"/>
            <a:ext cx="6000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750">
                <a:solidFill>
                  <a:srgbClr val="6b7280">
                    <a:alpha val="50000"/>
                  </a:srgbClr>
                </a:solidFill>
                <a:latin typeface="Noto Sans SC"/>
                <a:ea typeface="Noto Sans SC"/>
              </a:rPr>
              <a:t>核心实验结果</a:t>
            </a:r>
          </a:p>
        </p:txBody>
      </p:sp>
      <p:sp>
        <p:nvSpPr>
          <p:cNvPr id="297" name="T297"/>
          <p:cNvSpPr txBox="1"/>
          <p:nvPr/>
        </p:nvSpPr>
        <p:spPr>
          <a:xfrm>
            <a:off x="11533733" y="6577012"/>
            <a:ext cx="27726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750" b="1">
                <a:solidFill>
                  <a:srgbClr val="6b7280">
                    <a:alpha val="50000"/>
                  </a:srgbClr>
                </a:solidFill>
                <a:latin typeface="Noto Sans SC"/>
                <a:ea typeface="Noto Sans S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8" name="T298"/>
          <p:cNvSpPr txBox="1"/>
          <p:nvPr/>
        </p:nvSpPr>
        <p:spPr>
          <a:xfrm>
            <a:off x="533400" y="185738"/>
            <a:ext cx="104879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563eb"/>
                </a:solidFill>
                <a:latin typeface="Noto Sans SC"/>
                <a:ea typeface="Noto Sans SC"/>
              </a:rPr>
              <a:t>ACT 2 / 公式坍缩</a:t>
            </a:r>
          </a:p>
        </p:txBody>
      </p:sp>
      <p:sp>
        <p:nvSpPr>
          <p:cNvPr id="299" name="T299"/>
          <p:cNvSpPr txBox="1"/>
          <p:nvPr/>
        </p:nvSpPr>
        <p:spPr>
          <a:xfrm>
            <a:off x="533400" y="381000"/>
            <a:ext cx="5046612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950" b="1">
                <a:solidFill>
                  <a:srgbClr val="212529"/>
                </a:solidFill>
                <a:latin typeface="Noto Sans SC"/>
                <a:ea typeface="Noto Sans SC"/>
              </a:rPr>
              <a:t>精度-可解释性悖论 —— 9/9 配置全部公式坍缩</a:t>
            </a:r>
          </a:p>
        </p:txBody>
      </p:sp>
      <p:sp>
        <p:nvSpPr>
          <p:cNvPr id="300" name="R300"/>
          <p:cNvSpPr/>
          <p:nvPr/>
        </p:nvSpPr>
        <p:spPr>
          <a:xfrm>
            <a:off x="533400" y="762000"/>
            <a:ext cx="11125200" cy="5638800"/>
          </a:xfrm>
          <a:prstGeom prst="roundRect">
            <a:avLst>
              <a:gd name="adj" fmla="val 1013"/>
            </a:avLst>
          </a:prstGeom>
          <a:solidFill>
            <a:srgbClr val="f1f3f5"/>
          </a:solidFill>
        </p:spPr>
      </p:sp>
      <p:sp>
        <p:nvSpPr>
          <p:cNvPr id="301" name="R301"/>
          <p:cNvSpPr/>
          <p:nvPr/>
        </p:nvSpPr>
        <p:spPr>
          <a:xfrm>
            <a:off x="685800" y="914400"/>
            <a:ext cx="10820251" cy="2027783"/>
          </a:xfrm>
          <a:prstGeom prst="roundRect">
            <a:avLst>
              <a:gd name="adj" fmla="val 2818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302" name="R302"/>
          <p:cNvSpPr/>
          <p:nvPr/>
        </p:nvSpPr>
        <p:spPr>
          <a:xfrm>
            <a:off x="923925" y="1119187"/>
            <a:ext cx="28575" cy="1524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303" name="T303"/>
          <p:cNvSpPr txBox="1"/>
          <p:nvPr/>
        </p:nvSpPr>
        <p:spPr>
          <a:xfrm>
            <a:off x="1028700" y="1081088"/>
            <a:ext cx="857250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212529"/>
                </a:solidFill>
                <a:latin typeface="Noto Sans SC"/>
                <a:ea typeface="Noto Sans SC"/>
              </a:rPr>
              <a:t>精度基线对比</a:t>
            </a:r>
          </a:p>
        </p:txBody>
      </p:sp>
      <p:sp>
        <p:nvSpPr>
          <p:cNvPr id="304" name="R304"/>
          <p:cNvSpPr/>
          <p:nvPr/>
        </p:nvSpPr>
        <p:spPr>
          <a:xfrm>
            <a:off x="923925" y="1409700"/>
            <a:ext cx="2500163" cy="1089570"/>
          </a:xfrm>
          <a:prstGeom prst="roundRect">
            <a:avLst>
              <a:gd name="adj" fmla="val 5245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25000"/>
              </a:srgbClr>
            </a:solidFill>
          </a:ln>
        </p:spPr>
      </p:sp>
      <p:sp>
        <p:nvSpPr>
          <p:cNvPr id="305" name="R305"/>
          <p:cNvSpPr/>
          <p:nvPr/>
        </p:nvSpPr>
        <p:spPr>
          <a:xfrm>
            <a:off x="2897534" y="1476375"/>
            <a:ext cx="440828" cy="200025"/>
          </a:xfrm>
          <a:prstGeom prst="roundRect">
            <a:avLst>
              <a:gd name="adj" fmla="val 14285"/>
            </a:avLst>
          </a:prstGeom>
          <a:solidFill>
            <a:srgbClr val="2563eb"/>
          </a:solidFill>
        </p:spPr>
      </p:sp>
      <p:sp>
        <p:nvSpPr>
          <p:cNvPr id="306" name="T306"/>
          <p:cNvSpPr txBox="1"/>
          <p:nvPr/>
        </p:nvSpPr>
        <p:spPr>
          <a:xfrm>
            <a:off x="2954684" y="1481138"/>
            <a:ext cx="326528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 b="1">
                <a:solidFill>
                  <a:srgbClr val="ffffff"/>
                </a:solidFill>
                <a:latin typeface="Noto Sans SC"/>
                <a:ea typeface="Noto Sans SC"/>
              </a:rPr>
              <a:t>BEST</a:t>
            </a:r>
          </a:p>
        </p:txBody>
      </p:sp>
      <p:sp>
        <p:nvSpPr>
          <p:cNvPr id="307" name="T307"/>
          <p:cNvSpPr txBox="1"/>
          <p:nvPr/>
        </p:nvSpPr>
        <p:spPr>
          <a:xfrm>
            <a:off x="1757064" y="1495425"/>
            <a:ext cx="83373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400" b="1">
                <a:solidFill>
                  <a:srgbClr val="2563eb"/>
                </a:solidFill>
                <a:latin typeface="Noto Sans SC"/>
                <a:ea typeface="Noto Sans SC"/>
              </a:rPr>
              <a:t>0.453</a:t>
            </a:r>
          </a:p>
        </p:txBody>
      </p:sp>
      <p:sp>
        <p:nvSpPr>
          <p:cNvPr id="308" name="T308"/>
          <p:cNvSpPr txBox="1"/>
          <p:nvPr/>
        </p:nvSpPr>
        <p:spPr>
          <a:xfrm>
            <a:off x="2046089" y="1932533"/>
            <a:ext cx="25583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1910357" y="2170658"/>
            <a:ext cx="527298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KAN 教师</a:t>
            </a:r>
          </a:p>
        </p:txBody>
      </p:sp>
      <p:sp>
        <p:nvSpPr>
          <p:cNvPr id="310" name="R310"/>
          <p:cNvSpPr/>
          <p:nvPr/>
        </p:nvSpPr>
        <p:spPr>
          <a:xfrm>
            <a:off x="3538388" y="1409700"/>
            <a:ext cx="2500312" cy="1089570"/>
          </a:xfrm>
          <a:prstGeom prst="roundRect">
            <a:avLst>
              <a:gd name="adj" fmla="val 5245"/>
            </a:avLst>
          </a:prstGeom>
          <a:solidFill>
            <a:srgbClr val="f1f3f5"/>
          </a:solidFill>
        </p:spPr>
      </p:sp>
      <p:sp>
        <p:nvSpPr>
          <p:cNvPr id="311" name="T311"/>
          <p:cNvSpPr txBox="1"/>
          <p:nvPr/>
        </p:nvSpPr>
        <p:spPr>
          <a:xfrm>
            <a:off x="4371677" y="1495425"/>
            <a:ext cx="83373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400" b="1">
                <a:solidFill>
                  <a:srgbClr val="212529"/>
                </a:solidFill>
                <a:latin typeface="Noto Sans SC"/>
                <a:ea typeface="Noto Sans SC"/>
              </a:rPr>
              <a:t>0.430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4660552" y="1932533"/>
            <a:ext cx="25583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4522589" y="2170658"/>
            <a:ext cx="53176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MLP 基线</a:t>
            </a:r>
          </a:p>
        </p:txBody>
      </p:sp>
      <p:sp>
        <p:nvSpPr>
          <p:cNvPr id="314" name="R314"/>
          <p:cNvSpPr/>
          <p:nvPr/>
        </p:nvSpPr>
        <p:spPr>
          <a:xfrm>
            <a:off x="6153001" y="1409700"/>
            <a:ext cx="2500312" cy="1089570"/>
          </a:xfrm>
          <a:prstGeom prst="roundRect">
            <a:avLst>
              <a:gd name="adj" fmla="val 5245"/>
            </a:avLst>
          </a:prstGeom>
          <a:solidFill>
            <a:srgbClr val="f1f3f5"/>
          </a:solidFill>
        </p:spPr>
      </p:sp>
      <p:sp>
        <p:nvSpPr>
          <p:cNvPr id="315" name="T315"/>
          <p:cNvSpPr txBox="1"/>
          <p:nvPr/>
        </p:nvSpPr>
        <p:spPr>
          <a:xfrm>
            <a:off x="6986289" y="1495425"/>
            <a:ext cx="83373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400" b="1">
                <a:solidFill>
                  <a:srgbClr val="212529"/>
                </a:solidFill>
                <a:latin typeface="Noto Sans SC"/>
                <a:ea typeface="Noto Sans SC"/>
              </a:rPr>
              <a:t>0.076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7275165" y="1932533"/>
            <a:ext cx="25583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7248227" y="2170658"/>
            <a:ext cx="30986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PySR</a:t>
            </a:r>
          </a:p>
        </p:txBody>
      </p:sp>
      <p:sp>
        <p:nvSpPr>
          <p:cNvPr id="318" name="R318"/>
          <p:cNvSpPr/>
          <p:nvPr/>
        </p:nvSpPr>
        <p:spPr>
          <a:xfrm>
            <a:off x="8767613" y="1409700"/>
            <a:ext cx="2500312" cy="1089570"/>
          </a:xfrm>
          <a:prstGeom prst="roundRect">
            <a:avLst>
              <a:gd name="adj" fmla="val 5245"/>
            </a:avLst>
          </a:prstGeom>
          <a:solidFill>
            <a:srgbClr val="f1f3f5"/>
          </a:solidFill>
        </p:spPr>
      </p:sp>
      <p:sp>
        <p:nvSpPr>
          <p:cNvPr id="319" name="T319"/>
          <p:cNvSpPr txBox="1"/>
          <p:nvPr/>
        </p:nvSpPr>
        <p:spPr>
          <a:xfrm>
            <a:off x="9600902" y="1495425"/>
            <a:ext cx="83373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400" b="1">
                <a:solidFill>
                  <a:srgbClr val="212529"/>
                </a:solidFill>
                <a:latin typeface="Noto Sans SC"/>
                <a:ea typeface="Noto Sans SC"/>
              </a:rPr>
              <a:t>0.000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9889777" y="1932533"/>
            <a:ext cx="25583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9708207" y="2170658"/>
            <a:ext cx="6191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持久性基线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923925" y="2589758"/>
            <a:ext cx="52298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排列检验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1446907" y="2589758"/>
            <a:ext cx="60439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563eb"/>
                </a:solidFill>
                <a:latin typeface="Noto Sans SC"/>
                <a:ea typeface="Noto Sans SC"/>
              </a:rPr>
              <a:t>p = 0.0005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2051298" y="2589758"/>
            <a:ext cx="3836193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，KAN 教师精度优势高度显著；PySR 端到端符号回归精度远逊于 KAN</a:t>
            </a:r>
          </a:p>
        </p:txBody>
      </p:sp>
      <p:sp>
        <p:nvSpPr>
          <p:cNvPr id="325" name="R325"/>
          <p:cNvSpPr/>
          <p:nvPr/>
        </p:nvSpPr>
        <p:spPr>
          <a:xfrm>
            <a:off x="685800" y="3094583"/>
            <a:ext cx="6431160" cy="3153816"/>
          </a:xfrm>
          <a:prstGeom prst="roundRect">
            <a:avLst>
              <a:gd name="adj" fmla="val 1812"/>
            </a:avLst>
          </a:prstGeom>
          <a:gradFill>
            <a:gsLst>
              <a:gs pos="0">
                <a:srgbClr val="1e1e2e"/>
              </a:gs>
              <a:gs pos="100000">
                <a:srgbClr val="2a1a1a"/>
              </a:gs>
            </a:gsLst>
            <a:lin ang="2700000" scaled="0"/>
          </a:gradFill>
        </p:spPr>
      </p:sp>
      <p:sp>
        <p:nvSpPr>
          <p:cNvPr id="326" name="R326"/>
          <p:cNvSpPr/>
          <p:nvPr/>
        </p:nvSpPr>
        <p:spPr>
          <a:xfrm>
            <a:off x="685800" y="3094583"/>
            <a:ext cx="28575" cy="3153667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27" name="R327"/>
          <p:cNvSpPr/>
          <p:nvPr/>
        </p:nvSpPr>
        <p:spPr>
          <a:xfrm>
            <a:off x="1028700" y="334699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328" name="T328"/>
          <p:cNvSpPr txBox="1"/>
          <p:nvPr/>
        </p:nvSpPr>
        <p:spPr>
          <a:xfrm>
            <a:off x="1181100" y="3270796"/>
            <a:ext cx="128587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公式坍缩：全部失败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1028700" y="3575596"/>
            <a:ext cx="564133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</a:rPr>
              <a:t>3 × 3 网格搜索（3 种候选函数库 × 3 种 R² 阈值），9 种符号配置全部坍缩为仅含负荷滞后项的极简公式</a:t>
            </a:r>
          </a:p>
        </p:txBody>
      </p:sp>
      <p:sp>
        <p:nvSpPr>
          <p:cNvPr id="330" name="R330"/>
          <p:cNvSpPr/>
          <p:nvPr/>
        </p:nvSpPr>
        <p:spPr>
          <a:xfrm>
            <a:off x="1028700" y="3905547"/>
            <a:ext cx="1393477" cy="1890414"/>
          </a:xfrm>
          <a:prstGeom prst="roundRect">
            <a:avLst>
              <a:gd name="adj" fmla="val 4101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30000"/>
              </a:srgbClr>
            </a:solidFill>
          </a:ln>
        </p:spPr>
      </p:sp>
      <p:sp>
        <p:nvSpPr>
          <p:cNvPr id="331" name="T331"/>
          <p:cNvSpPr txBox="1"/>
          <p:nvPr/>
        </p:nvSpPr>
        <p:spPr>
          <a:xfrm>
            <a:off x="1514028" y="4414539"/>
            <a:ext cx="42282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1403002" y="4844058"/>
            <a:ext cx="64487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50000"/>
                  </a:srgbClr>
                </a:solidFill>
                <a:latin typeface="Noto Sans SC"/>
                <a:ea typeface="Noto Sans SC"/>
              </a:rPr>
              <a:t>VER(wind)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1415801" y="5044083"/>
            <a:ext cx="6191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35000"/>
                  </a:srgbClr>
                </a:solidFill>
                <a:latin typeface="Noto Sans SC"/>
                <a:ea typeface="Noto Sans SC"/>
              </a:rPr>
              <a:t>配置成功率</a:t>
            </a:r>
          </a:p>
        </p:txBody>
      </p:sp>
      <p:sp>
        <p:nvSpPr>
          <p:cNvPr id="334" name="R334"/>
          <p:cNvSpPr/>
          <p:nvPr/>
        </p:nvSpPr>
        <p:spPr>
          <a:xfrm>
            <a:off x="2517427" y="3905547"/>
            <a:ext cx="1393477" cy="1890414"/>
          </a:xfrm>
          <a:prstGeom prst="roundRect">
            <a:avLst>
              <a:gd name="adj" fmla="val 4101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30000"/>
              </a:srgbClr>
            </a:solidFill>
          </a:ln>
        </p:spPr>
      </p:sp>
      <p:sp>
        <p:nvSpPr>
          <p:cNvPr id="335" name="T335"/>
          <p:cNvSpPr txBox="1"/>
          <p:nvPr/>
        </p:nvSpPr>
        <p:spPr>
          <a:xfrm>
            <a:off x="3002756" y="4414539"/>
            <a:ext cx="42282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</a:p>
        </p:txBody>
      </p:sp>
      <p:sp>
        <p:nvSpPr>
          <p:cNvPr id="336" name="T336"/>
          <p:cNvSpPr txBox="1"/>
          <p:nvPr/>
        </p:nvSpPr>
        <p:spPr>
          <a:xfrm>
            <a:off x="2932211" y="4844058"/>
            <a:ext cx="56390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50000"/>
                  </a:srgbClr>
                </a:solidFill>
                <a:latin typeface="Noto Sans SC"/>
                <a:ea typeface="Noto Sans SC"/>
              </a:rPr>
              <a:t>VER(GHI)</a:t>
            </a:r>
          </a:p>
        </p:txBody>
      </p:sp>
      <p:sp>
        <p:nvSpPr>
          <p:cNvPr id="337" name="T337"/>
          <p:cNvSpPr txBox="1"/>
          <p:nvPr/>
        </p:nvSpPr>
        <p:spPr>
          <a:xfrm>
            <a:off x="2904529" y="5044083"/>
            <a:ext cx="6191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35000"/>
                  </a:srgbClr>
                </a:solidFill>
                <a:latin typeface="Noto Sans SC"/>
                <a:ea typeface="Noto Sans SC"/>
              </a:rPr>
              <a:t>配置成功率</a:t>
            </a:r>
          </a:p>
        </p:txBody>
      </p:sp>
      <p:sp>
        <p:nvSpPr>
          <p:cNvPr id="338" name="R338"/>
          <p:cNvSpPr/>
          <p:nvPr/>
        </p:nvSpPr>
        <p:spPr>
          <a:xfrm>
            <a:off x="4006155" y="3905547"/>
            <a:ext cx="1393477" cy="1890414"/>
          </a:xfrm>
          <a:prstGeom prst="roundRect">
            <a:avLst>
              <a:gd name="adj" fmla="val 4101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30000"/>
              </a:srgbClr>
            </a:solidFill>
          </a:ln>
        </p:spPr>
      </p:sp>
      <p:sp>
        <p:nvSpPr>
          <p:cNvPr id="339" name="T339"/>
          <p:cNvSpPr txBox="1"/>
          <p:nvPr/>
        </p:nvSpPr>
        <p:spPr>
          <a:xfrm>
            <a:off x="4491483" y="4414539"/>
            <a:ext cx="42282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</a:p>
        </p:txBody>
      </p:sp>
      <p:sp>
        <p:nvSpPr>
          <p:cNvPr id="340" name="T340"/>
          <p:cNvSpPr txBox="1"/>
          <p:nvPr/>
        </p:nvSpPr>
        <p:spPr>
          <a:xfrm>
            <a:off x="4371826" y="4844058"/>
            <a:ext cx="661987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50000"/>
                  </a:srgbClr>
                </a:solidFill>
                <a:latin typeface="Noto Sans SC"/>
                <a:ea typeface="Noto Sans SC"/>
              </a:rPr>
              <a:t>VER(temp)</a:t>
            </a:r>
          </a:p>
        </p:txBody>
      </p:sp>
      <p:sp>
        <p:nvSpPr>
          <p:cNvPr id="341" name="T341"/>
          <p:cNvSpPr txBox="1"/>
          <p:nvPr/>
        </p:nvSpPr>
        <p:spPr>
          <a:xfrm>
            <a:off x="4393257" y="5044083"/>
            <a:ext cx="6191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35000"/>
                  </a:srgbClr>
                </a:solidFill>
                <a:latin typeface="Noto Sans SC"/>
                <a:ea typeface="Noto Sans SC"/>
              </a:rPr>
              <a:t>配置成功率</a:t>
            </a:r>
          </a:p>
        </p:txBody>
      </p:sp>
      <p:sp>
        <p:nvSpPr>
          <p:cNvPr id="342" name="R342"/>
          <p:cNvSpPr/>
          <p:nvPr/>
        </p:nvSpPr>
        <p:spPr>
          <a:xfrm>
            <a:off x="5494883" y="3905547"/>
            <a:ext cx="1393477" cy="1890414"/>
          </a:xfrm>
          <a:prstGeom prst="roundRect">
            <a:avLst>
              <a:gd name="adj" fmla="val 4101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30000"/>
              </a:srgbClr>
            </a:solidFill>
          </a:ln>
        </p:spPr>
      </p:sp>
      <p:sp>
        <p:nvSpPr>
          <p:cNvPr id="343" name="T343"/>
          <p:cNvSpPr txBox="1"/>
          <p:nvPr/>
        </p:nvSpPr>
        <p:spPr>
          <a:xfrm>
            <a:off x="5980211" y="4414539"/>
            <a:ext cx="42282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</a:p>
        </p:txBody>
      </p:sp>
      <p:sp>
        <p:nvSpPr>
          <p:cNvPr id="344" name="T344"/>
          <p:cNvSpPr txBox="1"/>
          <p:nvPr/>
        </p:nvSpPr>
        <p:spPr>
          <a:xfrm>
            <a:off x="5909816" y="4844058"/>
            <a:ext cx="563463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50000"/>
                  </a:srgbClr>
                </a:solidFill>
                <a:latin typeface="Noto Sans SC"/>
                <a:ea typeface="Noto Sans SC"/>
              </a:rPr>
              <a:t>VER(any)</a:t>
            </a:r>
          </a:p>
        </p:txBody>
      </p:sp>
      <p:sp>
        <p:nvSpPr>
          <p:cNvPr id="345" name="T345"/>
          <p:cNvSpPr txBox="1"/>
          <p:nvPr/>
        </p:nvSpPr>
        <p:spPr>
          <a:xfrm>
            <a:off x="5820072" y="5044083"/>
            <a:ext cx="74295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35000"/>
                  </a:srgbClr>
                </a:solidFill>
                <a:latin typeface="Noto Sans SC"/>
                <a:ea typeface="Noto Sans SC"/>
              </a:rPr>
              <a:t>任意物理变量</a:t>
            </a:r>
          </a:p>
        </p:txBody>
      </p:sp>
      <p:sp>
        <p:nvSpPr>
          <p:cNvPr id="346" name="T346"/>
          <p:cNvSpPr txBox="1"/>
          <p:nvPr/>
        </p:nvSpPr>
        <p:spPr>
          <a:xfrm>
            <a:off x="1028700" y="5886450"/>
            <a:ext cx="328359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35000"/>
                  </a:srgbClr>
                </a:solidFill>
                <a:latin typeface="Noto Sans SC"/>
                <a:ea typeface="Noto Sans SC"/>
              </a:rPr>
              <a:t>所有物理气象变量被系统性剪除 — 来源: 论文_pandoc.docx</a:t>
            </a:r>
          </a:p>
        </p:txBody>
      </p:sp>
      <p:sp>
        <p:nvSpPr>
          <p:cNvPr id="347" name="R347"/>
          <p:cNvSpPr/>
          <p:nvPr/>
        </p:nvSpPr>
        <p:spPr>
          <a:xfrm>
            <a:off x="7269360" y="3094583"/>
            <a:ext cx="4236690" cy="2058739"/>
          </a:xfrm>
          <a:prstGeom prst="roundRect">
            <a:avLst>
              <a:gd name="adj" fmla="val 2775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348" name="R348"/>
          <p:cNvSpPr/>
          <p:nvPr/>
        </p:nvSpPr>
        <p:spPr>
          <a:xfrm>
            <a:off x="7450335" y="3285083"/>
            <a:ext cx="28575" cy="13335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349" name="T349"/>
          <p:cNvSpPr txBox="1"/>
          <p:nvPr/>
        </p:nvSpPr>
        <p:spPr>
          <a:xfrm>
            <a:off x="7536060" y="3246983"/>
            <a:ext cx="874811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212529"/>
                </a:solidFill>
                <a:latin typeface="Noto Sans SC"/>
                <a:ea typeface="Noto Sans SC"/>
              </a:rPr>
              <a:t>精度与 R² 细节</a:t>
            </a:r>
          </a:p>
        </p:txBody>
      </p:sp>
      <p:sp>
        <p:nvSpPr>
          <p:cNvPr id="350" name="R350"/>
          <p:cNvSpPr/>
          <p:nvPr/>
        </p:nvSpPr>
        <p:spPr>
          <a:xfrm>
            <a:off x="7450335" y="3542258"/>
            <a:ext cx="3874740" cy="342900"/>
          </a:xfrm>
          <a:prstGeom prst="roundRect">
            <a:avLst>
              <a:gd name="adj" fmla="val 11111"/>
            </a:avLst>
          </a:prstGeom>
          <a:solidFill>
            <a:srgbClr val="f1f3f5"/>
          </a:solidFill>
        </p:spPr>
      </p:sp>
      <p:sp>
        <p:nvSpPr>
          <p:cNvPr id="351" name="T351"/>
          <p:cNvSpPr txBox="1"/>
          <p:nvPr/>
        </p:nvSpPr>
        <p:spPr>
          <a:xfrm>
            <a:off x="7545585" y="3618458"/>
            <a:ext cx="40883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KAN R²</a:t>
            </a:r>
          </a:p>
        </p:txBody>
      </p:sp>
      <p:sp>
        <p:nvSpPr>
          <p:cNvPr id="352" name="T352"/>
          <p:cNvSpPr txBox="1"/>
          <p:nvPr/>
        </p:nvSpPr>
        <p:spPr>
          <a:xfrm>
            <a:off x="10820846" y="3599408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12529"/>
                </a:solidFill>
                <a:latin typeface="Noto Sans SC"/>
                <a:ea typeface="Noto Sans SC"/>
              </a:rPr>
              <a:t>0.991</a:t>
            </a:r>
          </a:p>
        </p:txBody>
      </p:sp>
      <p:sp>
        <p:nvSpPr>
          <p:cNvPr id="353" name="R353"/>
          <p:cNvSpPr/>
          <p:nvPr/>
        </p:nvSpPr>
        <p:spPr>
          <a:xfrm>
            <a:off x="7450335" y="3961358"/>
            <a:ext cx="3874740" cy="342900"/>
          </a:xfrm>
          <a:prstGeom prst="roundRect">
            <a:avLst>
              <a:gd name="adj" fmla="val 11111"/>
            </a:avLst>
          </a:prstGeom>
          <a:solidFill>
            <a:srgbClr val="f1f3f5"/>
          </a:solidFill>
        </p:spPr>
      </p:sp>
      <p:sp>
        <p:nvSpPr>
          <p:cNvPr id="354" name="T354"/>
          <p:cNvSpPr txBox="1"/>
          <p:nvPr/>
        </p:nvSpPr>
        <p:spPr>
          <a:xfrm>
            <a:off x="7545585" y="4037558"/>
            <a:ext cx="609748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KAN RMSE</a:t>
            </a:r>
          </a:p>
        </p:txBody>
      </p:sp>
      <p:sp>
        <p:nvSpPr>
          <p:cNvPr id="355" name="T355"/>
          <p:cNvSpPr txBox="1"/>
          <p:nvPr/>
        </p:nvSpPr>
        <p:spPr>
          <a:xfrm>
            <a:off x="10435381" y="4018508"/>
            <a:ext cx="5887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12529"/>
                </a:solidFill>
                <a:latin typeface="Noto Sans SC"/>
                <a:ea typeface="Noto Sans SC"/>
              </a:rPr>
              <a:t>1413.51</a:t>
            </a:r>
          </a:p>
        </p:txBody>
      </p:sp>
      <p:sp>
        <p:nvSpPr>
          <p:cNvPr id="356" name="T356"/>
          <p:cNvSpPr txBox="1"/>
          <p:nvPr/>
        </p:nvSpPr>
        <p:spPr>
          <a:xfrm>
            <a:off x="11052720" y="4051846"/>
            <a:ext cx="17710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kW</a:t>
            </a:r>
          </a:p>
        </p:txBody>
      </p:sp>
      <p:sp>
        <p:nvSpPr>
          <p:cNvPr id="357" name="R357"/>
          <p:cNvSpPr/>
          <p:nvPr/>
        </p:nvSpPr>
        <p:spPr>
          <a:xfrm>
            <a:off x="7450335" y="4380458"/>
            <a:ext cx="3874740" cy="342900"/>
          </a:xfrm>
          <a:prstGeom prst="roundRect">
            <a:avLst>
              <a:gd name="adj" fmla="val 11111"/>
            </a:avLst>
          </a:prstGeom>
          <a:solidFill>
            <a:srgbClr val="f1f3f5"/>
          </a:solidFill>
        </p:spPr>
      </p:sp>
      <p:sp>
        <p:nvSpPr>
          <p:cNvPr id="358" name="T358"/>
          <p:cNvSpPr txBox="1"/>
          <p:nvPr/>
        </p:nvSpPr>
        <p:spPr>
          <a:xfrm>
            <a:off x="7545585" y="4456658"/>
            <a:ext cx="613618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MLP RMSE</a:t>
            </a:r>
          </a:p>
        </p:txBody>
      </p:sp>
      <p:sp>
        <p:nvSpPr>
          <p:cNvPr id="359" name="T359"/>
          <p:cNvSpPr txBox="1"/>
          <p:nvPr/>
        </p:nvSpPr>
        <p:spPr>
          <a:xfrm>
            <a:off x="10435381" y="4437608"/>
            <a:ext cx="5887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12529"/>
                </a:solidFill>
                <a:latin typeface="Noto Sans SC"/>
                <a:ea typeface="Noto Sans SC"/>
              </a:rPr>
              <a:t>1474.38</a:t>
            </a:r>
          </a:p>
        </p:txBody>
      </p:sp>
      <p:sp>
        <p:nvSpPr>
          <p:cNvPr id="360" name="T360"/>
          <p:cNvSpPr txBox="1"/>
          <p:nvPr/>
        </p:nvSpPr>
        <p:spPr>
          <a:xfrm>
            <a:off x="11052720" y="4470946"/>
            <a:ext cx="17710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kW</a:t>
            </a:r>
          </a:p>
        </p:txBody>
      </p:sp>
      <p:sp>
        <p:nvSpPr>
          <p:cNvPr id="361" name="T361"/>
          <p:cNvSpPr txBox="1"/>
          <p:nvPr/>
        </p:nvSpPr>
        <p:spPr>
          <a:xfrm>
            <a:off x="7450335" y="4794796"/>
            <a:ext cx="222885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预测精度看似完美，公式却丧失物理含义</a:t>
            </a:r>
          </a:p>
        </p:txBody>
      </p:sp>
      <p:sp>
        <p:nvSpPr>
          <p:cNvPr id="362" name="T362"/>
          <p:cNvSpPr txBox="1"/>
          <p:nvPr/>
        </p:nvSpPr>
        <p:spPr>
          <a:xfrm>
            <a:off x="7459860" y="5199162"/>
            <a:ext cx="2574131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75">
                <a:solidFill>
                  <a:srgbClr val="212529"/>
                </a:solidFill>
                <a:latin typeface="Noto Sans SC"/>
                <a:ea typeface="Noto Sans SC"/>
              </a:rPr>
              <a:t>模型精度 R² = 0.991，但打开公式后</a:t>
            </a:r>
          </a:p>
        </p:txBody>
      </p:sp>
      <p:sp>
        <p:nvSpPr>
          <p:cNvPr id="363" name="T363"/>
          <p:cNvSpPr txBox="1"/>
          <p:nvPr/>
        </p:nvSpPr>
        <p:spPr>
          <a:xfrm>
            <a:off x="10033992" y="5199162"/>
            <a:ext cx="1133475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75" b="1">
                <a:solidFill>
                  <a:srgbClr val="dc2626"/>
                </a:solidFill>
                <a:latin typeface="Noto Sans SC"/>
                <a:ea typeface="Noto Sans SC"/>
              </a:rPr>
              <a:t>所有物理变量消</a:t>
            </a:r>
          </a:p>
        </p:txBody>
      </p:sp>
      <p:sp>
        <p:nvSpPr>
          <p:cNvPr id="364" name="T364"/>
          <p:cNvSpPr txBox="1"/>
          <p:nvPr/>
        </p:nvSpPr>
        <p:spPr>
          <a:xfrm>
            <a:off x="7459860" y="5466308"/>
            <a:ext cx="161925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75" b="1">
                <a:solidFill>
                  <a:srgbClr val="dc2626"/>
                </a:solidFill>
                <a:latin typeface="Noto Sans SC"/>
                <a:ea typeface="Noto Sans SC"/>
              </a:rPr>
              <a:t>失</a:t>
            </a:r>
          </a:p>
        </p:txBody>
      </p:sp>
      <p:sp>
        <p:nvSpPr>
          <p:cNvPr id="365" name="T365"/>
          <p:cNvSpPr txBox="1"/>
          <p:nvPr/>
        </p:nvSpPr>
        <p:spPr>
          <a:xfrm>
            <a:off x="7459860" y="5819180"/>
            <a:ext cx="217512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6b7280"/>
                </a:solidFill>
                <a:latin typeface="Noto Sans SC"/>
                <a:ea typeface="Noto Sans SC"/>
              </a:rPr>
              <a:t>公式退化为 “明天跟今天差不多”</a:t>
            </a:r>
          </a:p>
        </p:txBody>
      </p:sp>
      <p:sp>
        <p:nvSpPr>
          <p:cNvPr id="366" name="T366"/>
          <p:cNvSpPr txBox="1"/>
          <p:nvPr/>
        </p:nvSpPr>
        <p:spPr>
          <a:xfrm>
            <a:off x="7459860" y="6154936"/>
            <a:ext cx="101054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>
                    <a:alpha val="70000"/>
                  </a:srgbClr>
                </a:solidFill>
                <a:latin typeface="Noto Sans SC"/>
                <a:ea typeface="Noto Sans SC"/>
              </a:rPr>
              <a:t>公式坍缩核心发现</a:t>
            </a:r>
          </a:p>
        </p:txBody>
      </p:sp>
      <p:sp>
        <p:nvSpPr>
          <p:cNvPr id="367" name="T367"/>
          <p:cNvSpPr txBox="1"/>
          <p:nvPr/>
        </p:nvSpPr>
        <p:spPr>
          <a:xfrm>
            <a:off x="7364610" y="5067597"/>
            <a:ext cx="6858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5400" b="1">
                <a:solidFill>
                  <a:srgbClr val="2563eb">
                    <a:alpha val="8000"/>
                  </a:srgbClr>
                </a:solidFill>
                <a:latin typeface="Noto Sans SC"/>
                <a:ea typeface="Noto Sans SC"/>
              </a:rPr>
              <a:t>“</a:t>
            </a:r>
          </a:p>
        </p:txBody>
      </p:sp>
      <p:sp>
        <p:nvSpPr>
          <p:cNvPr id="368" name="T368"/>
          <p:cNvSpPr txBox="1"/>
          <p:nvPr/>
        </p:nvSpPr>
        <p:spPr>
          <a:xfrm>
            <a:off x="533400" y="6557963"/>
            <a:ext cx="170914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KAN 可解释性研究 · 中期报告</a:t>
            </a:r>
          </a:p>
        </p:txBody>
      </p:sp>
      <p:sp>
        <p:nvSpPr>
          <p:cNvPr id="369" name="T369"/>
          <p:cNvSpPr txBox="1"/>
          <p:nvPr/>
        </p:nvSpPr>
        <p:spPr>
          <a:xfrm>
            <a:off x="11341000" y="6557963"/>
            <a:ext cx="31759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0" name="T370"/>
          <p:cNvSpPr txBox="1"/>
          <p:nvPr/>
        </p:nvSpPr>
        <p:spPr>
          <a:xfrm>
            <a:off x="533400" y="180975"/>
            <a:ext cx="138573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2563eb"/>
                </a:solidFill>
                <a:latin typeface="Noto Sans SC"/>
                <a:ea typeface="Noto Sans SC"/>
              </a:rPr>
              <a:t>ACT 3 · S2 BLOCKING</a:t>
            </a:r>
          </a:p>
        </p:txBody>
      </p:sp>
      <p:sp>
        <p:nvSpPr>
          <p:cNvPr id="371" name="T371"/>
          <p:cNvSpPr txBox="1"/>
          <p:nvPr/>
        </p:nvSpPr>
        <p:spPr>
          <a:xfrm>
            <a:off x="533400" y="361950"/>
            <a:ext cx="434875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 b="1">
                <a:solidFill>
                  <a:srgbClr val="212529"/>
                </a:solidFill>
                <a:latin typeface="Noto Sans SC"/>
                <a:ea typeface="Noto Sans SC"/>
              </a:rPr>
              <a:t>S2自回归阻断——切断捷径后物理变量翻身</a:t>
            </a:r>
          </a:p>
        </p:txBody>
      </p:sp>
      <p:sp>
        <p:nvSpPr>
          <p:cNvPr id="372" name="R372"/>
          <p:cNvSpPr/>
          <p:nvPr/>
        </p:nvSpPr>
        <p:spPr>
          <a:xfrm>
            <a:off x="533400" y="781050"/>
            <a:ext cx="6583560" cy="4795837"/>
          </a:xfrm>
          <a:prstGeom prst="roundRect">
            <a:avLst>
              <a:gd name="adj" fmla="val 1191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</p:spPr>
      </p:sp>
      <p:sp>
        <p:nvSpPr>
          <p:cNvPr id="373" name="L373"/>
          <p:cNvSpPr/>
          <p:nvPr/>
        </p:nvSpPr>
        <p:spPr>
          <a:xfrm>
            <a:off x="533400" y="781050"/>
            <a:ext cx="658356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374" name="L374"/>
          <p:cNvSpPr/>
          <p:nvPr/>
        </p:nvSpPr>
        <p:spPr>
          <a:xfrm>
            <a:off x="533400" y="5576887"/>
            <a:ext cx="658356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375" name="L375"/>
          <p:cNvSpPr/>
          <p:nvPr/>
        </p:nvSpPr>
        <p:spPr>
          <a:xfrm>
            <a:off x="7116960" y="781050"/>
            <a:ext cx="9525" cy="4795837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376" name="L376"/>
          <p:cNvSpPr/>
          <p:nvPr/>
        </p:nvSpPr>
        <p:spPr>
          <a:xfrm>
            <a:off x="533400" y="781050"/>
            <a:ext cx="9525" cy="4795837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377" name="T377"/>
          <p:cNvSpPr txBox="1"/>
          <p:nvPr/>
        </p:nvSpPr>
        <p:spPr>
          <a:xfrm>
            <a:off x="790575" y="98107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12529"/>
                </a:solidFill>
                <a:latin typeface="Noto Sans SC"/>
                <a:ea typeface="Noto Sans SC"/>
              </a:rPr>
              <a:t>阻断效应量</a:t>
            </a:r>
          </a:p>
        </p:txBody>
      </p:sp>
      <p:sp>
        <p:nvSpPr>
          <p:cNvPr id="378" name="T378"/>
          <p:cNvSpPr txBox="1"/>
          <p:nvPr/>
        </p:nvSpPr>
        <p:spPr>
          <a:xfrm>
            <a:off x="790575" y="1257300"/>
            <a:ext cx="30670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移除自回归滞后特征后，物理变量可辨识性显著恢复</a:t>
            </a:r>
          </a:p>
        </p:txBody>
      </p:sp>
      <p:sp>
        <p:nvSpPr>
          <p:cNvPr id="379" name="R379"/>
          <p:cNvSpPr/>
          <p:nvPr/>
        </p:nvSpPr>
        <p:spPr>
          <a:xfrm>
            <a:off x="2634555" y="3290887"/>
            <a:ext cx="609600" cy="1028700"/>
          </a:xfrm>
          <a:prstGeom prst="roundRect">
            <a:avLst>
              <a:gd name="adj" fmla="val 6250"/>
            </a:avLst>
          </a:prstGeom>
          <a:gradFill>
            <a:gsLst>
              <a:gs pos="0">
                <a:srgbClr val="059669"/>
              </a:gs>
              <a:gs pos="100000">
                <a:srgbClr val="047857"/>
              </a:gs>
            </a:gsLst>
            <a:lin ang="0" scaled="0"/>
          </a:gradFill>
        </p:spPr>
      </p:sp>
      <p:sp>
        <p:nvSpPr>
          <p:cNvPr id="380" name="R380"/>
          <p:cNvSpPr/>
          <p:nvPr/>
        </p:nvSpPr>
        <p:spPr>
          <a:xfrm>
            <a:off x="2367557" y="2833687"/>
            <a:ext cx="1143595" cy="209550"/>
          </a:xfrm>
          <a:prstGeom prst="roundRect">
            <a:avLst>
              <a:gd name="adj" fmla="val 13636"/>
            </a:avLst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20000"/>
              </a:srgbClr>
            </a:solidFill>
          </a:ln>
        </p:spPr>
      </p:sp>
      <p:sp>
        <p:nvSpPr>
          <p:cNvPr id="381" name="T381"/>
          <p:cNvSpPr txBox="1"/>
          <p:nvPr/>
        </p:nvSpPr>
        <p:spPr>
          <a:xfrm>
            <a:off x="2453282" y="2857500"/>
            <a:ext cx="396478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95% CI:</a:t>
            </a:r>
          </a:p>
        </p:txBody>
      </p:sp>
      <p:sp>
        <p:nvSpPr>
          <p:cNvPr id="382" name="T382"/>
          <p:cNvSpPr txBox="1"/>
          <p:nvPr/>
        </p:nvSpPr>
        <p:spPr>
          <a:xfrm>
            <a:off x="2849760" y="2857500"/>
            <a:ext cx="575667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059669"/>
                </a:solidFill>
                <a:latin typeface="Noto Sans SC"/>
                <a:ea typeface="Noto Sans SC"/>
              </a:rPr>
              <a:t>[0.20, 1.00]</a:t>
            </a:r>
          </a:p>
        </p:txBody>
      </p:sp>
      <p:sp>
        <p:nvSpPr>
          <p:cNvPr id="383" name="T383"/>
          <p:cNvSpPr txBox="1"/>
          <p:nvPr/>
        </p:nvSpPr>
        <p:spPr>
          <a:xfrm>
            <a:off x="2574577" y="3005137"/>
            <a:ext cx="72955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059669"/>
                </a:solidFill>
                <a:latin typeface="Noto Sans SC"/>
                <a:ea typeface="Noto Sans SC"/>
              </a:rPr>
              <a:t>+0.60</a:t>
            </a:r>
          </a:p>
        </p:txBody>
      </p:sp>
      <p:sp>
        <p:nvSpPr>
          <p:cNvPr id="384" name="T384"/>
          <p:cNvSpPr txBox="1"/>
          <p:nvPr/>
        </p:nvSpPr>
        <p:spPr>
          <a:xfrm>
            <a:off x="2747367" y="4391025"/>
            <a:ext cx="38397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12529"/>
                </a:solidFill>
                <a:latin typeface="Noto Sans SC"/>
                <a:ea typeface="Noto Sans SC"/>
              </a:rPr>
              <a:t>Case 3</a:t>
            </a:r>
          </a:p>
        </p:txBody>
      </p:sp>
      <p:sp>
        <p:nvSpPr>
          <p:cNvPr id="385" name="T385"/>
          <p:cNvSpPr txBox="1"/>
          <p:nvPr/>
        </p:nvSpPr>
        <p:spPr>
          <a:xfrm>
            <a:off x="2729805" y="4648200"/>
            <a:ext cx="419100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风电聚焦</a:t>
            </a:r>
          </a:p>
        </p:txBody>
      </p:sp>
      <p:sp>
        <p:nvSpPr>
          <p:cNvPr id="386" name="R386"/>
          <p:cNvSpPr/>
          <p:nvPr/>
        </p:nvSpPr>
        <p:spPr>
          <a:xfrm>
            <a:off x="2739330" y="4900612"/>
            <a:ext cx="400050" cy="190500"/>
          </a:xfrm>
          <a:prstGeom prst="roundRect">
            <a:avLst>
              <a:gd name="adj" fmla="val 50000"/>
            </a:avLst>
          </a:prstGeom>
          <a:solidFill>
            <a:srgbClr val="059669">
              <a:alpha val="8000"/>
            </a:srgbClr>
          </a:solidFill>
        </p:spPr>
      </p:sp>
      <p:sp>
        <p:nvSpPr>
          <p:cNvPr id="387" name="T387"/>
          <p:cNvSpPr txBox="1"/>
          <p:nvPr/>
        </p:nvSpPr>
        <p:spPr>
          <a:xfrm>
            <a:off x="2834580" y="4914900"/>
            <a:ext cx="209550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059669"/>
                </a:solidFill>
                <a:latin typeface="Noto Sans SC"/>
                <a:ea typeface="Noto Sans SC"/>
              </a:rPr>
              <a:t>成功</a:t>
            </a:r>
          </a:p>
        </p:txBody>
      </p:sp>
      <p:sp>
        <p:nvSpPr>
          <p:cNvPr id="388" name="R388"/>
          <p:cNvSpPr/>
          <p:nvPr/>
        </p:nvSpPr>
        <p:spPr>
          <a:xfrm>
            <a:off x="4425255" y="2947987"/>
            <a:ext cx="609600" cy="1371600"/>
          </a:xfrm>
          <a:prstGeom prst="roundRect">
            <a:avLst>
              <a:gd name="adj" fmla="val 6250"/>
            </a:avLst>
          </a:prstGeom>
          <a:gradFill>
            <a:gsLst>
              <a:gs pos="0">
                <a:srgbClr val="059669"/>
              </a:gs>
              <a:gs pos="100000">
                <a:srgbClr val="047857"/>
              </a:gs>
            </a:gsLst>
            <a:lin ang="0" scaled="0"/>
          </a:gradFill>
        </p:spPr>
      </p:sp>
      <p:sp>
        <p:nvSpPr>
          <p:cNvPr id="389" name="R389"/>
          <p:cNvSpPr/>
          <p:nvPr/>
        </p:nvSpPr>
        <p:spPr>
          <a:xfrm>
            <a:off x="4158257" y="2490787"/>
            <a:ext cx="1143595" cy="209550"/>
          </a:xfrm>
          <a:prstGeom prst="roundRect">
            <a:avLst>
              <a:gd name="adj" fmla="val 13636"/>
            </a:avLst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20000"/>
              </a:srgbClr>
            </a:solidFill>
          </a:ln>
        </p:spPr>
      </p:sp>
      <p:sp>
        <p:nvSpPr>
          <p:cNvPr id="390" name="T390"/>
          <p:cNvSpPr txBox="1"/>
          <p:nvPr/>
        </p:nvSpPr>
        <p:spPr>
          <a:xfrm>
            <a:off x="4243982" y="2514600"/>
            <a:ext cx="396478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95% CI:</a:t>
            </a:r>
          </a:p>
        </p:txBody>
      </p:sp>
      <p:sp>
        <p:nvSpPr>
          <p:cNvPr id="391" name="T391"/>
          <p:cNvSpPr txBox="1"/>
          <p:nvPr/>
        </p:nvSpPr>
        <p:spPr>
          <a:xfrm>
            <a:off x="4640460" y="2514600"/>
            <a:ext cx="575667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059669"/>
                </a:solidFill>
                <a:latin typeface="Noto Sans SC"/>
                <a:ea typeface="Noto Sans SC"/>
              </a:rPr>
              <a:t>[0.40, 1.00]</a:t>
            </a:r>
          </a:p>
        </p:txBody>
      </p:sp>
      <p:sp>
        <p:nvSpPr>
          <p:cNvPr id="392" name="T392"/>
          <p:cNvSpPr txBox="1"/>
          <p:nvPr/>
        </p:nvSpPr>
        <p:spPr>
          <a:xfrm>
            <a:off x="4365277" y="2662237"/>
            <a:ext cx="72955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 b="1">
                <a:solidFill>
                  <a:srgbClr val="059669"/>
                </a:solidFill>
                <a:latin typeface="Noto Sans SC"/>
                <a:ea typeface="Noto Sans SC"/>
              </a:rPr>
              <a:t>+0.80</a:t>
            </a:r>
          </a:p>
        </p:txBody>
      </p:sp>
      <p:sp>
        <p:nvSpPr>
          <p:cNvPr id="393" name="T393"/>
          <p:cNvSpPr txBox="1"/>
          <p:nvPr/>
        </p:nvSpPr>
        <p:spPr>
          <a:xfrm>
            <a:off x="4538067" y="4391025"/>
            <a:ext cx="38397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12529"/>
                </a:solidFill>
                <a:latin typeface="Noto Sans SC"/>
                <a:ea typeface="Noto Sans SC"/>
              </a:rPr>
              <a:t>Case 4</a:t>
            </a:r>
          </a:p>
        </p:txBody>
      </p:sp>
      <p:sp>
        <p:nvSpPr>
          <p:cNvPr id="394" name="T394"/>
          <p:cNvSpPr txBox="1"/>
          <p:nvPr/>
        </p:nvSpPr>
        <p:spPr>
          <a:xfrm>
            <a:off x="4468117" y="4648200"/>
            <a:ext cx="52387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直接净负荷</a:t>
            </a:r>
          </a:p>
        </p:txBody>
      </p:sp>
      <p:sp>
        <p:nvSpPr>
          <p:cNvPr id="395" name="R395"/>
          <p:cNvSpPr/>
          <p:nvPr/>
        </p:nvSpPr>
        <p:spPr>
          <a:xfrm>
            <a:off x="4477642" y="4900612"/>
            <a:ext cx="504825" cy="190500"/>
          </a:xfrm>
          <a:prstGeom prst="roundRect">
            <a:avLst>
              <a:gd name="adj" fmla="val 50000"/>
            </a:avLst>
          </a:prstGeom>
          <a:solidFill>
            <a:srgbClr val="059669">
              <a:alpha val="8000"/>
            </a:srgbClr>
          </a:solidFill>
        </p:spPr>
      </p:sp>
      <p:sp>
        <p:nvSpPr>
          <p:cNvPr id="396" name="T396"/>
          <p:cNvSpPr txBox="1"/>
          <p:nvPr/>
        </p:nvSpPr>
        <p:spPr>
          <a:xfrm>
            <a:off x="4572892" y="4914900"/>
            <a:ext cx="31432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059669"/>
                </a:solidFill>
                <a:latin typeface="Noto Sans SC"/>
                <a:ea typeface="Noto Sans SC"/>
              </a:rPr>
              <a:t>强成功</a:t>
            </a:r>
          </a:p>
        </p:txBody>
      </p:sp>
      <p:sp>
        <p:nvSpPr>
          <p:cNvPr id="397" name="L397"/>
          <p:cNvSpPr/>
          <p:nvPr/>
        </p:nvSpPr>
        <p:spPr>
          <a:xfrm>
            <a:off x="790575" y="5091112"/>
            <a:ext cx="608826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398" name="T398"/>
          <p:cNvSpPr txBox="1"/>
          <p:nvPr/>
        </p:nvSpPr>
        <p:spPr>
          <a:xfrm>
            <a:off x="790575" y="5186362"/>
            <a:ext cx="298831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两个Case的95% CI均不含零，效应具有统计显著性</a:t>
            </a:r>
          </a:p>
        </p:txBody>
      </p:sp>
      <p:sp>
        <p:nvSpPr>
          <p:cNvPr id="399" name="R399"/>
          <p:cNvSpPr/>
          <p:nvPr/>
        </p:nvSpPr>
        <p:spPr>
          <a:xfrm>
            <a:off x="7269360" y="781050"/>
            <a:ext cx="4389090" cy="4795837"/>
          </a:xfrm>
          <a:prstGeom prst="roundRect">
            <a:avLst>
              <a:gd name="adj" fmla="val 1302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400" name="R400"/>
          <p:cNvSpPr/>
          <p:nvPr/>
        </p:nvSpPr>
        <p:spPr>
          <a:xfrm>
            <a:off x="7469385" y="985837"/>
            <a:ext cx="28575" cy="1524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401" name="T401"/>
          <p:cNvSpPr txBox="1"/>
          <p:nvPr/>
        </p:nvSpPr>
        <p:spPr>
          <a:xfrm>
            <a:off x="7574160" y="947738"/>
            <a:ext cx="903386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212529"/>
                </a:solidFill>
                <a:latin typeface="Noto Sans SC"/>
                <a:ea typeface="Noto Sans SC"/>
              </a:rPr>
              <a:t>Case细节佐证</a:t>
            </a:r>
          </a:p>
        </p:txBody>
      </p:sp>
      <p:sp>
        <p:nvSpPr>
          <p:cNvPr id="402" name="R402"/>
          <p:cNvSpPr/>
          <p:nvPr/>
        </p:nvSpPr>
        <p:spPr>
          <a:xfrm>
            <a:off x="7469385" y="1276350"/>
            <a:ext cx="3989040" cy="1085850"/>
          </a:xfrm>
          <a:prstGeom prst="roundRect">
            <a:avLst>
              <a:gd name="adj" fmla="val 5263"/>
            </a:avLst>
          </a:prstGeom>
          <a:solidFill>
            <a:srgbClr val="f1f3f5"/>
          </a:solidFill>
        </p:spPr>
      </p:sp>
      <p:sp>
        <p:nvSpPr>
          <p:cNvPr id="403" name="R403"/>
          <p:cNvSpPr/>
          <p:nvPr/>
        </p:nvSpPr>
        <p:spPr>
          <a:xfrm>
            <a:off x="7621785" y="1409700"/>
            <a:ext cx="500211" cy="1905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</p:spPr>
      </p:sp>
      <p:sp>
        <p:nvSpPr>
          <p:cNvPr id="404" name="T404"/>
          <p:cNvSpPr txBox="1"/>
          <p:nvPr/>
        </p:nvSpPr>
        <p:spPr>
          <a:xfrm>
            <a:off x="7697985" y="1423988"/>
            <a:ext cx="34781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ffffff"/>
                </a:solidFill>
                <a:latin typeface="Noto Sans SC"/>
                <a:ea typeface="Noto Sans SC"/>
              </a:rPr>
              <a:t>Case 3</a:t>
            </a:r>
          </a:p>
        </p:txBody>
      </p:sp>
      <p:sp>
        <p:nvSpPr>
          <p:cNvPr id="405" name="T405"/>
          <p:cNvSpPr txBox="1"/>
          <p:nvPr/>
        </p:nvSpPr>
        <p:spPr>
          <a:xfrm>
            <a:off x="8198197" y="1400175"/>
            <a:ext cx="8001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风电聚焦任务</a:t>
            </a:r>
          </a:p>
        </p:txBody>
      </p:sp>
      <p:sp>
        <p:nvSpPr>
          <p:cNvPr id="406" name="T406"/>
          <p:cNvSpPr txBox="1"/>
          <p:nvPr/>
        </p:nvSpPr>
        <p:spPr>
          <a:xfrm>
            <a:off x="7621785" y="1714500"/>
            <a:ext cx="52953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6b7280"/>
                </a:solidFill>
                <a:latin typeface="Noto Sans SC"/>
                <a:ea typeface="Noto Sans SC"/>
              </a:rPr>
              <a:t>RMSE变化</a:t>
            </a:r>
          </a:p>
        </p:txBody>
      </p:sp>
      <p:sp>
        <p:nvSpPr>
          <p:cNvPr id="407" name="T407"/>
          <p:cNvSpPr txBox="1"/>
          <p:nvPr/>
        </p:nvSpPr>
        <p:spPr>
          <a:xfrm>
            <a:off x="8208466" y="16764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059669"/>
                </a:solidFill>
                <a:latin typeface="Noto Sans SC"/>
                <a:ea typeface="Noto Sans SC"/>
              </a:rPr>
              <a:t>1362.6 → 1047.0</a:t>
            </a:r>
          </a:p>
        </p:txBody>
      </p:sp>
      <p:sp>
        <p:nvSpPr>
          <p:cNvPr id="408" name="R408"/>
          <p:cNvSpPr/>
          <p:nvPr/>
        </p:nvSpPr>
        <p:spPr>
          <a:xfrm>
            <a:off x="7621785" y="1952625"/>
            <a:ext cx="3684240" cy="276225"/>
          </a:xfrm>
          <a:prstGeom prst="roundRect">
            <a:avLst>
              <a:gd name="adj" fmla="val 13793"/>
            </a:avLst>
          </a:prstGeom>
          <a:solidFill>
            <a:srgbClr val="059669">
              <a:alpha val="6000"/>
            </a:srgbClr>
          </a:solidFill>
        </p:spPr>
      </p:sp>
      <p:sp>
        <p:nvSpPr>
          <p:cNvPr id="409" name="L409"/>
          <p:cNvSpPr/>
          <p:nvPr/>
        </p:nvSpPr>
        <p:spPr>
          <a:xfrm>
            <a:off x="7621785" y="1952625"/>
            <a:ext cx="9525" cy="276225"/>
          </a:xfrm>
          <a:prstGeom prst="line">
            <a:avLst/>
          </a:prstGeom>
          <a:noFill/>
          <a:ln w="25400">
            <a:solidFill>
              <a:srgbClr val="059669"/>
            </a:solidFill>
          </a:ln>
        </p:spPr>
      </p:sp>
      <p:sp>
        <p:nvSpPr>
          <p:cNvPr id="410" name="T410"/>
          <p:cNvSpPr txBox="1"/>
          <p:nvPr/>
        </p:nvSpPr>
        <p:spPr>
          <a:xfrm>
            <a:off x="7717035" y="1981200"/>
            <a:ext cx="316497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阻断后RMSE反而降低，滞后项在聚焦任务中引入噪声</a:t>
            </a:r>
          </a:p>
        </p:txBody>
      </p:sp>
      <p:sp>
        <p:nvSpPr>
          <p:cNvPr id="411" name="R411"/>
          <p:cNvSpPr/>
          <p:nvPr/>
        </p:nvSpPr>
        <p:spPr>
          <a:xfrm>
            <a:off x="7469385" y="2476500"/>
            <a:ext cx="3989040" cy="1085850"/>
          </a:xfrm>
          <a:prstGeom prst="roundRect">
            <a:avLst>
              <a:gd name="adj" fmla="val 5263"/>
            </a:avLst>
          </a:prstGeom>
          <a:solidFill>
            <a:srgbClr val="f1f3f5"/>
          </a:solidFill>
        </p:spPr>
      </p:sp>
      <p:sp>
        <p:nvSpPr>
          <p:cNvPr id="412" name="R412"/>
          <p:cNvSpPr/>
          <p:nvPr/>
        </p:nvSpPr>
        <p:spPr>
          <a:xfrm>
            <a:off x="7621785" y="2609850"/>
            <a:ext cx="500211" cy="1905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</p:spPr>
      </p:sp>
      <p:sp>
        <p:nvSpPr>
          <p:cNvPr id="413" name="T413"/>
          <p:cNvSpPr txBox="1"/>
          <p:nvPr/>
        </p:nvSpPr>
        <p:spPr>
          <a:xfrm>
            <a:off x="7697985" y="2624138"/>
            <a:ext cx="34781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ffffff"/>
                </a:solidFill>
                <a:latin typeface="Noto Sans SC"/>
                <a:ea typeface="Noto Sans SC"/>
              </a:rPr>
              <a:t>Case 4</a:t>
            </a:r>
          </a:p>
        </p:txBody>
      </p:sp>
      <p:sp>
        <p:nvSpPr>
          <p:cNvPr id="414" name="T414"/>
          <p:cNvSpPr txBox="1"/>
          <p:nvPr/>
        </p:nvSpPr>
        <p:spPr>
          <a:xfrm>
            <a:off x="8198197" y="2600325"/>
            <a:ext cx="9334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直接净负荷任务</a:t>
            </a:r>
          </a:p>
        </p:txBody>
      </p:sp>
      <p:sp>
        <p:nvSpPr>
          <p:cNvPr id="415" name="T415"/>
          <p:cNvSpPr txBox="1"/>
          <p:nvPr/>
        </p:nvSpPr>
        <p:spPr>
          <a:xfrm>
            <a:off x="7621785" y="29146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6b7280"/>
                </a:solidFill>
                <a:latin typeface="Noto Sans SC"/>
                <a:ea typeface="Noto Sans SC"/>
              </a:rPr>
              <a:t>活跃物理量</a:t>
            </a:r>
          </a:p>
        </p:txBody>
      </p:sp>
      <p:sp>
        <p:nvSpPr>
          <p:cNvPr id="416" name="T416"/>
          <p:cNvSpPr txBox="1"/>
          <p:nvPr/>
        </p:nvSpPr>
        <p:spPr>
          <a:xfrm>
            <a:off x="8250435" y="2876550"/>
            <a:ext cx="2388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059669"/>
                </a:solidFill>
                <a:latin typeface="Noto Sans SC"/>
                <a:ea typeface="Noto Sans SC"/>
              </a:rPr>
              <a:t>9/9</a:t>
            </a:r>
          </a:p>
        </p:txBody>
      </p:sp>
      <p:sp>
        <p:nvSpPr>
          <p:cNvPr id="417" name="T417"/>
          <p:cNvSpPr txBox="1"/>
          <p:nvPr/>
        </p:nvSpPr>
        <p:spPr>
          <a:xfrm>
            <a:off x="8546455" y="2928938"/>
            <a:ext cx="209550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种类</a:t>
            </a:r>
          </a:p>
        </p:txBody>
      </p:sp>
      <p:sp>
        <p:nvSpPr>
          <p:cNvPr id="418" name="R418"/>
          <p:cNvSpPr/>
          <p:nvPr/>
        </p:nvSpPr>
        <p:spPr>
          <a:xfrm>
            <a:off x="7621785" y="3152775"/>
            <a:ext cx="3684240" cy="276225"/>
          </a:xfrm>
          <a:prstGeom prst="roundRect">
            <a:avLst>
              <a:gd name="adj" fmla="val 13793"/>
            </a:avLst>
          </a:prstGeom>
          <a:solidFill>
            <a:srgbClr val="059669">
              <a:alpha val="6000"/>
            </a:srgbClr>
          </a:solidFill>
        </p:spPr>
      </p:sp>
      <p:sp>
        <p:nvSpPr>
          <p:cNvPr id="419" name="L419"/>
          <p:cNvSpPr/>
          <p:nvPr/>
        </p:nvSpPr>
        <p:spPr>
          <a:xfrm>
            <a:off x="7621785" y="3152775"/>
            <a:ext cx="9525" cy="276225"/>
          </a:xfrm>
          <a:prstGeom prst="line">
            <a:avLst/>
          </a:prstGeom>
          <a:noFill/>
          <a:ln w="25400">
            <a:solidFill>
              <a:srgbClr val="059669"/>
            </a:solidFill>
          </a:ln>
        </p:spPr>
      </p:sp>
      <p:sp>
        <p:nvSpPr>
          <p:cNvPr id="420" name="T420"/>
          <p:cNvSpPr txBox="1"/>
          <p:nvPr/>
        </p:nvSpPr>
        <p:spPr>
          <a:xfrm>
            <a:off x="7717035" y="3181350"/>
            <a:ext cx="2546746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种子1/3/5中全部9个气象物理量出现活跃边</a:t>
            </a:r>
          </a:p>
        </p:txBody>
      </p:sp>
      <p:sp>
        <p:nvSpPr>
          <p:cNvPr id="421" name="R421"/>
          <p:cNvSpPr/>
          <p:nvPr/>
        </p:nvSpPr>
        <p:spPr>
          <a:xfrm>
            <a:off x="7469385" y="4395787"/>
            <a:ext cx="3989040" cy="1000125"/>
          </a:xfrm>
          <a:prstGeom prst="roundRect">
            <a:avLst>
              <a:gd name="adj" fmla="val 5714"/>
            </a:avLst>
          </a:prstGeom>
          <a:solidFill>
            <a:srgbClr val="059669">
              <a:alpha val="4000"/>
            </a:srgbClr>
          </a:solidFill>
          <a:ln w="12700">
            <a:solidFill>
              <a:srgbClr val="059669">
                <a:alpha val="15000"/>
              </a:srgbClr>
            </a:solidFill>
          </a:ln>
        </p:spPr>
      </p:sp>
      <p:sp>
        <p:nvSpPr>
          <p:cNvPr id="422" name="T422"/>
          <p:cNvSpPr txBox="1"/>
          <p:nvPr/>
        </p:nvSpPr>
        <p:spPr>
          <a:xfrm>
            <a:off x="7631310" y="4533900"/>
            <a:ext cx="50527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 b="1">
                <a:solidFill>
                  <a:srgbClr val="059669"/>
                </a:solidFill>
                <a:latin typeface="Noto Sans SC"/>
                <a:ea typeface="Noto Sans SC"/>
              </a:rPr>
              <a:t>实验判定</a:t>
            </a:r>
          </a:p>
        </p:txBody>
      </p:sp>
      <p:sp>
        <p:nvSpPr>
          <p:cNvPr id="423" name="R423"/>
          <p:cNvSpPr/>
          <p:nvPr/>
        </p:nvSpPr>
        <p:spPr>
          <a:xfrm>
            <a:off x="7631310" y="4795837"/>
            <a:ext cx="500211" cy="1905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</p:spPr>
      </p:sp>
      <p:sp>
        <p:nvSpPr>
          <p:cNvPr id="424" name="T424"/>
          <p:cNvSpPr txBox="1"/>
          <p:nvPr/>
        </p:nvSpPr>
        <p:spPr>
          <a:xfrm>
            <a:off x="7707510" y="4810125"/>
            <a:ext cx="34781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ffffff"/>
                </a:solidFill>
                <a:latin typeface="Noto Sans SC"/>
                <a:ea typeface="Noto Sans SC"/>
              </a:rPr>
              <a:t>Case 3</a:t>
            </a:r>
          </a:p>
        </p:txBody>
      </p:sp>
      <p:sp>
        <p:nvSpPr>
          <p:cNvPr id="425" name="T425"/>
          <p:cNvSpPr txBox="1"/>
          <p:nvPr/>
        </p:nvSpPr>
        <p:spPr>
          <a:xfrm>
            <a:off x="8226772" y="4786312"/>
            <a:ext cx="2667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059669"/>
                </a:solidFill>
                <a:latin typeface="Noto Sans SC"/>
                <a:ea typeface="Noto Sans SC"/>
              </a:rPr>
              <a:t>成功</a:t>
            </a:r>
          </a:p>
        </p:txBody>
      </p:sp>
      <p:sp>
        <p:nvSpPr>
          <p:cNvPr id="426" name="T426"/>
          <p:cNvSpPr txBox="1"/>
          <p:nvPr/>
        </p:nvSpPr>
        <p:spPr>
          <a:xfrm>
            <a:off x="8588722" y="4800600"/>
            <a:ext cx="44931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6b7280"/>
                </a:solidFill>
                <a:latin typeface="Noto Sans SC"/>
                <a:ea typeface="Noto Sans SC"/>
              </a:rPr>
              <a:t>CI不含零</a:t>
            </a:r>
          </a:p>
        </p:txBody>
      </p:sp>
      <p:sp>
        <p:nvSpPr>
          <p:cNvPr id="427" name="R427"/>
          <p:cNvSpPr/>
          <p:nvPr/>
        </p:nvSpPr>
        <p:spPr>
          <a:xfrm>
            <a:off x="7631310" y="5062537"/>
            <a:ext cx="500211" cy="1905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</p:spPr>
      </p:sp>
      <p:sp>
        <p:nvSpPr>
          <p:cNvPr id="428" name="T428"/>
          <p:cNvSpPr txBox="1"/>
          <p:nvPr/>
        </p:nvSpPr>
        <p:spPr>
          <a:xfrm>
            <a:off x="7707510" y="5076825"/>
            <a:ext cx="34781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 b="1">
                <a:solidFill>
                  <a:srgbClr val="ffffff"/>
                </a:solidFill>
                <a:latin typeface="Noto Sans SC"/>
                <a:ea typeface="Noto Sans SC"/>
              </a:rPr>
              <a:t>Case 4</a:t>
            </a:r>
          </a:p>
        </p:txBody>
      </p:sp>
      <p:sp>
        <p:nvSpPr>
          <p:cNvPr id="429" name="T429"/>
          <p:cNvSpPr txBox="1"/>
          <p:nvPr/>
        </p:nvSpPr>
        <p:spPr>
          <a:xfrm>
            <a:off x="8226772" y="5053012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 b="1">
                <a:solidFill>
                  <a:srgbClr val="059669"/>
                </a:solidFill>
                <a:latin typeface="Noto Sans SC"/>
                <a:ea typeface="Noto Sans SC"/>
              </a:rPr>
              <a:t>强成功</a:t>
            </a:r>
          </a:p>
        </p:txBody>
      </p:sp>
      <p:sp>
        <p:nvSpPr>
          <p:cNvPr id="430" name="T430"/>
          <p:cNvSpPr txBox="1"/>
          <p:nvPr/>
        </p:nvSpPr>
        <p:spPr>
          <a:xfrm>
            <a:off x="8722072" y="5067300"/>
            <a:ext cx="74324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6b7280"/>
                </a:solidFill>
                <a:latin typeface="Noto Sans SC"/>
                <a:ea typeface="Noto Sans SC"/>
              </a:rPr>
              <a:t>9/9物理量活跃</a:t>
            </a:r>
          </a:p>
        </p:txBody>
      </p:sp>
      <p:sp>
        <p:nvSpPr>
          <p:cNvPr id="431" name="R431"/>
          <p:cNvSpPr/>
          <p:nvPr/>
        </p:nvSpPr>
        <p:spPr>
          <a:xfrm>
            <a:off x="533400" y="5729287"/>
            <a:ext cx="11125051" cy="709612"/>
          </a:xfrm>
          <a:prstGeom prst="roundRect">
            <a:avLst>
              <a:gd name="adj" fmla="val 8053"/>
            </a:avLst>
          </a:prstGeom>
          <a:solidFill>
            <a:srgbClr val="2563eb"/>
          </a:solidFill>
        </p:spPr>
      </p:sp>
      <p:sp>
        <p:nvSpPr>
          <p:cNvPr id="432" name="P432"/>
          <p:cNvSpPr/>
          <p:nvPr/>
        </p:nvSpPr>
        <p:spPr>
          <a:xfrm>
            <a:off x="1000127" y="6898104"/>
            <a:ext cx="77787" cy="1778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100000"/>
                </a:moveTo>
                <a:lnTo>
                  <a:pt x="128571" y="112500"/>
                </a:lnTo>
                <a:lnTo>
                  <a:pt x="185714" y="87500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</p:sp>
      <p:sp>
        <p:nvSpPr>
          <p:cNvPr id="433" name="C433"/>
          <p:cNvSpPr/>
          <p:nvPr/>
        </p:nvSpPr>
        <p:spPr>
          <a:xfrm>
            <a:off x="860425" y="5972968"/>
            <a:ext cx="222250" cy="222250"/>
          </a:xfrm>
          <a:prstGeom prst="ellipse">
            <a:avLst/>
          </a:prstGeom>
          <a:noFill/>
          <a:ln w="25400">
            <a:solidFill>
              <a:srgbClr val="ffffff">
                <a:alpha val="60000"/>
              </a:srgbClr>
            </a:solidFill>
            <a:round/>
          </a:ln>
        </p:spPr>
      </p:sp>
      <p:sp>
        <p:nvSpPr>
          <p:cNvPr id="434" name="T434"/>
          <p:cNvSpPr txBox="1"/>
          <p:nvPr/>
        </p:nvSpPr>
        <p:spPr>
          <a:xfrm>
            <a:off x="1333500" y="5867400"/>
            <a:ext cx="57730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ffffff"/>
                </a:solidFill>
                <a:latin typeface="Noto Sans SC"/>
                <a:ea typeface="Noto Sans SC"/>
              </a:rPr>
              <a:t>机制确认</a:t>
            </a:r>
          </a:p>
        </p:txBody>
      </p:sp>
      <p:sp>
        <p:nvSpPr>
          <p:cNvPr id="435" name="T435"/>
          <p:cNvSpPr txBox="1"/>
          <p:nvPr/>
        </p:nvSpPr>
        <p:spPr>
          <a:xfrm>
            <a:off x="1333500" y="6096000"/>
            <a:ext cx="500836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ffffff">
                    <a:alpha val="85000"/>
                  </a:srgbClr>
                </a:solidFill>
                <a:latin typeface="Noto Sans SC"/>
                <a:ea typeface="Noto Sans SC"/>
              </a:rPr>
              <a:t>自回归捷径竞争是导致公式坍缩的主要机制 — 阻断实验提供了因果性证据而非仅相关性推断</a:t>
            </a:r>
          </a:p>
        </p:txBody>
      </p:sp>
      <p:sp>
        <p:nvSpPr>
          <p:cNvPr id="436" name="T436"/>
          <p:cNvSpPr txBox="1"/>
          <p:nvPr/>
        </p:nvSpPr>
        <p:spPr>
          <a:xfrm>
            <a:off x="533400" y="6586538"/>
            <a:ext cx="1633388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KAN可解释净负荷预测 · 中期答辩</a:t>
            </a:r>
          </a:p>
        </p:txBody>
      </p:sp>
      <p:sp>
        <p:nvSpPr>
          <p:cNvPr id="437" name="T437"/>
          <p:cNvSpPr txBox="1"/>
          <p:nvPr/>
        </p:nvSpPr>
        <p:spPr>
          <a:xfrm>
            <a:off x="11389816" y="6586538"/>
            <a:ext cx="268783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8" name="T438"/>
          <p:cNvSpPr txBox="1"/>
          <p:nvPr/>
        </p:nvSpPr>
        <p:spPr>
          <a:xfrm>
            <a:off x="533400" y="185738"/>
            <a:ext cx="87451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563eb"/>
                </a:solidFill>
                <a:latin typeface="Noto Sans SC"/>
                <a:ea typeface="Noto Sans SC"/>
              </a:rPr>
              <a:t>S3 结构化分解</a:t>
            </a:r>
          </a:p>
        </p:txBody>
      </p:sp>
      <p:sp>
        <p:nvSpPr>
          <p:cNvPr id="439" name="T439"/>
          <p:cNvSpPr txBox="1"/>
          <p:nvPr/>
        </p:nvSpPr>
        <p:spPr>
          <a:xfrm>
            <a:off x="533400" y="371475"/>
            <a:ext cx="3432571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950" b="1">
                <a:solidFill>
                  <a:srgbClr val="212529"/>
                </a:solidFill>
                <a:latin typeface="Noto Sans SC"/>
                <a:ea typeface="Noto Sans SC"/>
              </a:rPr>
              <a:t>精度零代价下恢复物理可解释性</a:t>
            </a:r>
          </a:p>
        </p:txBody>
      </p:sp>
      <p:sp>
        <p:nvSpPr>
          <p:cNvPr id="440" name="T440"/>
          <p:cNvSpPr txBox="1"/>
          <p:nvPr/>
        </p:nvSpPr>
        <p:spPr>
          <a:xfrm>
            <a:off x="533400" y="6557963"/>
            <a:ext cx="158442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数据来源：论文表5.1 / 表5.8</a:t>
            </a:r>
          </a:p>
        </p:txBody>
      </p:sp>
      <p:sp>
        <p:nvSpPr>
          <p:cNvPr id="441" name="T441"/>
          <p:cNvSpPr txBox="1"/>
          <p:nvPr/>
        </p:nvSpPr>
        <p:spPr>
          <a:xfrm>
            <a:off x="11348442" y="6557963"/>
            <a:ext cx="310157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9 / 11</a:t>
            </a:r>
          </a:p>
        </p:txBody>
      </p:sp>
      <p:sp>
        <p:nvSpPr>
          <p:cNvPr id="442" name="R442"/>
          <p:cNvSpPr/>
          <p:nvPr/>
        </p:nvSpPr>
        <p:spPr>
          <a:xfrm>
            <a:off x="381000" y="762000"/>
            <a:ext cx="28575" cy="5334000"/>
          </a:xfrm>
          <a:prstGeom prst="roundRect">
            <a:avLst>
              <a:gd name="adj" fmla="val 49998"/>
            </a:avLst>
          </a:prstGeom>
          <a:solidFill>
            <a:srgbClr val="2563eb">
              <a:alpha val="35000"/>
            </a:srgbClr>
          </a:solidFill>
        </p:spPr>
      </p:sp>
      <p:sp>
        <p:nvSpPr>
          <p:cNvPr id="443" name="R443"/>
          <p:cNvSpPr/>
          <p:nvPr/>
        </p:nvSpPr>
        <p:spPr>
          <a:xfrm>
            <a:off x="5867400" y="19907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12529"/>
          </a:solidFill>
        </p:spPr>
      </p:sp>
      <p:sp>
        <p:nvSpPr>
          <p:cNvPr id="444" name="P444"/>
          <p:cNvSpPr/>
          <p:nvPr/>
        </p:nvSpPr>
        <p:spPr>
          <a:xfrm>
            <a:off x="6038850" y="2219325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moveTo>
                  <a:pt x="100000" y="0"/>
                </a:moveTo>
                <a:lnTo>
                  <a:pt x="58333" y="-83333"/>
                </a:lnTo>
                <a:moveTo>
                  <a:pt x="100000" y="0"/>
                </a:moveTo>
                <a:lnTo>
                  <a:pt x="58333" y="83333"/>
                </a:lnTo>
              </a:path>
            </a:pathLst>
          </a:custGeom>
          <a:noFill/>
          <a:ln w="27940">
            <a:solidFill>
              <a:srgbClr val="ffffff"/>
            </a:solidFill>
          </a:ln>
        </p:spPr>
      </p:sp>
      <p:sp>
        <p:nvSpPr>
          <p:cNvPr id="445" name="R445"/>
          <p:cNvSpPr/>
          <p:nvPr/>
        </p:nvSpPr>
        <p:spPr>
          <a:xfrm>
            <a:off x="533400" y="742950"/>
            <a:ext cx="5567362" cy="2952750"/>
          </a:xfrm>
          <a:prstGeom prst="rect">
            <a:avLst/>
          </a:prstGeom>
          <a:solidFill>
            <a:srgbClr val="f1f3f5"/>
          </a:solidFill>
        </p:spPr>
      </p:sp>
      <p:sp>
        <p:nvSpPr>
          <p:cNvPr id="446" name="L446"/>
          <p:cNvSpPr/>
          <p:nvPr/>
        </p:nvSpPr>
        <p:spPr>
          <a:xfrm>
            <a:off x="6100762" y="742950"/>
            <a:ext cx="9525" cy="2952750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447" name="R447"/>
          <p:cNvSpPr/>
          <p:nvPr/>
        </p:nvSpPr>
        <p:spPr>
          <a:xfrm>
            <a:off x="2954982" y="1023937"/>
            <a:ext cx="714523" cy="238125"/>
          </a:xfrm>
          <a:prstGeom prst="roundRect">
            <a:avLst>
              <a:gd name="adj" fmla="val 12000"/>
            </a:avLst>
          </a:prstGeom>
          <a:solidFill>
            <a:srgbClr val="dc2626">
              <a:alpha val="10000"/>
            </a:srgbClr>
          </a:solidFill>
        </p:spPr>
      </p:sp>
      <p:sp>
        <p:nvSpPr>
          <p:cNvPr id="448" name="T448"/>
          <p:cNvSpPr txBox="1"/>
          <p:nvPr/>
        </p:nvSpPr>
        <p:spPr>
          <a:xfrm>
            <a:off x="3050232" y="1047750"/>
            <a:ext cx="524023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dc2626"/>
                </a:solidFill>
                <a:latin typeface="Noto Sans SC"/>
                <a:ea typeface="Noto Sans SC"/>
              </a:rPr>
              <a:t>直接KAN</a:t>
            </a:r>
          </a:p>
        </p:txBody>
      </p:sp>
      <p:sp>
        <p:nvSpPr>
          <p:cNvPr id="449" name="T449"/>
          <p:cNvSpPr txBox="1"/>
          <p:nvPr/>
        </p:nvSpPr>
        <p:spPr>
          <a:xfrm>
            <a:off x="2720280" y="1390650"/>
            <a:ext cx="118407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公式可辨识性 (VER)</a:t>
            </a:r>
          </a:p>
        </p:txBody>
      </p:sp>
      <p:sp>
        <p:nvSpPr>
          <p:cNvPr id="450" name="T450"/>
          <p:cNvSpPr txBox="1"/>
          <p:nvPr/>
        </p:nvSpPr>
        <p:spPr>
          <a:xfrm>
            <a:off x="2793503" y="1462087"/>
            <a:ext cx="1037629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5400" b="1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</a:p>
        </p:txBody>
      </p:sp>
      <p:sp>
        <p:nvSpPr>
          <p:cNvPr id="451" name="T451"/>
          <p:cNvSpPr txBox="1"/>
          <p:nvPr/>
        </p:nvSpPr>
        <p:spPr>
          <a:xfrm>
            <a:off x="2845593" y="2386012"/>
            <a:ext cx="9334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公式仅含滞后项</a:t>
            </a:r>
          </a:p>
        </p:txBody>
      </p:sp>
      <p:sp>
        <p:nvSpPr>
          <p:cNvPr id="452" name="T452"/>
          <p:cNvSpPr txBox="1"/>
          <p:nvPr/>
        </p:nvSpPr>
        <p:spPr>
          <a:xfrm>
            <a:off x="2778918" y="2586037"/>
            <a:ext cx="10668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物理变量全部缺失</a:t>
            </a:r>
          </a:p>
        </p:txBody>
      </p:sp>
      <p:sp>
        <p:nvSpPr>
          <p:cNvPr id="453" name="T453"/>
          <p:cNvSpPr txBox="1"/>
          <p:nvPr/>
        </p:nvSpPr>
        <p:spPr>
          <a:xfrm>
            <a:off x="2672655" y="2943225"/>
            <a:ext cx="25583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</a:p>
        </p:txBody>
      </p:sp>
      <p:sp>
        <p:nvSpPr>
          <p:cNvPr id="454" name="T454"/>
          <p:cNvSpPr txBox="1"/>
          <p:nvPr/>
        </p:nvSpPr>
        <p:spPr>
          <a:xfrm>
            <a:off x="2524720" y="3138487"/>
            <a:ext cx="55185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212529"/>
                </a:solidFill>
                <a:latin typeface="Noto Sans SC"/>
                <a:ea typeface="Noto Sans SC"/>
              </a:rPr>
              <a:t>0.453</a:t>
            </a:r>
          </a:p>
        </p:txBody>
      </p:sp>
      <p:sp>
        <p:nvSpPr>
          <p:cNvPr id="455" name="T455"/>
          <p:cNvSpPr txBox="1"/>
          <p:nvPr/>
        </p:nvSpPr>
        <p:spPr>
          <a:xfrm>
            <a:off x="3535709" y="2943225"/>
            <a:ext cx="33367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RMSE</a:t>
            </a:r>
          </a:p>
        </p:txBody>
      </p:sp>
      <p:sp>
        <p:nvSpPr>
          <p:cNvPr id="456" name="T456"/>
          <p:cNvSpPr txBox="1"/>
          <p:nvPr/>
        </p:nvSpPr>
        <p:spPr>
          <a:xfrm>
            <a:off x="3305175" y="3138487"/>
            <a:ext cx="79474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212529"/>
                </a:solidFill>
                <a:latin typeface="Noto Sans SC"/>
                <a:ea typeface="Noto Sans SC"/>
              </a:rPr>
              <a:t>1413.51</a:t>
            </a:r>
          </a:p>
        </p:txBody>
      </p:sp>
      <p:sp>
        <p:nvSpPr>
          <p:cNvPr id="457" name="R457"/>
          <p:cNvSpPr/>
          <p:nvPr/>
        </p:nvSpPr>
        <p:spPr>
          <a:xfrm>
            <a:off x="6100762" y="742950"/>
            <a:ext cx="5557837" cy="2952750"/>
          </a:xfrm>
          <a:prstGeom prst="rect">
            <a:avLst/>
          </a:prstGeom>
          <a:gradFill>
            <a:gsLst>
              <a:gs pos="0">
                <a:srgbClr val="059669">
                  <a:alpha val="6000"/>
                </a:srgbClr>
              </a:gs>
              <a:gs pos="100000">
                <a:srgbClr val="059669">
                  <a:alpha val="12000"/>
                </a:srgbClr>
              </a:gs>
            </a:gsLst>
            <a:lin ang="2700000" scaled="0"/>
          </a:gradFill>
        </p:spPr>
      </p:sp>
      <p:sp>
        <p:nvSpPr>
          <p:cNvPr id="458" name="R458"/>
          <p:cNvSpPr/>
          <p:nvPr/>
        </p:nvSpPr>
        <p:spPr>
          <a:xfrm>
            <a:off x="8560147" y="1023937"/>
            <a:ext cx="639067" cy="238125"/>
          </a:xfrm>
          <a:prstGeom prst="roundRect">
            <a:avLst>
              <a:gd name="adj" fmla="val 12000"/>
            </a:avLst>
          </a:prstGeom>
          <a:solidFill>
            <a:srgbClr val="059669">
              <a:alpha val="12000"/>
            </a:srgbClr>
          </a:solidFill>
        </p:spPr>
      </p:sp>
      <p:sp>
        <p:nvSpPr>
          <p:cNvPr id="459" name="T459"/>
          <p:cNvSpPr txBox="1"/>
          <p:nvPr/>
        </p:nvSpPr>
        <p:spPr>
          <a:xfrm>
            <a:off x="8655397" y="1047750"/>
            <a:ext cx="448567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59669"/>
                </a:solidFill>
                <a:latin typeface="Noto Sans SC"/>
                <a:ea typeface="Noto Sans SC"/>
              </a:rPr>
              <a:t>S3 分解</a:t>
            </a:r>
          </a:p>
        </p:txBody>
      </p:sp>
      <p:sp>
        <p:nvSpPr>
          <p:cNvPr id="460" name="T460"/>
          <p:cNvSpPr txBox="1"/>
          <p:nvPr/>
        </p:nvSpPr>
        <p:spPr>
          <a:xfrm>
            <a:off x="8290917" y="1390650"/>
            <a:ext cx="117737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59669"/>
                </a:solidFill>
                <a:latin typeface="Noto Sans SC"/>
                <a:ea typeface="Noto Sans SC"/>
              </a:rPr>
              <a:t>公式可辨识性 (FAR)</a:t>
            </a:r>
          </a:p>
        </p:txBody>
      </p:sp>
      <p:sp>
        <p:nvSpPr>
          <p:cNvPr id="461" name="T461"/>
          <p:cNvSpPr txBox="1"/>
          <p:nvPr/>
        </p:nvSpPr>
        <p:spPr>
          <a:xfrm>
            <a:off x="8360866" y="1462087"/>
            <a:ext cx="1037629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5400" b="1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</a:p>
        </p:txBody>
      </p:sp>
      <p:sp>
        <p:nvSpPr>
          <p:cNvPr id="462" name="T462"/>
          <p:cNvSpPr txBox="1"/>
          <p:nvPr/>
        </p:nvSpPr>
        <p:spPr>
          <a:xfrm>
            <a:off x="8346281" y="2386012"/>
            <a:ext cx="10668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059669"/>
                </a:solidFill>
                <a:latin typeface="Noto Sans SC"/>
                <a:ea typeface="Noto Sans SC"/>
              </a:rPr>
              <a:t>温度、风速、辐照</a:t>
            </a:r>
          </a:p>
        </p:txBody>
      </p:sp>
      <p:sp>
        <p:nvSpPr>
          <p:cNvPr id="463" name="T463"/>
          <p:cNvSpPr txBox="1"/>
          <p:nvPr/>
        </p:nvSpPr>
        <p:spPr>
          <a:xfrm>
            <a:off x="8546306" y="2586037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059669"/>
                </a:solidFill>
                <a:latin typeface="Noto Sans SC"/>
                <a:ea typeface="Noto Sans SC"/>
              </a:rPr>
              <a:t>全部入公式</a:t>
            </a:r>
          </a:p>
        </p:txBody>
      </p:sp>
      <p:sp>
        <p:nvSpPr>
          <p:cNvPr id="464" name="T464"/>
          <p:cNvSpPr txBox="1"/>
          <p:nvPr/>
        </p:nvSpPr>
        <p:spPr>
          <a:xfrm>
            <a:off x="8240017" y="2943225"/>
            <a:ext cx="25583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59669"/>
                </a:solidFill>
                <a:latin typeface="Noto Sans SC"/>
                <a:ea typeface="Noto Sans SC"/>
              </a:rPr>
              <a:t>Skill</a:t>
            </a:r>
          </a:p>
        </p:txBody>
      </p:sp>
      <p:sp>
        <p:nvSpPr>
          <p:cNvPr id="465" name="T465"/>
          <p:cNvSpPr txBox="1"/>
          <p:nvPr/>
        </p:nvSpPr>
        <p:spPr>
          <a:xfrm>
            <a:off x="8092082" y="3138487"/>
            <a:ext cx="55185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059669"/>
                </a:solidFill>
                <a:latin typeface="Noto Sans SC"/>
                <a:ea typeface="Noto Sans SC"/>
              </a:rPr>
              <a:t>0.456</a:t>
            </a:r>
          </a:p>
        </p:txBody>
      </p:sp>
      <p:sp>
        <p:nvSpPr>
          <p:cNvPr id="466" name="T466"/>
          <p:cNvSpPr txBox="1"/>
          <p:nvPr/>
        </p:nvSpPr>
        <p:spPr>
          <a:xfrm>
            <a:off x="9103072" y="2943225"/>
            <a:ext cx="33367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059669"/>
                </a:solidFill>
                <a:latin typeface="Noto Sans SC"/>
                <a:ea typeface="Noto Sans SC"/>
              </a:rPr>
              <a:t>RMSE</a:t>
            </a:r>
          </a:p>
        </p:txBody>
      </p:sp>
      <p:sp>
        <p:nvSpPr>
          <p:cNvPr id="467" name="T467"/>
          <p:cNvSpPr txBox="1"/>
          <p:nvPr/>
        </p:nvSpPr>
        <p:spPr>
          <a:xfrm>
            <a:off x="8872537" y="3138487"/>
            <a:ext cx="79474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650" b="1">
                <a:solidFill>
                  <a:srgbClr val="059669"/>
                </a:solidFill>
                <a:latin typeface="Noto Sans SC"/>
                <a:ea typeface="Noto Sans SC"/>
              </a:rPr>
              <a:t>1407.35</a:t>
            </a:r>
          </a:p>
        </p:txBody>
      </p:sp>
      <p:sp>
        <p:nvSpPr>
          <p:cNvPr id="468" name="R468"/>
          <p:cNvSpPr/>
          <p:nvPr/>
        </p:nvSpPr>
        <p:spPr>
          <a:xfrm>
            <a:off x="533400" y="3848100"/>
            <a:ext cx="6675090" cy="2476500"/>
          </a:xfrm>
          <a:prstGeom prst="roundRect">
            <a:avLst>
              <a:gd name="adj" fmla="val 2307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469" name="L469"/>
          <p:cNvSpPr/>
          <p:nvPr/>
        </p:nvSpPr>
        <p:spPr>
          <a:xfrm>
            <a:off x="771525" y="4048125"/>
            <a:ext cx="9525" cy="200025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470" name="T470"/>
          <p:cNvSpPr txBox="1"/>
          <p:nvPr/>
        </p:nvSpPr>
        <p:spPr>
          <a:xfrm>
            <a:off x="914400" y="4033838"/>
            <a:ext cx="1428750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>
                <a:solidFill>
                  <a:srgbClr val="212529"/>
                </a:solidFill>
                <a:latin typeface="Noto Sans SC"/>
                <a:ea typeface="Noto Sans SC"/>
              </a:rPr>
              <a:t>三子任务可辨识性详情</a:t>
            </a:r>
          </a:p>
        </p:txBody>
      </p:sp>
      <p:sp>
        <p:nvSpPr>
          <p:cNvPr id="471" name="R471"/>
          <p:cNvSpPr/>
          <p:nvPr/>
        </p:nvSpPr>
        <p:spPr>
          <a:xfrm>
            <a:off x="771525" y="4400550"/>
            <a:ext cx="6198840" cy="638175"/>
          </a:xfrm>
          <a:prstGeom prst="roundRect">
            <a:avLst>
              <a:gd name="adj" fmla="val 5970"/>
            </a:avLst>
          </a:prstGeom>
          <a:solidFill>
            <a:srgbClr val="f1f3f5"/>
          </a:solidFill>
        </p:spPr>
      </p:sp>
      <p:sp>
        <p:nvSpPr>
          <p:cNvPr id="472" name="R472"/>
          <p:cNvSpPr/>
          <p:nvPr/>
        </p:nvSpPr>
        <p:spPr>
          <a:xfrm>
            <a:off x="923925" y="4548187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473" name="P473"/>
          <p:cNvSpPr/>
          <p:nvPr/>
        </p:nvSpPr>
        <p:spPr>
          <a:xfrm>
            <a:off x="971550" y="4652962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5000" y="0"/>
                </a:moveTo>
                <a:lnTo>
                  <a:pt x="65000" y="140000"/>
                </a:lnTo>
                <a:moveTo>
                  <a:pt x="45000" y="40000"/>
                </a:moveTo>
                <a:lnTo>
                  <a:pt x="65000" y="0"/>
                </a:lnTo>
                <a:lnTo>
                  <a:pt x="85000" y="40000"/>
                </a:lnTo>
                <a:moveTo>
                  <a:pt x="35000" y="140000"/>
                </a:moveTo>
                <a:lnTo>
                  <a:pt x="95000" y="140000"/>
                </a:lnTo>
              </a:path>
            </a:pathLst>
          </a:custGeom>
          <a:noFill/>
          <a:ln w="22860">
            <a:solidFill>
              <a:srgbClr val="2563eb"/>
            </a:solidFill>
          </a:ln>
        </p:spPr>
      </p:sp>
      <p:sp>
        <p:nvSpPr>
          <p:cNvPr id="474" name="T474"/>
          <p:cNvSpPr txBox="1"/>
          <p:nvPr/>
        </p:nvSpPr>
        <p:spPr>
          <a:xfrm>
            <a:off x="1400175" y="4614862"/>
            <a:ext cx="2667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负荷</a:t>
            </a:r>
          </a:p>
        </p:txBody>
      </p:sp>
      <p:sp>
        <p:nvSpPr>
          <p:cNvPr id="475" name="T475"/>
          <p:cNvSpPr txBox="1"/>
          <p:nvPr/>
        </p:nvSpPr>
        <p:spPr>
          <a:xfrm>
            <a:off x="2242244" y="4491038"/>
            <a:ext cx="22264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FAR</a:t>
            </a:r>
          </a:p>
        </p:txBody>
      </p:sp>
      <p:sp>
        <p:nvSpPr>
          <p:cNvPr id="476" name="T476"/>
          <p:cNvSpPr txBox="1"/>
          <p:nvPr/>
        </p:nvSpPr>
        <p:spPr>
          <a:xfrm>
            <a:off x="2219325" y="4686300"/>
            <a:ext cx="26863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350" b="1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</a:p>
        </p:txBody>
      </p:sp>
      <p:sp>
        <p:nvSpPr>
          <p:cNvPr id="477" name="T477"/>
          <p:cNvSpPr txBox="1"/>
          <p:nvPr/>
        </p:nvSpPr>
        <p:spPr>
          <a:xfrm>
            <a:off x="2762994" y="4491038"/>
            <a:ext cx="23976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TGR</a:t>
            </a:r>
          </a:p>
        </p:txBody>
      </p:sp>
      <p:sp>
        <p:nvSpPr>
          <p:cNvPr id="478" name="T478"/>
          <p:cNvSpPr txBox="1"/>
          <p:nvPr/>
        </p:nvSpPr>
        <p:spPr>
          <a:xfrm>
            <a:off x="2678459" y="4695825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563eb"/>
                </a:solidFill>
                <a:latin typeface="Noto Sans SC"/>
                <a:ea typeface="Noto Sans SC"/>
              </a:rPr>
              <a:t>2.569</a:t>
            </a:r>
          </a:p>
        </p:txBody>
      </p:sp>
      <p:sp>
        <p:nvSpPr>
          <p:cNvPr id="479" name="T479"/>
          <p:cNvSpPr txBox="1"/>
          <p:nvPr/>
        </p:nvSpPr>
        <p:spPr>
          <a:xfrm>
            <a:off x="6319391" y="4624388"/>
            <a:ext cx="49857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hdd_18c</a:t>
            </a:r>
          </a:p>
        </p:txBody>
      </p:sp>
      <p:sp>
        <p:nvSpPr>
          <p:cNvPr id="480" name="R480"/>
          <p:cNvSpPr/>
          <p:nvPr/>
        </p:nvSpPr>
        <p:spPr>
          <a:xfrm>
            <a:off x="771525" y="5133975"/>
            <a:ext cx="6198840" cy="638175"/>
          </a:xfrm>
          <a:prstGeom prst="roundRect">
            <a:avLst>
              <a:gd name="adj" fmla="val 5970"/>
            </a:avLst>
          </a:prstGeom>
          <a:solidFill>
            <a:srgbClr val="f1f3f5"/>
          </a:solidFill>
        </p:spPr>
      </p:sp>
      <p:sp>
        <p:nvSpPr>
          <p:cNvPr id="481" name="R481"/>
          <p:cNvSpPr/>
          <p:nvPr/>
        </p:nvSpPr>
        <p:spPr>
          <a:xfrm>
            <a:off x="923925" y="5281612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059669">
              <a:alpha val="10000"/>
            </a:srgbClr>
          </a:solidFill>
        </p:spPr>
      </p:sp>
      <p:sp>
        <p:nvSpPr>
          <p:cNvPr id="482" name="P482"/>
          <p:cNvSpPr/>
          <p:nvPr/>
        </p:nvSpPr>
        <p:spPr>
          <a:xfrm>
            <a:off x="985837" y="5348287"/>
            <a:ext cx="138112" cy="1285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1034" y="81481"/>
                </a:moveTo>
                <a:lnTo>
                  <a:pt x="86206" y="81481"/>
                </a:lnTo>
                <a:cubicBezTo>
                  <a:pt x="96551" y="81481"/>
                  <a:pt x="106896" y="74074"/>
                  <a:pt x="106896" y="62962"/>
                </a:cubicBezTo>
                <a:cubicBezTo>
                  <a:pt x="106896" y="51851"/>
                  <a:pt x="96551" y="44444"/>
                  <a:pt x="86206" y="44444"/>
                </a:cubicBezTo>
                <a:cubicBezTo>
                  <a:pt x="79310" y="44444"/>
                  <a:pt x="73793" y="49629"/>
                  <a:pt x="72413" y="55555"/>
                </a:cubicBezTo>
                <a:moveTo>
                  <a:pt x="31034" y="103703"/>
                </a:moveTo>
                <a:lnTo>
                  <a:pt x="72413" y="103703"/>
                </a:lnTo>
                <a:cubicBezTo>
                  <a:pt x="80689" y="103703"/>
                  <a:pt x="89655" y="111111"/>
                  <a:pt x="89655" y="120740"/>
                </a:cubicBezTo>
                <a:cubicBezTo>
                  <a:pt x="89655" y="130370"/>
                  <a:pt x="80689" y="137037"/>
                  <a:pt x="72413" y="137037"/>
                </a:cubicBezTo>
                <a:cubicBezTo>
                  <a:pt x="66896" y="137037"/>
                  <a:pt x="62068" y="133333"/>
                  <a:pt x="60000" y="128148"/>
                </a:cubicBezTo>
                <a:moveTo>
                  <a:pt x="31034" y="59259"/>
                </a:moveTo>
                <a:lnTo>
                  <a:pt x="58620" y="59259"/>
                </a:lnTo>
                <a:cubicBezTo>
                  <a:pt x="65517" y="59259"/>
                  <a:pt x="72413" y="53333"/>
                  <a:pt x="72413" y="45925"/>
                </a:cubicBezTo>
                <a:cubicBezTo>
                  <a:pt x="72413" y="38518"/>
                  <a:pt x="65517" y="33333"/>
                  <a:pt x="58620" y="33333"/>
                </a:cubicBezTo>
                <a:cubicBezTo>
                  <a:pt x="53793" y="33333"/>
                  <a:pt x="50344" y="36296"/>
                  <a:pt x="48275" y="40740"/>
                </a:cubicBezTo>
              </a:path>
            </a:pathLst>
          </a:custGeom>
          <a:noFill/>
          <a:ln w="19050">
            <a:solidFill>
              <a:srgbClr val="059669"/>
            </a:solidFill>
          </a:ln>
        </p:spPr>
      </p:sp>
      <p:sp>
        <p:nvSpPr>
          <p:cNvPr id="483" name="T483"/>
          <p:cNvSpPr txBox="1"/>
          <p:nvPr/>
        </p:nvSpPr>
        <p:spPr>
          <a:xfrm>
            <a:off x="1400175" y="5348287"/>
            <a:ext cx="2667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风电</a:t>
            </a:r>
          </a:p>
        </p:txBody>
      </p:sp>
      <p:sp>
        <p:nvSpPr>
          <p:cNvPr id="484" name="T484"/>
          <p:cNvSpPr txBox="1"/>
          <p:nvPr/>
        </p:nvSpPr>
        <p:spPr>
          <a:xfrm>
            <a:off x="2242244" y="5224463"/>
            <a:ext cx="22264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FAR</a:t>
            </a:r>
          </a:p>
        </p:txBody>
      </p:sp>
      <p:sp>
        <p:nvSpPr>
          <p:cNvPr id="485" name="T485"/>
          <p:cNvSpPr txBox="1"/>
          <p:nvPr/>
        </p:nvSpPr>
        <p:spPr>
          <a:xfrm>
            <a:off x="2219325" y="5419725"/>
            <a:ext cx="26863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350" b="1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</a:p>
        </p:txBody>
      </p:sp>
      <p:sp>
        <p:nvSpPr>
          <p:cNvPr id="486" name="T486"/>
          <p:cNvSpPr txBox="1"/>
          <p:nvPr/>
        </p:nvSpPr>
        <p:spPr>
          <a:xfrm>
            <a:off x="2762994" y="5224463"/>
            <a:ext cx="23976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TGR</a:t>
            </a:r>
          </a:p>
        </p:txBody>
      </p:sp>
      <p:sp>
        <p:nvSpPr>
          <p:cNvPr id="487" name="T487"/>
          <p:cNvSpPr txBox="1"/>
          <p:nvPr/>
        </p:nvSpPr>
        <p:spPr>
          <a:xfrm>
            <a:off x="2678459" y="5429250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563eb"/>
                </a:solidFill>
                <a:latin typeface="Noto Sans SC"/>
                <a:ea typeface="Noto Sans SC"/>
              </a:rPr>
              <a:t>1.401</a:t>
            </a:r>
          </a:p>
        </p:txBody>
      </p:sp>
      <p:sp>
        <p:nvSpPr>
          <p:cNvPr id="488" name="T488"/>
          <p:cNvSpPr txBox="1"/>
          <p:nvPr/>
        </p:nvSpPr>
        <p:spPr>
          <a:xfrm>
            <a:off x="6114454" y="5357813"/>
            <a:ext cx="70351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wind_speed</a:t>
            </a:r>
          </a:p>
        </p:txBody>
      </p:sp>
      <p:sp>
        <p:nvSpPr>
          <p:cNvPr id="489" name="R489"/>
          <p:cNvSpPr/>
          <p:nvPr/>
        </p:nvSpPr>
        <p:spPr>
          <a:xfrm>
            <a:off x="771525" y="5867400"/>
            <a:ext cx="6198840" cy="638175"/>
          </a:xfrm>
          <a:prstGeom prst="roundRect">
            <a:avLst>
              <a:gd name="adj" fmla="val 5970"/>
            </a:avLst>
          </a:prstGeom>
          <a:solidFill>
            <a:srgbClr val="f1f3f5"/>
          </a:solidFill>
        </p:spPr>
      </p:sp>
      <p:sp>
        <p:nvSpPr>
          <p:cNvPr id="490" name="R490"/>
          <p:cNvSpPr/>
          <p:nvPr/>
        </p:nvSpPr>
        <p:spPr>
          <a:xfrm>
            <a:off x="923925" y="6015037"/>
            <a:ext cx="342900" cy="342900"/>
          </a:xfrm>
          <a:prstGeom prst="roundRect">
            <a:avLst>
              <a:gd name="adj" fmla="val 16666"/>
            </a:avLst>
          </a:prstGeom>
          <a:solidFill>
            <a:srgbClr val="d97706">
              <a:alpha val="10000"/>
            </a:srgbClr>
          </a:solidFill>
        </p:spPr>
      </p:sp>
      <p:sp>
        <p:nvSpPr>
          <p:cNvPr id="491" name="C491"/>
          <p:cNvSpPr/>
          <p:nvPr/>
        </p:nvSpPr>
        <p:spPr>
          <a:xfrm>
            <a:off x="1062037" y="6153150"/>
            <a:ext cx="66675" cy="66675"/>
          </a:xfrm>
          <a:prstGeom prst="ellipse">
            <a:avLst/>
          </a:prstGeom>
          <a:noFill/>
          <a:ln w="19050">
            <a:solidFill>
              <a:srgbClr val="d97706"/>
            </a:solidFill>
            <a:round/>
          </a:ln>
        </p:spPr>
      </p:sp>
      <p:sp>
        <p:nvSpPr>
          <p:cNvPr id="492" name="P492"/>
          <p:cNvSpPr/>
          <p:nvPr/>
        </p:nvSpPr>
        <p:spPr>
          <a:xfrm>
            <a:off x="1022985" y="6087427"/>
            <a:ext cx="120015" cy="146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0317" y="22077"/>
                </a:moveTo>
                <a:lnTo>
                  <a:pt x="60317" y="35064"/>
                </a:lnTo>
                <a:moveTo>
                  <a:pt x="60317" y="100000"/>
                </a:moveTo>
                <a:lnTo>
                  <a:pt x="60317" y="112987"/>
                </a:lnTo>
                <a:moveTo>
                  <a:pt x="4761" y="67532"/>
                </a:moveTo>
                <a:lnTo>
                  <a:pt x="20634" y="67532"/>
                </a:lnTo>
                <a:moveTo>
                  <a:pt x="100000" y="67532"/>
                </a:moveTo>
                <a:lnTo>
                  <a:pt x="115873" y="67532"/>
                </a:lnTo>
                <a:moveTo>
                  <a:pt x="22222" y="36363"/>
                </a:moveTo>
                <a:lnTo>
                  <a:pt x="33333" y="45454"/>
                </a:lnTo>
                <a:moveTo>
                  <a:pt x="87301" y="89610"/>
                </a:moveTo>
                <a:lnTo>
                  <a:pt x="98412" y="98701"/>
                </a:lnTo>
                <a:moveTo>
                  <a:pt x="22222" y="98701"/>
                </a:moveTo>
                <a:lnTo>
                  <a:pt x="33333" y="89610"/>
                </a:lnTo>
                <a:moveTo>
                  <a:pt x="87301" y="45454"/>
                </a:moveTo>
                <a:lnTo>
                  <a:pt x="98412" y="36363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93" name="T493"/>
          <p:cNvSpPr txBox="1"/>
          <p:nvPr/>
        </p:nvSpPr>
        <p:spPr>
          <a:xfrm>
            <a:off x="1400175" y="6081712"/>
            <a:ext cx="2667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12529"/>
                </a:solidFill>
                <a:latin typeface="Noto Sans SC"/>
                <a:ea typeface="Noto Sans SC"/>
              </a:rPr>
              <a:t>光伏</a:t>
            </a:r>
          </a:p>
        </p:txBody>
      </p:sp>
      <p:sp>
        <p:nvSpPr>
          <p:cNvPr id="494" name="T494"/>
          <p:cNvSpPr txBox="1"/>
          <p:nvPr/>
        </p:nvSpPr>
        <p:spPr>
          <a:xfrm>
            <a:off x="2242244" y="5957888"/>
            <a:ext cx="22264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FAR</a:t>
            </a:r>
          </a:p>
        </p:txBody>
      </p:sp>
      <p:sp>
        <p:nvSpPr>
          <p:cNvPr id="495" name="T495"/>
          <p:cNvSpPr txBox="1"/>
          <p:nvPr/>
        </p:nvSpPr>
        <p:spPr>
          <a:xfrm>
            <a:off x="2219325" y="6153150"/>
            <a:ext cx="26863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350" b="1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</a:p>
        </p:txBody>
      </p:sp>
      <p:sp>
        <p:nvSpPr>
          <p:cNvPr id="496" name="T496"/>
          <p:cNvSpPr txBox="1"/>
          <p:nvPr/>
        </p:nvSpPr>
        <p:spPr>
          <a:xfrm>
            <a:off x="2762994" y="5957888"/>
            <a:ext cx="23976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TGR</a:t>
            </a:r>
          </a:p>
        </p:txBody>
      </p:sp>
      <p:sp>
        <p:nvSpPr>
          <p:cNvPr id="497" name="T497"/>
          <p:cNvSpPr txBox="1"/>
          <p:nvPr/>
        </p:nvSpPr>
        <p:spPr>
          <a:xfrm>
            <a:off x="2678459" y="6162675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200" b="1">
                <a:solidFill>
                  <a:srgbClr val="2563eb"/>
                </a:solidFill>
                <a:latin typeface="Noto Sans SC"/>
                <a:ea typeface="Noto Sans SC"/>
              </a:rPr>
              <a:t>2.302</a:t>
            </a:r>
          </a:p>
        </p:txBody>
      </p:sp>
      <p:sp>
        <p:nvSpPr>
          <p:cNvPr id="498" name="T498"/>
          <p:cNvSpPr txBox="1"/>
          <p:nvPr/>
        </p:nvSpPr>
        <p:spPr>
          <a:xfrm>
            <a:off x="6638925" y="6091238"/>
            <a:ext cx="17904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ghi</a:t>
            </a:r>
          </a:p>
        </p:txBody>
      </p:sp>
      <p:sp>
        <p:nvSpPr>
          <p:cNvPr id="499" name="R499"/>
          <p:cNvSpPr/>
          <p:nvPr/>
        </p:nvSpPr>
        <p:spPr>
          <a:xfrm>
            <a:off x="7398990" y="3848100"/>
            <a:ext cx="4259460" cy="2476500"/>
          </a:xfrm>
          <a:prstGeom prst="roundRect">
            <a:avLst>
              <a:gd name="adj" fmla="val 2307"/>
            </a:avLst>
          </a:prstGeom>
          <a:solidFill>
            <a:srgbClr val="fafbfc"/>
          </a:solidFill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500" name="T500"/>
          <p:cNvSpPr txBox="1"/>
          <p:nvPr/>
        </p:nvSpPr>
        <p:spPr>
          <a:xfrm>
            <a:off x="7656165" y="4410670"/>
            <a:ext cx="54411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2563eb"/>
                </a:solidFill>
                <a:latin typeface="Noto Sans SC"/>
                <a:ea typeface="Noto Sans SC"/>
              </a:rPr>
              <a:t>核心洞察</a:t>
            </a:r>
          </a:p>
        </p:txBody>
      </p:sp>
      <p:sp>
        <p:nvSpPr>
          <p:cNvPr id="501" name="R501"/>
          <p:cNvSpPr/>
          <p:nvPr/>
        </p:nvSpPr>
        <p:spPr>
          <a:xfrm>
            <a:off x="7656165" y="484882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502" name="T502"/>
          <p:cNvSpPr txBox="1"/>
          <p:nvPr/>
        </p:nvSpPr>
        <p:spPr>
          <a:xfrm>
            <a:off x="7808565" y="4772620"/>
            <a:ext cx="25336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将净负荷分解为负荷、风电、光伏三子任务</a:t>
            </a:r>
          </a:p>
        </p:txBody>
      </p:sp>
      <p:sp>
        <p:nvSpPr>
          <p:cNvPr id="503" name="R503"/>
          <p:cNvSpPr/>
          <p:nvPr/>
        </p:nvSpPr>
        <p:spPr>
          <a:xfrm>
            <a:off x="7656165" y="5226843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504" name="T504"/>
          <p:cNvSpPr txBox="1"/>
          <p:nvPr/>
        </p:nvSpPr>
        <p:spPr>
          <a:xfrm>
            <a:off x="7808565" y="5150643"/>
            <a:ext cx="25336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物理变量在各自「主场」不再被滞后项压制</a:t>
            </a:r>
          </a:p>
        </p:txBody>
      </p:sp>
      <p:sp>
        <p:nvSpPr>
          <p:cNvPr id="505" name="R505"/>
          <p:cNvSpPr/>
          <p:nvPr/>
        </p:nvSpPr>
        <p:spPr>
          <a:xfrm>
            <a:off x="7656165" y="5604867"/>
            <a:ext cx="57150" cy="571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06" name="T506"/>
          <p:cNvSpPr txBox="1"/>
          <p:nvPr/>
        </p:nvSpPr>
        <p:spPr>
          <a:xfrm>
            <a:off x="7808565" y="5523905"/>
            <a:ext cx="2000250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125" b="1">
                <a:solidFill>
                  <a:srgbClr val="212529"/>
                </a:solidFill>
                <a:latin typeface="Noto Sans SC"/>
                <a:ea typeface="Noto Sans SC"/>
              </a:rPr>
              <a:t>精度零代价，可解释性全面恢复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7" name="T507"/>
          <p:cNvSpPr txBox="1"/>
          <p:nvPr/>
        </p:nvSpPr>
        <p:spPr>
          <a:xfrm>
            <a:off x="571500" y="180975"/>
            <a:ext cx="1236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00">
                <a:solidFill>
                  <a:srgbClr val="2563eb"/>
                </a:solidFill>
                <a:latin typeface="Noto Sans SC"/>
                <a:ea typeface="Noto Sans SC"/>
              </a:rPr>
              <a:t>PART 4 · 总结与展望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71500" y="352425"/>
            <a:ext cx="2206674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950" b="1">
                <a:solidFill>
                  <a:srgbClr val="212529"/>
                </a:solidFill>
                <a:latin typeface="Noto Sans SC"/>
                <a:ea typeface="Noto Sans SC"/>
              </a:rPr>
              <a:t>当前进展与后续计划</a:t>
            </a:r>
          </a:p>
        </p:txBody>
      </p:sp>
      <p:sp>
        <p:nvSpPr>
          <p:cNvPr id="509" name="R509"/>
          <p:cNvSpPr/>
          <p:nvPr/>
        </p:nvSpPr>
        <p:spPr>
          <a:xfrm>
            <a:off x="457200" y="857250"/>
            <a:ext cx="28575" cy="4953000"/>
          </a:xfrm>
          <a:prstGeom prst="roundRect">
            <a:avLst>
              <a:gd name="adj" fmla="val 49998"/>
            </a:avLst>
          </a:prstGeom>
          <a:solidFill>
            <a:srgbClr val="2563eb">
              <a:alpha val="70000"/>
            </a:srgbClr>
          </a:solidFill>
        </p:spPr>
      </p:sp>
      <p:sp>
        <p:nvSpPr>
          <p:cNvPr id="510" name="R510"/>
          <p:cNvSpPr/>
          <p:nvPr/>
        </p:nvSpPr>
        <p:spPr>
          <a:xfrm>
            <a:off x="571500" y="857250"/>
            <a:ext cx="7188100" cy="2771775"/>
          </a:xfrm>
          <a:prstGeom prst="roundRect">
            <a:avLst>
              <a:gd name="adj" fmla="val 2061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511" name="L511"/>
          <p:cNvSpPr/>
          <p:nvPr/>
        </p:nvSpPr>
        <p:spPr>
          <a:xfrm>
            <a:off x="809625" y="1057275"/>
            <a:ext cx="9525" cy="24765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512" name="T512"/>
          <p:cNvSpPr txBox="1"/>
          <p:nvPr/>
        </p:nvSpPr>
        <p:spPr>
          <a:xfrm>
            <a:off x="952500" y="10287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 b="1">
                <a:solidFill>
                  <a:srgbClr val="212529"/>
                </a:solidFill>
                <a:latin typeface="Noto Sans SC"/>
                <a:ea typeface="Noto Sans SC"/>
              </a:rPr>
              <a:t>研究进展总览</a:t>
            </a:r>
          </a:p>
        </p:txBody>
      </p:sp>
      <p:sp>
        <p:nvSpPr>
          <p:cNvPr id="513" name="R513"/>
          <p:cNvSpPr/>
          <p:nvPr/>
        </p:nvSpPr>
        <p:spPr>
          <a:xfrm>
            <a:off x="809625" y="1533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14" name="PL514"/>
          <p:cNvSpPr/>
          <p:nvPr/>
        </p:nvSpPr>
        <p:spPr>
          <a:xfrm>
            <a:off x="876300" y="1609725"/>
            <a:ext cx="7620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0000"/>
                </a:moveTo>
                <a:lnTo>
                  <a:pt x="37500" y="100000"/>
                </a:lnTo>
                <a:lnTo>
                  <a:pt x="100000" y="0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</p:sp>
      <p:sp>
        <p:nvSpPr>
          <p:cNvPr id="515" name="T515"/>
          <p:cNvSpPr txBox="1"/>
          <p:nvPr/>
        </p:nvSpPr>
        <p:spPr>
          <a:xfrm>
            <a:off x="1133475" y="1485900"/>
            <a:ext cx="576798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数据管线搭建：ARPA-E PERFORM数据集预处理与26维特征工程完成</a:t>
            </a:r>
          </a:p>
        </p:txBody>
      </p:sp>
      <p:sp>
        <p:nvSpPr>
          <p:cNvPr id="516" name="L516"/>
          <p:cNvSpPr/>
          <p:nvPr/>
        </p:nvSpPr>
        <p:spPr>
          <a:xfrm>
            <a:off x="809625" y="1828800"/>
            <a:ext cx="671185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517" name="R517"/>
          <p:cNvSpPr/>
          <p:nvPr/>
        </p:nvSpPr>
        <p:spPr>
          <a:xfrm>
            <a:off x="809625" y="1933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18" name="PL518"/>
          <p:cNvSpPr/>
          <p:nvPr/>
        </p:nvSpPr>
        <p:spPr>
          <a:xfrm>
            <a:off x="876300" y="2009775"/>
            <a:ext cx="7620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0000"/>
                </a:moveTo>
                <a:lnTo>
                  <a:pt x="37500" y="100000"/>
                </a:lnTo>
                <a:lnTo>
                  <a:pt x="100000" y="0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</p:sp>
      <p:sp>
        <p:nvSpPr>
          <p:cNvPr id="519" name="T519"/>
          <p:cNvSpPr txBox="1"/>
          <p:nvPr/>
        </p:nvSpPr>
        <p:spPr>
          <a:xfrm>
            <a:off x="1133475" y="1885950"/>
            <a:ext cx="513635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KAN教师训练与符号提取管线开发完成，支持四阶段训练调度</a:t>
            </a:r>
          </a:p>
        </p:txBody>
      </p:sp>
      <p:sp>
        <p:nvSpPr>
          <p:cNvPr id="520" name="L520"/>
          <p:cNvSpPr/>
          <p:nvPr/>
        </p:nvSpPr>
        <p:spPr>
          <a:xfrm>
            <a:off x="809625" y="2228850"/>
            <a:ext cx="671185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521" name="R521"/>
          <p:cNvSpPr/>
          <p:nvPr/>
        </p:nvSpPr>
        <p:spPr>
          <a:xfrm>
            <a:off x="809625" y="23336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22" name="PL522"/>
          <p:cNvSpPr/>
          <p:nvPr/>
        </p:nvSpPr>
        <p:spPr>
          <a:xfrm>
            <a:off x="876300" y="2409825"/>
            <a:ext cx="7620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0000"/>
                </a:moveTo>
                <a:lnTo>
                  <a:pt x="37500" y="100000"/>
                </a:lnTo>
                <a:lnTo>
                  <a:pt x="100000" y="0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</p:sp>
      <p:sp>
        <p:nvSpPr>
          <p:cNvPr id="523" name="T523"/>
          <p:cNvSpPr txBox="1"/>
          <p:nvPr/>
        </p:nvSpPr>
        <p:spPr>
          <a:xfrm>
            <a:off x="1133475" y="2286000"/>
            <a:ext cx="530929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公式坍缩现象系统记录：9/9配置全部坍缩，VER(physical)=0/9</a:t>
            </a:r>
          </a:p>
        </p:txBody>
      </p:sp>
      <p:sp>
        <p:nvSpPr>
          <p:cNvPr id="524" name="L524"/>
          <p:cNvSpPr/>
          <p:nvPr/>
        </p:nvSpPr>
        <p:spPr>
          <a:xfrm>
            <a:off x="809625" y="2628900"/>
            <a:ext cx="671185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525" name="R525"/>
          <p:cNvSpPr/>
          <p:nvPr/>
        </p:nvSpPr>
        <p:spPr>
          <a:xfrm>
            <a:off x="809625" y="27336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26" name="PL526"/>
          <p:cNvSpPr/>
          <p:nvPr/>
        </p:nvSpPr>
        <p:spPr>
          <a:xfrm>
            <a:off x="876300" y="2809875"/>
            <a:ext cx="7620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0000"/>
                </a:moveTo>
                <a:lnTo>
                  <a:pt x="37500" y="100000"/>
                </a:lnTo>
                <a:lnTo>
                  <a:pt x="100000" y="0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</p:sp>
      <p:sp>
        <p:nvSpPr>
          <p:cNvPr id="527" name="T527"/>
          <p:cNvSpPr txBox="1"/>
          <p:nvPr/>
        </p:nvSpPr>
        <p:spPr>
          <a:xfrm>
            <a:off x="1133475" y="2686050"/>
            <a:ext cx="469240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S2自回归阻断实验完成：ΔVER显著提升，因果机制确认</a:t>
            </a:r>
          </a:p>
        </p:txBody>
      </p:sp>
      <p:sp>
        <p:nvSpPr>
          <p:cNvPr id="528" name="L528"/>
          <p:cNvSpPr/>
          <p:nvPr/>
        </p:nvSpPr>
        <p:spPr>
          <a:xfrm>
            <a:off x="809625" y="3028950"/>
            <a:ext cx="671185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529" name="R529"/>
          <p:cNvSpPr/>
          <p:nvPr/>
        </p:nvSpPr>
        <p:spPr>
          <a:xfrm>
            <a:off x="809625" y="31337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30" name="PL530"/>
          <p:cNvSpPr/>
          <p:nvPr/>
        </p:nvSpPr>
        <p:spPr>
          <a:xfrm>
            <a:off x="876300" y="3209925"/>
            <a:ext cx="7620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0000"/>
                </a:moveTo>
                <a:lnTo>
                  <a:pt x="37500" y="100000"/>
                </a:lnTo>
                <a:lnTo>
                  <a:pt x="100000" y="0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</p:sp>
      <p:sp>
        <p:nvSpPr>
          <p:cNvPr id="531" name="T531"/>
          <p:cNvSpPr txBox="1"/>
          <p:nvPr/>
        </p:nvSpPr>
        <p:spPr>
          <a:xfrm>
            <a:off x="1133475" y="3086100"/>
            <a:ext cx="489242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212529"/>
                </a:solidFill>
                <a:latin typeface="Noto Sans SC"/>
                <a:ea typeface="Noto Sans SC"/>
              </a:rPr>
              <a:t>S3结构化分解方案验证：精度持平(Skill=0.456)，FAR=3/3</a:t>
            </a:r>
          </a:p>
        </p:txBody>
      </p:sp>
      <p:sp>
        <p:nvSpPr>
          <p:cNvPr id="532" name="R532"/>
          <p:cNvSpPr/>
          <p:nvPr/>
        </p:nvSpPr>
        <p:spPr>
          <a:xfrm>
            <a:off x="571500" y="3781425"/>
            <a:ext cx="7188100" cy="1971675"/>
          </a:xfrm>
          <a:prstGeom prst="roundRect">
            <a:avLst>
              <a:gd name="adj" fmla="val 2898"/>
            </a:avLst>
          </a:prstGeom>
          <a:solidFill>
            <a:srgbClr val="000000">
              <a:alpha val="0"/>
            </a:srgbClr>
          </a:solidFill>
          <a:ln w="12700">
            <a:solidFill>
              <a:srgbClr val="dee2e6"/>
            </a:solidFill>
          </a:ln>
        </p:spPr>
      </p:sp>
      <p:sp>
        <p:nvSpPr>
          <p:cNvPr id="533" name="L533"/>
          <p:cNvSpPr/>
          <p:nvPr/>
        </p:nvSpPr>
        <p:spPr>
          <a:xfrm>
            <a:off x="809625" y="3981450"/>
            <a:ext cx="9525" cy="24765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534" name="T534"/>
          <p:cNvSpPr txBox="1"/>
          <p:nvPr/>
        </p:nvSpPr>
        <p:spPr>
          <a:xfrm>
            <a:off x="952500" y="395287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 b="1">
                <a:solidFill>
                  <a:srgbClr val="212529"/>
                </a:solidFill>
                <a:latin typeface="Noto Sans SC"/>
                <a:ea typeface="Noto Sans SC"/>
              </a:rPr>
              <a:t>后续计划</a:t>
            </a:r>
          </a:p>
        </p:txBody>
      </p:sp>
      <p:sp>
        <p:nvSpPr>
          <p:cNvPr id="535" name="R535"/>
          <p:cNvSpPr/>
          <p:nvPr/>
        </p:nvSpPr>
        <p:spPr>
          <a:xfrm>
            <a:off x="809625" y="44577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563eb"/>
            </a:solidFill>
          </a:ln>
        </p:spPr>
      </p:sp>
      <p:sp>
        <p:nvSpPr>
          <p:cNvPr id="536" name="R536"/>
          <p:cNvSpPr/>
          <p:nvPr/>
        </p:nvSpPr>
        <p:spPr>
          <a:xfrm>
            <a:off x="885825" y="4533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537" name="T537"/>
          <p:cNvSpPr txBox="1"/>
          <p:nvPr/>
        </p:nvSpPr>
        <p:spPr>
          <a:xfrm>
            <a:off x="1133475" y="4410075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论文撰写与排版定稿</a:t>
            </a:r>
          </a:p>
        </p:txBody>
      </p:sp>
      <p:sp>
        <p:nvSpPr>
          <p:cNvPr id="538" name="L538"/>
          <p:cNvSpPr/>
          <p:nvPr/>
        </p:nvSpPr>
        <p:spPr>
          <a:xfrm>
            <a:off x="809625" y="4752975"/>
            <a:ext cx="671185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539" name="R539"/>
          <p:cNvSpPr/>
          <p:nvPr/>
        </p:nvSpPr>
        <p:spPr>
          <a:xfrm>
            <a:off x="809625" y="4857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563eb"/>
            </a:solidFill>
          </a:ln>
        </p:spPr>
      </p:sp>
      <p:sp>
        <p:nvSpPr>
          <p:cNvPr id="540" name="R540"/>
          <p:cNvSpPr/>
          <p:nvPr/>
        </p:nvSpPr>
        <p:spPr>
          <a:xfrm>
            <a:off x="885825" y="4933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541" name="T541"/>
          <p:cNvSpPr txBox="1"/>
          <p:nvPr/>
        </p:nvSpPr>
        <p:spPr>
          <a:xfrm>
            <a:off x="1133475" y="4810125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补充实验图表与可视化材料</a:t>
            </a:r>
          </a:p>
        </p:txBody>
      </p:sp>
      <p:sp>
        <p:nvSpPr>
          <p:cNvPr id="542" name="L542"/>
          <p:cNvSpPr/>
          <p:nvPr/>
        </p:nvSpPr>
        <p:spPr>
          <a:xfrm>
            <a:off x="809625" y="5153025"/>
            <a:ext cx="671185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543" name="R543"/>
          <p:cNvSpPr/>
          <p:nvPr/>
        </p:nvSpPr>
        <p:spPr>
          <a:xfrm>
            <a:off x="809625" y="52578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563eb"/>
            </a:solidFill>
          </a:ln>
        </p:spPr>
      </p:sp>
      <p:sp>
        <p:nvSpPr>
          <p:cNvPr id="544" name="R544"/>
          <p:cNvSpPr/>
          <p:nvPr/>
        </p:nvSpPr>
        <p:spPr>
          <a:xfrm>
            <a:off x="885825" y="53340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545" name="T545"/>
          <p:cNvSpPr txBox="1"/>
          <p:nvPr/>
        </p:nvSpPr>
        <p:spPr>
          <a:xfrm>
            <a:off x="1133475" y="5210175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500">
                <a:solidFill>
                  <a:srgbClr val="6b7280"/>
                </a:solidFill>
                <a:latin typeface="Noto Sans SC"/>
                <a:ea typeface="Noto Sans SC"/>
              </a:rPr>
              <a:t>准备最终答辩材料</a:t>
            </a:r>
          </a:p>
        </p:txBody>
      </p:sp>
      <p:sp>
        <p:nvSpPr>
          <p:cNvPr id="546" name="R546"/>
          <p:cNvSpPr/>
          <p:nvPr/>
        </p:nvSpPr>
        <p:spPr>
          <a:xfrm>
            <a:off x="8026300" y="857250"/>
            <a:ext cx="3594199" cy="2871638"/>
          </a:xfrm>
          <a:prstGeom prst="roundRect">
            <a:avLst>
              <a:gd name="adj" fmla="val 1990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547" name="T547"/>
          <p:cNvSpPr txBox="1"/>
          <p:nvPr/>
        </p:nvSpPr>
        <p:spPr>
          <a:xfrm>
            <a:off x="9560867" y="1128713"/>
            <a:ext cx="52506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实验完成</a:t>
            </a:r>
          </a:p>
        </p:txBody>
      </p:sp>
      <p:sp>
        <p:nvSpPr>
          <p:cNvPr id="548" name="T548"/>
          <p:cNvSpPr txBox="1"/>
          <p:nvPr/>
        </p:nvSpPr>
        <p:spPr>
          <a:xfrm>
            <a:off x="9549854" y="1323975"/>
            <a:ext cx="269676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3600" b="1">
                <a:solidFill>
                  <a:srgbClr val="05966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49" name="T549"/>
          <p:cNvSpPr txBox="1"/>
          <p:nvPr/>
        </p:nvSpPr>
        <p:spPr>
          <a:xfrm>
            <a:off x="9838580" y="1552575"/>
            <a:ext cx="25836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2100">
                <a:solidFill>
                  <a:srgbClr val="6b7280"/>
                </a:solidFill>
                <a:latin typeface="Noto Sans SC"/>
                <a:ea typeface="Noto Sans SC"/>
              </a:rPr>
              <a:t>/5</a:t>
            </a:r>
          </a:p>
        </p:txBody>
      </p:sp>
      <p:sp>
        <p:nvSpPr>
          <p:cNvPr id="550" name="T550"/>
          <p:cNvSpPr txBox="1"/>
          <p:nvPr/>
        </p:nvSpPr>
        <p:spPr>
          <a:xfrm>
            <a:off x="9490025" y="1960215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050">
                <a:solidFill>
                  <a:srgbClr val="6b7280"/>
                </a:solidFill>
                <a:latin typeface="Noto Sans SC"/>
                <a:ea typeface="Noto Sans SC"/>
              </a:rPr>
              <a:t>核心实验项</a:t>
            </a:r>
          </a:p>
        </p:txBody>
      </p:sp>
      <p:sp>
        <p:nvSpPr>
          <p:cNvPr id="551" name="R551"/>
          <p:cNvSpPr/>
          <p:nvPr/>
        </p:nvSpPr>
        <p:spPr>
          <a:xfrm>
            <a:off x="8264425" y="2388840"/>
            <a:ext cx="3117949" cy="95250"/>
          </a:xfrm>
          <a:prstGeom prst="roundRect">
            <a:avLst>
              <a:gd name="adj" fmla="val 50000"/>
            </a:avLst>
          </a:prstGeom>
          <a:solidFill>
            <a:srgbClr val="f1f3f5"/>
          </a:solidFill>
        </p:spPr>
      </p:sp>
      <p:sp>
        <p:nvSpPr>
          <p:cNvPr id="552" name="R552"/>
          <p:cNvSpPr/>
          <p:nvPr/>
        </p:nvSpPr>
        <p:spPr>
          <a:xfrm>
            <a:off x="8264425" y="2388840"/>
            <a:ext cx="3117949" cy="95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59669"/>
              </a:gs>
              <a:gs pos="100000">
                <a:srgbClr val="34d399"/>
              </a:gs>
            </a:gsLst>
            <a:lin ang="0" scaled="0"/>
          </a:gradFill>
        </p:spPr>
      </p:sp>
      <p:sp>
        <p:nvSpPr>
          <p:cNvPr id="553" name="T553"/>
          <p:cNvSpPr txBox="1"/>
          <p:nvPr/>
        </p:nvSpPr>
        <p:spPr>
          <a:xfrm>
            <a:off x="9266187" y="2565053"/>
            <a:ext cx="11144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6b7280"/>
                </a:solidFill>
                <a:latin typeface="Noto Sans SC"/>
                <a:ea typeface="Noto Sans SC"/>
              </a:rPr>
              <a:t>实验阶段已全部完成</a:t>
            </a:r>
          </a:p>
        </p:txBody>
      </p:sp>
      <p:sp>
        <p:nvSpPr>
          <p:cNvPr id="554" name="R554"/>
          <p:cNvSpPr/>
          <p:nvPr/>
        </p:nvSpPr>
        <p:spPr>
          <a:xfrm>
            <a:off x="8264425" y="2981176"/>
            <a:ext cx="3117949" cy="471487"/>
          </a:xfrm>
          <a:prstGeom prst="roundRect">
            <a:avLst>
              <a:gd name="adj" fmla="val 12121"/>
            </a:avLst>
          </a:prstGeom>
          <a:solidFill>
            <a:srgbClr val="2563eb">
              <a:alpha val="5000"/>
            </a:srgbClr>
          </a:solidFill>
          <a:ln w="12700">
            <a:solidFill>
              <a:srgbClr val="2563eb">
                <a:alpha val="12000"/>
              </a:srgbClr>
            </a:solidFill>
          </a:ln>
        </p:spPr>
      </p:sp>
      <p:sp>
        <p:nvSpPr>
          <p:cNvPr id="555" name="T555"/>
          <p:cNvSpPr txBox="1"/>
          <p:nvPr/>
        </p:nvSpPr>
        <p:spPr>
          <a:xfrm>
            <a:off x="8445400" y="3119289"/>
            <a:ext cx="21050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975">
                <a:solidFill>
                  <a:srgbClr val="2563eb"/>
                </a:solidFill>
                <a:latin typeface="Noto Sans SC"/>
                <a:ea typeface="Noto Sans SC"/>
              </a:rPr>
              <a:t>进入论文收尾阶段，整体进度正常可控</a:t>
            </a:r>
          </a:p>
        </p:txBody>
      </p:sp>
      <p:sp>
        <p:nvSpPr>
          <p:cNvPr id="556" name="T556"/>
          <p:cNvSpPr txBox="1"/>
          <p:nvPr/>
        </p:nvSpPr>
        <p:spPr>
          <a:xfrm>
            <a:off x="571500" y="6586538"/>
            <a:ext cx="192896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 — 中期答辩</a:t>
            </a:r>
          </a:p>
        </p:txBody>
      </p:sp>
      <p:sp>
        <p:nvSpPr>
          <p:cNvPr id="557" name="T557"/>
          <p:cNvSpPr txBox="1"/>
          <p:nvPr/>
        </p:nvSpPr>
        <p:spPr>
          <a:xfrm>
            <a:off x="11293375" y="6586538"/>
            <a:ext cx="327124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825">
                <a:solidFill>
                  <a:srgbClr val="2563eb"/>
                </a:solidFill>
                <a:latin typeface="Noto Sans SC"/>
                <a:ea typeface="Noto Sans S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8" name="R5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50000">
                <a:srgbClr val="f1f3f5"/>
              </a:gs>
              <a:gs pos="100000">
                <a:srgbClr val="fafbfc"/>
              </a:gs>
            </a:gsLst>
            <a:lin ang="4206890" scaled="0"/>
          </a:gradFill>
        </p:spPr>
      </p:sp>
      <p:sp>
        <p:nvSpPr>
          <p:cNvPr id="559" name="R559"/>
          <p:cNvSpPr/>
          <p:nvPr/>
        </p:nvSpPr>
        <p:spPr>
          <a:xfrm>
            <a:off x="0" y="1524000"/>
            <a:ext cx="28575" cy="3810000"/>
          </a:xfrm>
          <a:prstGeom prst="rect">
            <a:avLst/>
          </a:prstGeom>
          <a:solidFill>
            <a:srgbClr val="2563eb">
              <a:alpha val="35000"/>
            </a:srgbClr>
          </a:solidFill>
        </p:spPr>
      </p:sp>
      <p:sp>
        <p:nvSpPr>
          <p:cNvPr id="560" name="T560"/>
          <p:cNvSpPr txBox="1"/>
          <p:nvPr/>
        </p:nvSpPr>
        <p:spPr>
          <a:xfrm>
            <a:off x="3238500" y="971550"/>
            <a:ext cx="703212" cy="2571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3500">
                <a:solidFill>
                  <a:srgbClr val="2563eb">
                    <a:alpha val="6000"/>
                  </a:srgbClr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61" name="R561"/>
          <p:cNvSpPr/>
          <p:nvPr/>
        </p:nvSpPr>
        <p:spPr>
          <a:xfrm>
            <a:off x="9144000" y="41910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2563eb"/>
            </a:solidFill>
          </a:ln>
        </p:spPr>
      </p:sp>
      <p:sp>
        <p:nvSpPr>
          <p:cNvPr id="562" name="R562"/>
          <p:cNvSpPr/>
          <p:nvPr/>
        </p:nvSpPr>
        <p:spPr>
          <a:xfrm>
            <a:off x="571500" y="3429000"/>
            <a:ext cx="1714500" cy="9525"/>
          </a:xfrm>
          <a:prstGeom prst="rect">
            <a:avLst/>
          </a:prstGeom>
          <a:solidFill>
            <a:srgbClr val="dee2e6">
              <a:alpha val="40000"/>
            </a:srgbClr>
          </a:solidFill>
        </p:spPr>
      </p:sp>
      <p:sp>
        <p:nvSpPr>
          <p:cNvPr id="563" name="T563"/>
          <p:cNvSpPr txBox="1"/>
          <p:nvPr/>
        </p:nvSpPr>
        <p:spPr>
          <a:xfrm>
            <a:off x="5602188" y="2146548"/>
            <a:ext cx="98762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2563eb"/>
                </a:solidFill>
                <a:latin typeface="Noto Sans SC"/>
                <a:ea typeface="Noto Sans SC"/>
              </a:rPr>
              <a:t>核心结论</a:t>
            </a:r>
          </a:p>
        </p:txBody>
      </p:sp>
      <p:sp>
        <p:nvSpPr>
          <p:cNvPr id="564" name="T564"/>
          <p:cNvSpPr txBox="1"/>
          <p:nvPr/>
        </p:nvSpPr>
        <p:spPr>
          <a:xfrm>
            <a:off x="2844254" y="2679948"/>
            <a:ext cx="1250751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950" b="1">
                <a:solidFill>
                  <a:srgbClr val="2563eb"/>
                </a:solidFill>
                <a:latin typeface="Noto Sans SC"/>
                <a:ea typeface="Noto Sans SC"/>
              </a:rPr>
              <a:t>结构化分解</a:t>
            </a:r>
          </a:p>
        </p:txBody>
      </p:sp>
      <p:sp>
        <p:nvSpPr>
          <p:cNvPr id="565" name="T565"/>
          <p:cNvSpPr txBox="1"/>
          <p:nvPr/>
        </p:nvSpPr>
        <p:spPr>
          <a:xfrm>
            <a:off x="4095005" y="2679948"/>
            <a:ext cx="5252739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950">
                <a:solidFill>
                  <a:srgbClr val="212529"/>
                </a:solidFill>
                <a:latin typeface="Noto Sans SC"/>
                <a:ea typeface="Noto Sans SC"/>
              </a:rPr>
              <a:t>是解决自回归捷径竞争导致公式坍缩的有效路径</a:t>
            </a:r>
          </a:p>
        </p:txBody>
      </p:sp>
      <p:sp>
        <p:nvSpPr>
          <p:cNvPr id="566" name="T566"/>
          <p:cNvSpPr txBox="1"/>
          <p:nvPr/>
        </p:nvSpPr>
        <p:spPr>
          <a:xfrm>
            <a:off x="4152900" y="3240881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实现精度零代价下的物理可解释性恢复</a:t>
            </a:r>
          </a:p>
        </p:txBody>
      </p:sp>
      <p:sp>
        <p:nvSpPr>
          <p:cNvPr id="567" name="T567"/>
          <p:cNvSpPr txBox="1"/>
          <p:nvPr/>
        </p:nvSpPr>
        <p:spPr>
          <a:xfrm>
            <a:off x="4696866" y="4168526"/>
            <a:ext cx="279811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/>
                </a:solidFill>
                <a:latin typeface="Noto Sans SC"/>
                <a:ea typeface="Noto Sans SC"/>
              </a:rPr>
              <a:t>感谢各位老师的聆听与指导</a:t>
            </a:r>
          </a:p>
        </p:txBody>
      </p:sp>
      <p:sp>
        <p:nvSpPr>
          <p:cNvPr id="568" name="R568"/>
          <p:cNvSpPr/>
          <p:nvPr/>
        </p:nvSpPr>
        <p:spPr>
          <a:xfrm>
            <a:off x="5905500" y="6381750"/>
            <a:ext cx="381000" cy="19050"/>
          </a:xfrm>
          <a:prstGeom prst="rect">
            <a:avLst/>
          </a:prstGeom>
          <a:solidFill>
            <a:srgbClr val="2563eb">
              <a:alpha val="30000"/>
            </a:srgbClr>
          </a:solidFill>
        </p:spPr>
      </p:sp>
      <p:sp>
        <p:nvSpPr>
          <p:cNvPr id="569" name="T569"/>
          <p:cNvSpPr txBox="1"/>
          <p:nvPr/>
        </p:nvSpPr>
        <p:spPr>
          <a:xfrm>
            <a:off x="11187558" y="6362700"/>
            <a:ext cx="69964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 sz="1800">
                <a:solidFill>
                  <a:srgbClr val="6b7280">
                    <a:alpha val="30000"/>
                  </a:srgbClr>
                </a:solidFill>
                <a:latin typeface="Noto Sans SC"/>
                <a:ea typeface="Noto Sans S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